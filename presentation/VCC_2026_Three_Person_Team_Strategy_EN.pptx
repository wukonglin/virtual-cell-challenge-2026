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decision problem, not the architecture. The current near-zero score is a normalized benchmark result, not an accuracy percentage. This deck explains the biological task, exact evaluation, and a three-person operating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four strategic calls. The team should agree on these before discussing implementation details.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map to orient a mixed biology/ML audience. The deck moves from assay to score to system to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one condition as a question: given all non-targeting controls for an unseen context and one target gene, generate 400 post-CRISPRi cells over the fixed gene axis. There are 900 such questions in a round.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CRISPRi uses a catalytically inactive Cas9 recruited to a target locus, commonly with a repressor domain, to suppress transcription. It is a knockdown rather than a DNA-cutting knockout. The challenge reports greater than 80% on-target knockdown for scored targets.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Perturb-seq links a guide identity to a whole-transcriptome readout in each cell. Pooling provides scale; single-cell measurements reveal heterogeneous responses that pseudobulk alone cannot represent.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rows, columns, counts, and zeros. A zero can reflect true absence, low abundance, or finite UMI sampling. The matrix is sparse in storage even though this dataset has substantial per-cell coverage.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one-to-one pairing between predicted and measured cells. Four hundred cells determine group means, variance, zero fractions, and Wilcoxon power. Repeating one centroid 400 times can distort differential-expression calls.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anonymous label is not the context representation. The control population contains basal state, cell-state composition, depth, covariance, and technical noise. Preserve A/B/C labels exactly; swapping labels can look like a weak model rather than a file error.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target we observe controls but not the matched counterfactual in challenge contexts. Model the response as a delta from the context-specific control profile. Separating baseline and effect improves transfer and calibration.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evaluation changes both cell contexts and target panel. In addition, public training data may differ in assay, time point, perturbation modality, and sequencing depth. Use target representations and context representations that extrapolate.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development and final evaluation conceptually separate. Final controls and a different target panel arrive October 22. The architecture and decision rule should be frozen before that date.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upload contains exactly 360,000 predicted cells: 300 targets times 400 cells times 3 contexts. All 18,533 genes are present. One sparse .vcc file is required and controls must not be included.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what was actually downloaded and audited. Each context contains 18,400 NTC cells: 46 guide IDs times 400 cells. All numeric and axis checks passed. Context B is somewhat sparser and shallower than A/C.</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 centroids are not interchangeable. Pairwise cosine similarities in a smoke subset range from 0.721 to 0.808. This is evidence that context conditioning matters, not an attempt to identify the anonymous lines.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the actual infrastructure result. Job 792580 completed on an H100 80GB. It loaded real controls, ran BF16 forward/backward/update, built a full sparse 360,000-cell artifact, passed the official dry run, and packaged a .vcc file.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explicit: the smoke output repeats a control-derived null population across all targets. It is named DO_NOT_SUBMIT. It proves mechanics, not target-specific biological prediction or leaderboard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normalized score uses two anchors per context and metric: zero is a context-mean perturbation-response baseline; one is split-half experimental reproducibility. Negative means worse than baseline. The current −0.0206 is not −2.06% accuracy.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six metrics as distinct diagnostic lenses. PDS and MSE mainly evaluate group-level effects; the four DE metrics also depend on cell-level dispersion because significance is estimated from 400 cells.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PDS compares each predicted perturbation delta with the panel of measured deltas and asks where the correct target ranks by cosine distance. A generic stress response shared across targets will not discriminate perturbations. All panel targets are excluded from the feature axis for PDS.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Expression MSE focuses on normalized group-level profiles with sampling-noise correction and a real-effect normalization. It rewards centroid and magnitude accuracy. It does not by itself guarantee calibrated cell-to-cell variability.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DE metrics are complementary. Fidelity balances sign correctness with coverage; reach measures a high-confidence prefix; Jaccard compares significant sets; NMAE measures fold-change magnitude on reference-significant genes.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central multi-objective tension. Amplifying deltas can help reach but hurt MSE/NMAE. Shrinking everything protects MSE but destroys discrimination. Excess variance hides DE; insufficient variance over-calls it. Calibration and ensembling are first-class components.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hierarchy prevents premature optimization. File validity is foundational. Target-specific mean effects come next. Direction and magnitude follow, then cell-level calibration, and only then expensive generative or RL refinements.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deep models, build a baseline ladder with increasing biological specificity. Each rung isolates value added. A sophisticated model that cannot beat similarity-weighted low-rank transfer on held-out contexts should not be promoted.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decomposed response: context baseline plus a global target effect, a context-target interaction, and stochastic residual. Low rank and shrinkage make the interaction estimable. External data provide perturbation supervision; challenge controls provide context.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controls contain no matched perturbations, so supervised signal must come from licensed external data. Build a provenance registry, harmonize gene symbols and modality, and measure transfer under held-out cell-line splits. Source diversity matters more than raw cell count alone.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recommended system. A context encoder summarizes NTC cells. A perturbation encoder represents unseen genes using multi-view priors. A mean-effect predictor produces a calibrated delta. A count generator samples 400 cells anchored to real controls. The local scorer calibrates and blends candidates.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 encoder should accept a set or distribution of cells and be insensitive to their order. Start with robust pseudobulk and module summaries; then compare learned set encoders. Include nuisance statistics explicitly so biology is not confounded with depth or sparsity.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target panel changes, so the perturbation encoder must generalize by biology. Combine learned perturbation signatures with priors such as protein/gene embeddings, pathways, regulatory graphs, and basal target expression. Missing priors should reduce confidence rather than produce arbitrary effects.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 the perturbation effect in a low-dimensional response basis, then decode to genes. Train with pseudobulk and direction-aware losses. Use shrinkage and calibrated interaction terms to avoid overfitting sparse context-target evidence.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Convert the mean profile into 400 raw-count cells. A pragmatic first choice is control-anchored negative-binomial or Dirichlet-multinomial sampling: sample a real control state, apply a positive mean transformation, draw a library size, then draw counts with calibrated dispersion.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Diffusion or flow matching is useful for the residual distribution after a reliable mean effect exists. Work in a compact latent or residual space, condition on context and target, and reconstruct counts through a likelihood-aware decoder. Compare against a simpler NB/DM sampler.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RL is not the core method because there is no sequential environment and no challenge ground truth for A–F. The action space is enormous and the reward is a small set of panel-coupled metrics. If used, RL should update a small adapter against exact offline metrics on public held-out contexts with KL and diversity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cell splits leak cell-line identity and greatly overstate transfer. Use leave-one-cell-line-out outer folds and target-held-out inner folds. The exact metric emulator must be applied to generated 400-cell groups, not only model-space losses.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Pre-register ablations so each experiment has a hypothesis, target metrics, and stop rule. This table is a suggested initial sequence. A component is promoted only if it improves multiple held-out contexts without catastrophic metric regressions.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three durable ownership lanes. P1 owns biological transfer and scientific model selection. P2 owns generative architecture and count calibration. P3 owns scorer parity, cluster operations, artifacts, and submissions. Every critical workflow has a backup.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small RACI table for the critical workstreams. The purpose is not bureaucracy: it ensures that public-data rights, metric parity, model architecture, and final upload each have exactly one accountable owner.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calendar is built backward from October 22 and November 5. The key management choice is to freeze architecture before final controls arrive. Final phase should be adaptation, calibration, generation, and QC—not research redesign.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concrete first two-week plan. It starts by retrieving the current metric breakdown and reproducing the existing artifact, then locks data provenance and LOCO evaluation, and ends with a trusted baseline plus a single reproducible full-generation rehearsal.</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every leaderboard submission as an expensive scientific experiment. Keep immutable artifacts and SHA-256 hashes, use paired comparisons, record the panel and anchor stamp, and retain the prior champion. Two submissions per day is a ceiling, not a target.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these risks weekly. The most dangerous failures are not always modeling failures: a context swap, scorer mismatch, invalid raw counts, or a late upload can erase months of scientific work.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48-hour process is a controlled deployment. Verify checksums and labels, generate three pre-frozen candidates, run structural and distributional QC, apply the predeclared selection rule, and submit with recovery margin. Do not infer hidden cell-line identities.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the discussion with decisions, not broad agreement. Assign names to P1/P2/P3, define the first baseline and data sources, choose a metric-emulator owner, set compute budget, and freeze the next review date.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recommended minimum viable scientific system. It is intentionally simpler than a full diffusion model. It provides a trustworthy baseline, a biologically meaningful effect predictor, calibrated raw-count cells, and a complete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primary sources for rules and biology. The deck distinguishes official facts, measured local evidence, and team recommendations. Access dates are 30 August 2026 for web documentation.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8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321040" y="502920"/>
            <a:ext cx="2651760" cy="265176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222638" y="1404518"/>
            <a:ext cx="848563" cy="848563"/>
          </a:xfrm>
          <a:prstGeom prst="ellipse">
            <a:avLst/>
          </a:prstGeom>
          <a:solidFill>
            <a:srgbClr val="08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738360" y="1874519"/>
            <a:ext cx="1371600" cy="137160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204704" y="2340863"/>
            <a:ext cx="438912" cy="438912"/>
          </a:xfrm>
          <a:prstGeom prst="ellipse">
            <a:avLst/>
          </a:prstGeom>
          <a:solidFill>
            <a:srgbClr val="08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635240" y="2788920"/>
            <a:ext cx="2011680" cy="2011680"/>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319211" y="3472891"/>
            <a:ext cx="643737" cy="643737"/>
          </a:xfrm>
          <a:prstGeom prst="ellipse">
            <a:avLst/>
          </a:prstGeom>
          <a:solidFill>
            <a:srgbClr val="08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287000" y="3749039"/>
            <a:ext cx="1143000" cy="114300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675620" y="4137659"/>
            <a:ext cx="365760" cy="365760"/>
          </a:xfrm>
          <a:prstGeom prst="ellipse">
            <a:avLst/>
          </a:prstGeom>
          <a:solidFill>
            <a:srgbClr val="08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549640" y="4709160"/>
            <a:ext cx="1463040" cy="1463040"/>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47073" y="5206593"/>
            <a:ext cx="468172" cy="468172"/>
          </a:xfrm>
          <a:prstGeom prst="ellipse">
            <a:avLst/>
          </a:prstGeom>
          <a:solidFill>
            <a:srgbClr val="0810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8368" y="621792"/>
            <a:ext cx="1874519"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626364"/>
            <a:ext cx="1874519"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TEAM DISCUSSION DECK</a:t>
            </a:r>
          </a:p>
        </p:txBody>
      </p:sp>
      <p:sp>
        <p:nvSpPr>
          <p:cNvPr id="15" name="TextBox 14"/>
          <p:cNvSpPr txBox="1"/>
          <p:nvPr/>
        </p:nvSpPr>
        <p:spPr>
          <a:xfrm>
            <a:off x="658368" y="1170432"/>
            <a:ext cx="6766560" cy="155448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3800" b="1" i="0">
                <a:solidFill>
                  <a:srgbClr val="F7F9FC"/>
                </a:solidFill>
                <a:latin typeface="Montserrat"/>
              </a:rPr>
              <a:t>Virtual Cell</a:t>
            </a:r>
            <a:br/>
            <a:r>
              <a:rPr sz="3800" b="1" i="0">
                <a:solidFill>
                  <a:srgbClr val="F7F9FC"/>
                </a:solidFill>
                <a:latin typeface="Montserrat"/>
              </a:rPr>
              <a:t>Challenge 2026</a:t>
            </a:r>
          </a:p>
        </p:txBody>
      </p:sp>
      <p:sp>
        <p:nvSpPr>
          <p:cNvPr id="16" name="TextBox 15"/>
          <p:cNvSpPr txBox="1"/>
          <p:nvPr/>
        </p:nvSpPr>
        <p:spPr>
          <a:xfrm>
            <a:off x="694944" y="2907792"/>
            <a:ext cx="6949440" cy="47548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900" b="1" i="0">
                <a:solidFill>
                  <a:srgbClr val="A5F3FC"/>
                </a:solidFill>
                <a:latin typeface="Montserrat"/>
              </a:rPr>
              <a:t>A zero-shot, single-cell perturbation prediction playbook</a:t>
            </a:r>
          </a:p>
        </p:txBody>
      </p:sp>
      <p:sp>
        <p:nvSpPr>
          <p:cNvPr id="17" name="TextBox 16"/>
          <p:cNvSpPr txBox="1"/>
          <p:nvPr/>
        </p:nvSpPr>
        <p:spPr>
          <a:xfrm>
            <a:off x="694944" y="3529584"/>
            <a:ext cx="694944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0" i="0">
                <a:solidFill>
                  <a:srgbClr val="A9B5CC"/>
                </a:solidFill>
                <a:latin typeface="Montserrat"/>
              </a:rPr>
              <a:t>Biology  •  scoring  •  model strategy  •  three-person execution</a:t>
            </a:r>
          </a:p>
        </p:txBody>
      </p:sp>
      <p:sp>
        <p:nvSpPr>
          <p:cNvPr id="18" name="Rounded Rectangle 17"/>
          <p:cNvSpPr/>
          <p:nvPr/>
        </p:nvSpPr>
        <p:spPr>
          <a:xfrm>
            <a:off x="694944" y="4297680"/>
            <a:ext cx="6309360" cy="114300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4517136"/>
            <a:ext cx="2011680" cy="20116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71809B"/>
                </a:solidFill>
                <a:latin typeface="Montserrat"/>
              </a:rPr>
              <a:t>CURRENT TEAM SNAPSHOT</a:t>
            </a:r>
          </a:p>
        </p:txBody>
      </p:sp>
      <p:sp>
        <p:nvSpPr>
          <p:cNvPr id="20" name="TextBox 19"/>
          <p:cNvSpPr txBox="1"/>
          <p:nvPr/>
        </p:nvSpPr>
        <p:spPr>
          <a:xfrm>
            <a:off x="932688" y="4791456"/>
            <a:ext cx="5806440" cy="384048"/>
          </a:xfrm>
          <a:prstGeom prst="rect">
            <a:avLst/>
          </a:prstGeom>
          <a:noFill/>
        </p:spPr>
        <p:txBody>
          <a:bodyPr wrap="square" anchor="t" lIns="18288" rIns="18288" tIns="18288" bIns="18288">
            <a:spAutoFit/>
          </a:bodyPr>
          <a:lstStyle/>
          <a:p>
            <a:pPr algn="l">
              <a:spcAft>
                <a:spcPts val="0"/>
              </a:spcAft>
            </a:pPr>
            <a:r>
              <a:rPr sz="2600" b="1">
                <a:solidFill>
                  <a:srgbClr val="FB7185"/>
                </a:solidFill>
                <a:latin typeface="Montserrat"/>
              </a:rPr>
              <a:t>−0.0206</a:t>
            </a:r>
            <a:r>
              <a:rPr sz="1200" b="0">
                <a:solidFill>
                  <a:srgbClr val="F7F9FC"/>
                </a:solidFill>
                <a:latin typeface="Montserrat"/>
              </a:rPr>
              <a:t>  overall  •  rank 173  •  Bayesian baseline v0</a:t>
            </a:r>
          </a:p>
        </p:txBody>
      </p:sp>
      <p:sp>
        <p:nvSpPr>
          <p:cNvPr id="21" name="TextBox 20"/>
          <p:cNvSpPr txBox="1"/>
          <p:nvPr/>
        </p:nvSpPr>
        <p:spPr>
          <a:xfrm>
            <a:off x="694944" y="6144768"/>
            <a:ext cx="7406640"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0" i="0">
                <a:solidFill>
                  <a:srgbClr val="71809B"/>
                </a:solidFill>
                <a:latin typeface="Montserrat"/>
              </a:rPr>
              <a:t>Prepared 30 August 2026  |  Evidence snapshot + published H100 baseline</a:t>
            </a:r>
          </a:p>
        </p:txBody>
      </p:sp>
      <p:sp>
        <p:nvSpPr>
          <p:cNvPr id="22" name="TextBox 21"/>
          <p:cNvSpPr txBox="1"/>
          <p:nvPr/>
        </p:nvSpPr>
        <p:spPr>
          <a:xfrm>
            <a:off x="11219688" y="6382512"/>
            <a:ext cx="438912" cy="219456"/>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00" b="1" i="0">
                <a:solidFill>
                  <a:srgbClr val="C4B5FD"/>
                </a:solidFill>
                <a:latin typeface="Montserrat"/>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EXECUTIVE DECISION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decision in 60 seconds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What we should optimize, what we should postpone, and what success means.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Evidence: official VCC contract + local audit</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02</a:t>
            </a:r>
          </a:p>
        </p:txBody>
      </p:sp>
      <p:sp>
        <p:nvSpPr>
          <p:cNvPr id="10" name="Rounded Rectangle 9"/>
          <p:cNvSpPr/>
          <p:nvPr/>
        </p:nvSpPr>
        <p:spPr>
          <a:xfrm>
            <a:off x="566928" y="1572768"/>
            <a:ext cx="2743200" cy="1847088"/>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1572768"/>
            <a:ext cx="54864" cy="184708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49808" y="1746504"/>
            <a:ext cx="347472" cy="34747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1746504"/>
            <a:ext cx="347472"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F7F9FC"/>
                </a:solidFill>
                <a:latin typeface="Montserrat"/>
              </a:rPr>
              <a:t>1</a:t>
            </a:r>
          </a:p>
        </p:txBody>
      </p:sp>
      <p:sp>
        <p:nvSpPr>
          <p:cNvPr id="14" name="TextBox 13"/>
          <p:cNvSpPr txBox="1"/>
          <p:nvPr/>
        </p:nvSpPr>
        <p:spPr>
          <a:xfrm>
            <a:off x="1207007" y="1737360"/>
            <a:ext cx="192024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Predict the perturbation delta first</a:t>
            </a:r>
          </a:p>
        </p:txBody>
      </p:sp>
      <p:sp>
        <p:nvSpPr>
          <p:cNvPr id="15" name="TextBox 14"/>
          <p:cNvSpPr txBox="1"/>
          <p:nvPr/>
        </p:nvSpPr>
        <p:spPr>
          <a:xfrm>
            <a:off x="804672" y="2167128"/>
            <a:ext cx="2286000" cy="109728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The six metrics reward target-specific mean direction and magnitude before they reward visual realism.</a:t>
            </a:r>
          </a:p>
        </p:txBody>
      </p:sp>
      <p:sp>
        <p:nvSpPr>
          <p:cNvPr id="16" name="Rounded Rectangle 15"/>
          <p:cNvSpPr/>
          <p:nvPr/>
        </p:nvSpPr>
        <p:spPr>
          <a:xfrm>
            <a:off x="3438144" y="1572768"/>
            <a:ext cx="2743200" cy="1847088"/>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38144" y="1572768"/>
            <a:ext cx="54864" cy="1847088"/>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621024" y="1746504"/>
            <a:ext cx="347472" cy="3474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21024" y="1746504"/>
            <a:ext cx="347472"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F7F9FC"/>
                </a:solidFill>
                <a:latin typeface="Montserrat"/>
              </a:rPr>
              <a:t>2</a:t>
            </a:r>
          </a:p>
        </p:txBody>
      </p:sp>
      <p:sp>
        <p:nvSpPr>
          <p:cNvPr id="20" name="TextBox 19"/>
          <p:cNvSpPr txBox="1"/>
          <p:nvPr/>
        </p:nvSpPr>
        <p:spPr>
          <a:xfrm>
            <a:off x="4078224" y="1737360"/>
            <a:ext cx="192024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Generate cells around a trusted mean</a:t>
            </a:r>
          </a:p>
        </p:txBody>
      </p:sp>
      <p:sp>
        <p:nvSpPr>
          <p:cNvPr id="21" name="TextBox 20"/>
          <p:cNvSpPr txBox="1"/>
          <p:nvPr/>
        </p:nvSpPr>
        <p:spPr>
          <a:xfrm>
            <a:off x="3675887" y="2167128"/>
            <a:ext cx="2286000" cy="109728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Use a count model or residual flow/diffusion to recover depth, variance, zeros, and responder heterogeneity.</a:t>
            </a:r>
          </a:p>
        </p:txBody>
      </p:sp>
      <p:sp>
        <p:nvSpPr>
          <p:cNvPr id="22" name="Rounded Rectangle 21"/>
          <p:cNvSpPr/>
          <p:nvPr/>
        </p:nvSpPr>
        <p:spPr>
          <a:xfrm>
            <a:off x="6309360" y="1572768"/>
            <a:ext cx="2743200" cy="1847088"/>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1572768"/>
            <a:ext cx="54864" cy="1847088"/>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92240" y="1746504"/>
            <a:ext cx="347472" cy="347472"/>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1746504"/>
            <a:ext cx="347472"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F7F9FC"/>
                </a:solidFill>
                <a:latin typeface="Montserrat"/>
              </a:rPr>
              <a:t>3</a:t>
            </a:r>
          </a:p>
        </p:txBody>
      </p:sp>
      <p:sp>
        <p:nvSpPr>
          <p:cNvPr id="26" name="TextBox 25"/>
          <p:cNvSpPr txBox="1"/>
          <p:nvPr/>
        </p:nvSpPr>
        <p:spPr>
          <a:xfrm>
            <a:off x="6949440" y="1737360"/>
            <a:ext cx="192024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Use RL only behind a gate</a:t>
            </a:r>
          </a:p>
        </p:txBody>
      </p:sp>
      <p:sp>
        <p:nvSpPr>
          <p:cNvPr id="27" name="TextBox 26"/>
          <p:cNvSpPr txBox="1"/>
          <p:nvPr/>
        </p:nvSpPr>
        <p:spPr>
          <a:xfrm>
            <a:off x="6547104" y="2167128"/>
            <a:ext cx="2286000" cy="109728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This is conditional distribution estimation, not sequential control. RL is optional verifier-guided post-training.</a:t>
            </a:r>
          </a:p>
        </p:txBody>
      </p:sp>
      <p:sp>
        <p:nvSpPr>
          <p:cNvPr id="28" name="Rounded Rectangle 27"/>
          <p:cNvSpPr/>
          <p:nvPr/>
        </p:nvSpPr>
        <p:spPr>
          <a:xfrm>
            <a:off x="9180576" y="1572768"/>
            <a:ext cx="2450592" cy="1847088"/>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80576" y="1572768"/>
            <a:ext cx="54864" cy="18470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363455" y="1746504"/>
            <a:ext cx="347472" cy="347472"/>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63455" y="1746504"/>
            <a:ext cx="347472"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F7F9FC"/>
                </a:solidFill>
                <a:latin typeface="Montserrat"/>
              </a:rPr>
              <a:t>4</a:t>
            </a:r>
          </a:p>
        </p:txBody>
      </p:sp>
      <p:sp>
        <p:nvSpPr>
          <p:cNvPr id="32" name="TextBox 31"/>
          <p:cNvSpPr txBox="1"/>
          <p:nvPr/>
        </p:nvSpPr>
        <p:spPr>
          <a:xfrm>
            <a:off x="9820655" y="1737360"/>
            <a:ext cx="1627632"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Win on held-out contexts</a:t>
            </a:r>
          </a:p>
        </p:txBody>
      </p:sp>
      <p:sp>
        <p:nvSpPr>
          <p:cNvPr id="33" name="TextBox 32"/>
          <p:cNvSpPr txBox="1"/>
          <p:nvPr/>
        </p:nvSpPr>
        <p:spPr>
          <a:xfrm>
            <a:off x="9418319" y="2167128"/>
            <a:ext cx="1993392" cy="109728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00" b="0" i="0">
                <a:solidFill>
                  <a:srgbClr val="A9B5CC"/>
                </a:solidFill>
                <a:latin typeface="Montserrat"/>
              </a:rPr>
              <a:t>A leaderboard gain is evidence only when strict leave-one-cell-line-out evaluation also improves.</a:t>
            </a:r>
          </a:p>
        </p:txBody>
      </p:sp>
      <p:sp>
        <p:nvSpPr>
          <p:cNvPr id="34" name="Rounded Rectangle 33"/>
          <p:cNvSpPr/>
          <p:nvPr/>
        </p:nvSpPr>
        <p:spPr>
          <a:xfrm>
            <a:off x="566928" y="3767328"/>
            <a:ext cx="11064240" cy="1645920"/>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0392" y="4014215"/>
            <a:ext cx="160020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C4B5FD"/>
                </a:solidFill>
                <a:latin typeface="Montserrat"/>
              </a:rPr>
              <a:t>RECOMMENDED CORE</a:t>
            </a:r>
          </a:p>
        </p:txBody>
      </p:sp>
      <p:sp>
        <p:nvSpPr>
          <p:cNvPr id="36" name="TextBox 35"/>
          <p:cNvSpPr txBox="1"/>
          <p:nvPr/>
        </p:nvSpPr>
        <p:spPr>
          <a:xfrm>
            <a:off x="850392" y="4379976"/>
            <a:ext cx="3840480" cy="3931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800" b="1" i="0">
                <a:solidFill>
                  <a:srgbClr val="F7F9FC"/>
                </a:solidFill>
                <a:latin typeface="Montserrat"/>
              </a:rPr>
              <a:t>context-conditioned deterministic effect predictor</a:t>
            </a:r>
          </a:p>
        </p:txBody>
      </p:sp>
      <p:sp>
        <p:nvSpPr>
          <p:cNvPr id="37" name="TextBox 36"/>
          <p:cNvSpPr txBox="1"/>
          <p:nvPr/>
        </p:nvSpPr>
        <p:spPr>
          <a:xfrm>
            <a:off x="4791456" y="4370832"/>
            <a:ext cx="274320"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900" b="1" i="0">
                <a:solidFill>
                  <a:srgbClr val="22D3EE"/>
                </a:solidFill>
                <a:latin typeface="Montserrat"/>
              </a:rPr>
              <a:t>+</a:t>
            </a:r>
          </a:p>
        </p:txBody>
      </p:sp>
      <p:sp>
        <p:nvSpPr>
          <p:cNvPr id="38" name="TextBox 37"/>
          <p:cNvSpPr txBox="1"/>
          <p:nvPr/>
        </p:nvSpPr>
        <p:spPr>
          <a:xfrm>
            <a:off x="5157216" y="4379976"/>
            <a:ext cx="3200400" cy="3931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800" b="1" i="0">
                <a:solidFill>
                  <a:srgbClr val="F7F9FC"/>
                </a:solidFill>
                <a:latin typeface="Montserrat"/>
              </a:rPr>
              <a:t>control-anchored count generator</a:t>
            </a:r>
          </a:p>
        </p:txBody>
      </p:sp>
      <p:sp>
        <p:nvSpPr>
          <p:cNvPr id="39" name="TextBox 38"/>
          <p:cNvSpPr txBox="1"/>
          <p:nvPr/>
        </p:nvSpPr>
        <p:spPr>
          <a:xfrm>
            <a:off x="8421624" y="4370832"/>
            <a:ext cx="274320"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900" b="1" i="0">
                <a:solidFill>
                  <a:srgbClr val="22D3EE"/>
                </a:solidFill>
                <a:latin typeface="Montserrat"/>
              </a:rPr>
              <a:t>+</a:t>
            </a:r>
          </a:p>
        </p:txBody>
      </p:sp>
      <p:sp>
        <p:nvSpPr>
          <p:cNvPr id="40" name="TextBox 39"/>
          <p:cNvSpPr txBox="1"/>
          <p:nvPr/>
        </p:nvSpPr>
        <p:spPr>
          <a:xfrm>
            <a:off x="8787384" y="4379976"/>
            <a:ext cx="2514600" cy="3931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F7F9FC"/>
                </a:solidFill>
                <a:latin typeface="Montserrat"/>
              </a:rPr>
              <a:t>metric calibration + ensemble</a:t>
            </a:r>
          </a:p>
        </p:txBody>
      </p:sp>
      <p:sp>
        <p:nvSpPr>
          <p:cNvPr id="41" name="TextBox 40"/>
          <p:cNvSpPr txBox="1"/>
          <p:nvPr/>
        </p:nvSpPr>
        <p:spPr>
          <a:xfrm>
            <a:off x="850392" y="4965192"/>
            <a:ext cx="10241280"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0" i="0">
                <a:solidFill>
                  <a:srgbClr val="A9B5CC"/>
                </a:solidFill>
                <a:latin typeface="Montserrat"/>
              </a:rPr>
              <a:t>Success = robust gain over the strongest statistical baseline on mean and worst held-out context.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EXECUTIVE DECISION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Road map</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Five questions the team must answer together.</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03</a:t>
            </a:r>
          </a:p>
        </p:txBody>
      </p:sp>
      <p:sp>
        <p:nvSpPr>
          <p:cNvPr id="9" name="Oval 8"/>
          <p:cNvSpPr/>
          <p:nvPr/>
        </p:nvSpPr>
        <p:spPr>
          <a:xfrm>
            <a:off x="1298448" y="1664208"/>
            <a:ext cx="713232" cy="71323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98448" y="1664208"/>
            <a:ext cx="713232" cy="71323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F7F9FC"/>
                </a:solidFill>
                <a:latin typeface="Montserrat"/>
              </a:rPr>
              <a:t>01</a:t>
            </a:r>
          </a:p>
        </p:txBody>
      </p:sp>
      <p:cxnSp>
        <p:nvCxnSpPr>
          <p:cNvPr id="11" name="Connector 10"/>
          <p:cNvCxnSpPr/>
          <p:nvPr/>
        </p:nvCxnSpPr>
        <p:spPr>
          <a:xfrm>
            <a:off x="2048256" y="2020824"/>
            <a:ext cx="630936"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2" name="Isosceles Triangle 11"/>
          <p:cNvSpPr/>
          <p:nvPr/>
        </p:nvSpPr>
        <p:spPr>
          <a:xfrm rot="5400000">
            <a:off x="2624328" y="19659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 y="2670048"/>
            <a:ext cx="2084831"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What is measured?</a:t>
            </a:r>
          </a:p>
        </p:txBody>
      </p:sp>
      <p:sp>
        <p:nvSpPr>
          <p:cNvPr id="14" name="TextBox 13"/>
          <p:cNvSpPr txBox="1"/>
          <p:nvPr/>
        </p:nvSpPr>
        <p:spPr>
          <a:xfrm>
            <a:off x="585216" y="3227832"/>
            <a:ext cx="2084831" cy="8046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0" i="0">
                <a:solidFill>
                  <a:srgbClr val="A9B5CC"/>
                </a:solidFill>
                <a:latin typeface="Montserrat"/>
              </a:rPr>
              <a:t>CRISPRi, Perturb-seq, raw UMI counts</a:t>
            </a:r>
          </a:p>
        </p:txBody>
      </p:sp>
      <p:sp>
        <p:nvSpPr>
          <p:cNvPr id="15" name="Oval 14"/>
          <p:cNvSpPr/>
          <p:nvPr/>
        </p:nvSpPr>
        <p:spPr>
          <a:xfrm>
            <a:off x="3566160" y="1664208"/>
            <a:ext cx="713232" cy="71323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66160" y="1664208"/>
            <a:ext cx="713232" cy="71323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F7F9FC"/>
                </a:solidFill>
                <a:latin typeface="Montserrat"/>
              </a:rPr>
              <a:t>02</a:t>
            </a:r>
          </a:p>
        </p:txBody>
      </p:sp>
      <p:cxnSp>
        <p:nvCxnSpPr>
          <p:cNvPr id="17" name="Connector 16"/>
          <p:cNvCxnSpPr/>
          <p:nvPr/>
        </p:nvCxnSpPr>
        <p:spPr>
          <a:xfrm>
            <a:off x="4315968" y="2020824"/>
            <a:ext cx="630936"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4892040" y="19659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52928" y="2670048"/>
            <a:ext cx="2084831"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What is predicted?</a:t>
            </a:r>
          </a:p>
        </p:txBody>
      </p:sp>
      <p:sp>
        <p:nvSpPr>
          <p:cNvPr id="20" name="TextBox 19"/>
          <p:cNvSpPr txBox="1"/>
          <p:nvPr/>
        </p:nvSpPr>
        <p:spPr>
          <a:xfrm>
            <a:off x="2852928" y="3227832"/>
            <a:ext cx="2084831" cy="8046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0" i="0">
                <a:solidFill>
                  <a:srgbClr val="A9B5CC"/>
                </a:solidFill>
                <a:latin typeface="Montserrat"/>
              </a:rPr>
              <a:t>A counterfactual 400-cell distribution</a:t>
            </a:r>
          </a:p>
        </p:txBody>
      </p:sp>
      <p:sp>
        <p:nvSpPr>
          <p:cNvPr id="21" name="Oval 20"/>
          <p:cNvSpPr/>
          <p:nvPr/>
        </p:nvSpPr>
        <p:spPr>
          <a:xfrm>
            <a:off x="5833872" y="1664208"/>
            <a:ext cx="713232" cy="713232"/>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33872" y="1664208"/>
            <a:ext cx="713232" cy="71323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F7F9FC"/>
                </a:solidFill>
                <a:latin typeface="Montserrat"/>
              </a:rPr>
              <a:t>03</a:t>
            </a:r>
          </a:p>
        </p:txBody>
      </p:sp>
      <p:cxnSp>
        <p:nvCxnSpPr>
          <p:cNvPr id="23" name="Connector 22"/>
          <p:cNvCxnSpPr/>
          <p:nvPr/>
        </p:nvCxnSpPr>
        <p:spPr>
          <a:xfrm>
            <a:off x="6583679" y="2020824"/>
            <a:ext cx="630937"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5400000">
            <a:off x="7159752" y="19659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2670048"/>
            <a:ext cx="2084831"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How is it scored?</a:t>
            </a:r>
          </a:p>
        </p:txBody>
      </p:sp>
      <p:sp>
        <p:nvSpPr>
          <p:cNvPr id="26" name="TextBox 25"/>
          <p:cNvSpPr txBox="1"/>
          <p:nvPr/>
        </p:nvSpPr>
        <p:spPr>
          <a:xfrm>
            <a:off x="5120640" y="3227832"/>
            <a:ext cx="2084831" cy="8046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0" i="0">
                <a:solidFill>
                  <a:srgbClr val="A9B5CC"/>
                </a:solidFill>
                <a:latin typeface="Montserrat"/>
              </a:rPr>
              <a:t>Six metrics with distinct failure modes</a:t>
            </a:r>
          </a:p>
        </p:txBody>
      </p:sp>
      <p:sp>
        <p:nvSpPr>
          <p:cNvPr id="27" name="Oval 26"/>
          <p:cNvSpPr/>
          <p:nvPr/>
        </p:nvSpPr>
        <p:spPr>
          <a:xfrm>
            <a:off x="8101583" y="1664208"/>
            <a:ext cx="713232" cy="713232"/>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01583" y="1664208"/>
            <a:ext cx="713232" cy="71323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F7F9FC"/>
                </a:solidFill>
                <a:latin typeface="Montserrat"/>
              </a:rPr>
              <a:t>04</a:t>
            </a:r>
          </a:p>
        </p:txBody>
      </p:sp>
      <p:cxnSp>
        <p:nvCxnSpPr>
          <p:cNvPr id="29" name="Connector 28"/>
          <p:cNvCxnSpPr/>
          <p:nvPr/>
        </p:nvCxnSpPr>
        <p:spPr>
          <a:xfrm>
            <a:off x="8851392" y="2020824"/>
            <a:ext cx="630936"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9427464" y="19659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88352" y="2670048"/>
            <a:ext cx="2084831"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What should we build?</a:t>
            </a:r>
          </a:p>
        </p:txBody>
      </p:sp>
      <p:sp>
        <p:nvSpPr>
          <p:cNvPr id="32" name="TextBox 31"/>
          <p:cNvSpPr txBox="1"/>
          <p:nvPr/>
        </p:nvSpPr>
        <p:spPr>
          <a:xfrm>
            <a:off x="7388352" y="3227832"/>
            <a:ext cx="2084831" cy="8046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0" i="0">
                <a:solidFill>
                  <a:srgbClr val="A9B5CC"/>
                </a:solidFill>
                <a:latin typeface="Montserrat"/>
              </a:rPr>
              <a:t>Transfer model + calibrated count generator</a:t>
            </a:r>
          </a:p>
        </p:txBody>
      </p:sp>
      <p:sp>
        <p:nvSpPr>
          <p:cNvPr id="33" name="Oval 32"/>
          <p:cNvSpPr/>
          <p:nvPr/>
        </p:nvSpPr>
        <p:spPr>
          <a:xfrm>
            <a:off x="10369296" y="1664208"/>
            <a:ext cx="713232" cy="713232"/>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369296" y="1664208"/>
            <a:ext cx="713232" cy="71323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F7F9FC"/>
                </a:solidFill>
                <a:latin typeface="Montserrat"/>
              </a:rPr>
              <a:t>05</a:t>
            </a:r>
          </a:p>
        </p:txBody>
      </p:sp>
      <p:sp>
        <p:nvSpPr>
          <p:cNvPr id="35" name="TextBox 34"/>
          <p:cNvSpPr txBox="1"/>
          <p:nvPr/>
        </p:nvSpPr>
        <p:spPr>
          <a:xfrm>
            <a:off x="9656064" y="2670048"/>
            <a:ext cx="2084831"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How do three people deliver?</a:t>
            </a:r>
          </a:p>
        </p:txBody>
      </p:sp>
      <p:sp>
        <p:nvSpPr>
          <p:cNvPr id="36" name="TextBox 35"/>
          <p:cNvSpPr txBox="1"/>
          <p:nvPr/>
        </p:nvSpPr>
        <p:spPr>
          <a:xfrm>
            <a:off x="9656064" y="3227832"/>
            <a:ext cx="2084831" cy="8046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0" i="0">
                <a:solidFill>
                  <a:srgbClr val="A9B5CC"/>
                </a:solidFill>
                <a:latin typeface="Montserrat"/>
              </a:rPr>
              <a:t>Ownership, gates, timeline, submissions</a:t>
            </a:r>
          </a:p>
        </p:txBody>
      </p:sp>
      <p:sp>
        <p:nvSpPr>
          <p:cNvPr id="37" name="Rounded Rectangle 36"/>
          <p:cNvSpPr/>
          <p:nvPr/>
        </p:nvSpPr>
        <p:spPr>
          <a:xfrm>
            <a:off x="1024128" y="4754880"/>
            <a:ext cx="10149840" cy="713232"/>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280160" y="4965192"/>
            <a:ext cx="1417320"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22D3EE"/>
                </a:solidFill>
                <a:latin typeface="Montserrat"/>
              </a:rPr>
              <a:t>Discussion rule</a:t>
            </a:r>
          </a:p>
        </p:txBody>
      </p:sp>
      <p:sp>
        <p:nvSpPr>
          <p:cNvPr id="39" name="TextBox 38"/>
          <p:cNvSpPr txBox="1"/>
          <p:nvPr/>
        </p:nvSpPr>
        <p:spPr>
          <a:xfrm>
            <a:off x="2761488" y="4928616"/>
            <a:ext cx="8028431"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F7F9FC"/>
                </a:solidFill>
                <a:latin typeface="Montserrat"/>
              </a:rPr>
              <a:t>Every proposed model must identify which biological uncertainty and which metric failure it is designed to fix.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THE TASK</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challenge in one sentence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Infer a missing intervention distribution from an observed control population.</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VCC 2026 Data; VCC CLI Guide</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04</a:t>
            </a:r>
          </a:p>
        </p:txBody>
      </p:sp>
      <p:sp>
        <p:nvSpPr>
          <p:cNvPr id="10" name="Rounded Rectangle 9"/>
          <p:cNvSpPr/>
          <p:nvPr/>
        </p:nvSpPr>
        <p:spPr>
          <a:xfrm>
            <a:off x="594360" y="1600200"/>
            <a:ext cx="2834640" cy="3474720"/>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1248" y="1847088"/>
            <a:ext cx="960120"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1851660"/>
            <a:ext cx="960120"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OBSERVED</a:t>
            </a:r>
          </a:p>
        </p:txBody>
      </p:sp>
      <p:sp>
        <p:nvSpPr>
          <p:cNvPr id="13" name="Oval 12"/>
          <p:cNvSpPr/>
          <p:nvPr/>
        </p:nvSpPr>
        <p:spPr>
          <a:xfrm>
            <a:off x="868680" y="2359152"/>
            <a:ext cx="393192" cy="39319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2365" y="2492837"/>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47318" y="242992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12459" y="2469245"/>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66977"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36050"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399031" y="2359152"/>
            <a:ext cx="393192" cy="393192"/>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532717" y="2492837"/>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477670" y="242992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642811" y="2469245"/>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497329"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666402"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29384" y="2359152"/>
            <a:ext cx="393192" cy="3931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063069" y="2492837"/>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008022" y="242992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2173163" y="2469245"/>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2027681"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2196754"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2459735" y="2359152"/>
            <a:ext cx="393192" cy="39319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2593421" y="2492837"/>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2538374" y="242992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2703515" y="2469245"/>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2558033"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2727106" y="2618658"/>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68680" y="2926080"/>
            <a:ext cx="393192" cy="393192"/>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02365" y="3059765"/>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47318" y="2996854"/>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1112459" y="3036173"/>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66977"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1136050"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1399031" y="2926080"/>
            <a:ext cx="393192" cy="3931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1532717" y="3059765"/>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477670" y="2996854"/>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642811" y="3036173"/>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497329"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666402"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1929384" y="2926080"/>
            <a:ext cx="393192" cy="39319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2063069" y="3059765"/>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2008022" y="2996854"/>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173163" y="3036173"/>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2027681"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196754"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2459735" y="2926080"/>
            <a:ext cx="393192" cy="393192"/>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2593421" y="3059765"/>
            <a:ext cx="125821" cy="125821"/>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2538374" y="2996854"/>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2703515" y="3036173"/>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2558033"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727106" y="3185586"/>
            <a:ext cx="31455" cy="3145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68680" y="3639312"/>
            <a:ext cx="2148840" cy="65836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700" b="1" i="0">
                <a:solidFill>
                  <a:srgbClr val="F7F9FC"/>
                </a:solidFill>
                <a:latin typeface="Montserrat"/>
              </a:rPr>
              <a:t>18,400 non-targeting</a:t>
            </a:r>
            <a:br/>
            <a:r>
              <a:rPr sz="1700" b="1" i="0">
                <a:solidFill>
                  <a:srgbClr val="F7F9FC"/>
                </a:solidFill>
                <a:latin typeface="Montserrat"/>
              </a:rPr>
              <a:t>control cells</a:t>
            </a:r>
          </a:p>
        </p:txBody>
      </p:sp>
      <p:sp>
        <p:nvSpPr>
          <p:cNvPr id="62" name="TextBox 61"/>
          <p:cNvSpPr txBox="1"/>
          <p:nvPr/>
        </p:nvSpPr>
        <p:spPr>
          <a:xfrm>
            <a:off x="868680" y="4389120"/>
            <a:ext cx="2148840"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0" i="0">
                <a:solidFill>
                  <a:srgbClr val="A9B5CC"/>
                </a:solidFill>
                <a:latin typeface="Montserrat"/>
              </a:rPr>
              <a:t>Anonymous context c</a:t>
            </a:r>
          </a:p>
        </p:txBody>
      </p:sp>
      <p:sp>
        <p:nvSpPr>
          <p:cNvPr id="63" name="Rounded Rectangle 62"/>
          <p:cNvSpPr/>
          <p:nvPr/>
        </p:nvSpPr>
        <p:spPr>
          <a:xfrm>
            <a:off x="3913632" y="1600200"/>
            <a:ext cx="2011680" cy="3474720"/>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4187952" y="1847088"/>
            <a:ext cx="960120"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87952" y="1851660"/>
            <a:ext cx="960120"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CONDITION</a:t>
            </a:r>
          </a:p>
        </p:txBody>
      </p:sp>
      <p:sp>
        <p:nvSpPr>
          <p:cNvPr id="66" name="Oval 65"/>
          <p:cNvSpPr/>
          <p:nvPr/>
        </p:nvSpPr>
        <p:spPr>
          <a:xfrm>
            <a:off x="4462272" y="2514600"/>
            <a:ext cx="914400" cy="91440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462272" y="2514600"/>
            <a:ext cx="914400" cy="91440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800" b="1" i="0">
                <a:solidFill>
                  <a:srgbClr val="F7F9FC"/>
                </a:solidFill>
                <a:latin typeface="Montserrat"/>
              </a:rPr>
              <a:t>p</a:t>
            </a:r>
          </a:p>
        </p:txBody>
      </p:sp>
      <p:sp>
        <p:nvSpPr>
          <p:cNvPr id="68" name="TextBox 67"/>
          <p:cNvSpPr txBox="1"/>
          <p:nvPr/>
        </p:nvSpPr>
        <p:spPr>
          <a:xfrm>
            <a:off x="4224528" y="3703320"/>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600" b="1" i="0">
                <a:solidFill>
                  <a:srgbClr val="F7F9FC"/>
                </a:solidFill>
                <a:latin typeface="Montserrat"/>
              </a:rPr>
              <a:t>CRISPRi target</a:t>
            </a:r>
            <a:br/>
            <a:r>
              <a:rPr sz="1600" b="1" i="0">
                <a:solidFill>
                  <a:srgbClr val="F7F9FC"/>
                </a:solidFill>
                <a:latin typeface="Montserrat"/>
              </a:rPr>
              <a:t>gene</a:t>
            </a:r>
          </a:p>
        </p:txBody>
      </p:sp>
      <p:cxnSp>
        <p:nvCxnSpPr>
          <p:cNvPr id="69" name="Connector 68"/>
          <p:cNvCxnSpPr/>
          <p:nvPr/>
        </p:nvCxnSpPr>
        <p:spPr>
          <a:xfrm>
            <a:off x="3456432" y="3328416"/>
            <a:ext cx="365759"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70" name="Isosceles Triangle 69"/>
          <p:cNvSpPr/>
          <p:nvPr/>
        </p:nvSpPr>
        <p:spPr>
          <a:xfrm rot="5400000">
            <a:off x="3767328" y="3273552"/>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6016752" y="3328416"/>
            <a:ext cx="420624"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72" name="Isosceles Triangle 71"/>
          <p:cNvSpPr/>
          <p:nvPr/>
        </p:nvSpPr>
        <p:spPr>
          <a:xfrm rot="5400000">
            <a:off x="6382512" y="3273552"/>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ounded Rectangle 72"/>
          <p:cNvSpPr/>
          <p:nvPr/>
        </p:nvSpPr>
        <p:spPr>
          <a:xfrm>
            <a:off x="6510528" y="1600200"/>
            <a:ext cx="5102352" cy="3474720"/>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6784848" y="1847088"/>
            <a:ext cx="1261872"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784848" y="1851660"/>
            <a:ext cx="126187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COUNTERFACTUAL</a:t>
            </a:r>
          </a:p>
        </p:txBody>
      </p:sp>
      <p:sp>
        <p:nvSpPr>
          <p:cNvPr id="76" name="Oval 75"/>
          <p:cNvSpPr/>
          <p:nvPr/>
        </p:nvSpPr>
        <p:spPr>
          <a:xfrm>
            <a:off x="6839712" y="2414016"/>
            <a:ext cx="384048" cy="3840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970288" y="2544592"/>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916521" y="2483144"/>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7077821" y="2521549"/>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93572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10086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388352" y="2414016"/>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518928" y="2544592"/>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7465161" y="2483144"/>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626461" y="2521549"/>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748436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764950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7936992" y="2414016"/>
            <a:ext cx="384048" cy="384048"/>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067568" y="2544592"/>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013801" y="2483144"/>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8175101" y="2521549"/>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803300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819814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8485632" y="2414016"/>
            <a:ext cx="384048" cy="384048"/>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8616208" y="2544592"/>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8562441" y="2483144"/>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8723741" y="2521549"/>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858164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874678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9034272" y="2414016"/>
            <a:ext cx="384048" cy="3840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9164848" y="2544592"/>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9111081" y="2483144"/>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9272381" y="2521549"/>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913028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929542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9582912" y="2414016"/>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9713488" y="2544592"/>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9659721" y="2483144"/>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9821021" y="2521549"/>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967892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9844064" y="266748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6839712" y="2980944"/>
            <a:ext cx="384048" cy="384048"/>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6970288" y="3111520"/>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6916521" y="3050072"/>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7077821" y="308847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693572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710086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7388352" y="2980944"/>
            <a:ext cx="384048" cy="384048"/>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7518928" y="3111520"/>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7465161" y="3050072"/>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7626461" y="308847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748436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764950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7936992" y="2980944"/>
            <a:ext cx="384048" cy="38404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8067568" y="3111520"/>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8013801" y="3050072"/>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175101" y="308847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03300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819814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8485632" y="2980944"/>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8616208" y="3111520"/>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8562441" y="3050072"/>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8723741" y="308847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Oval 133"/>
          <p:cNvSpPr/>
          <p:nvPr/>
        </p:nvSpPr>
        <p:spPr>
          <a:xfrm>
            <a:off x="858164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Oval 134"/>
          <p:cNvSpPr/>
          <p:nvPr/>
        </p:nvSpPr>
        <p:spPr>
          <a:xfrm>
            <a:off x="874678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9034272" y="2980944"/>
            <a:ext cx="384048" cy="384048"/>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9164848" y="3111520"/>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9111081" y="3050072"/>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9272381" y="308847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913028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929542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9582912" y="2980944"/>
            <a:ext cx="384048" cy="384048"/>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9713488" y="3111520"/>
            <a:ext cx="122895" cy="122895"/>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9659721" y="3050072"/>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821021" y="3088477"/>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67892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9844064" y="3234415"/>
            <a:ext cx="30723" cy="30723"/>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6821424" y="3749039"/>
            <a:ext cx="4160520"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700" b="1" i="0">
                <a:solidFill>
                  <a:srgbClr val="F7F9FC"/>
                </a:solidFill>
                <a:latin typeface="Montserrat"/>
              </a:rPr>
              <a:t>400 predicted cells × 18,533 genes</a:t>
            </a:r>
          </a:p>
        </p:txBody>
      </p:sp>
      <p:sp>
        <p:nvSpPr>
          <p:cNvPr id="149" name="TextBox 148"/>
          <p:cNvSpPr txBox="1"/>
          <p:nvPr/>
        </p:nvSpPr>
        <p:spPr>
          <a:xfrm>
            <a:off x="6821424" y="4297680"/>
            <a:ext cx="416052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0" i="0">
                <a:solidFill>
                  <a:srgbClr val="A9B5CC"/>
                </a:solidFill>
                <a:latin typeface="Montserrat"/>
              </a:rPr>
              <a:t>Raw nonnegative whole counts • no controls in upload</a:t>
            </a:r>
          </a:p>
        </p:txBody>
      </p:sp>
      <p:sp>
        <p:nvSpPr>
          <p:cNvPr id="150" name="TextBox 149"/>
          <p:cNvSpPr txBox="1"/>
          <p:nvPr/>
        </p:nvSpPr>
        <p:spPr>
          <a:xfrm>
            <a:off x="1078992" y="5449824"/>
            <a:ext cx="10012680" cy="40233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000" b="1" i="0">
                <a:solidFill>
                  <a:srgbClr val="A5F3FC"/>
                </a:solidFill>
                <a:latin typeface="Source Code Pro"/>
              </a:rPr>
              <a:t>(D⁰c, p)  →  X̂c,p  ≈  P(X | do[CRISPRi(p)], 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BIOLOGY PRIMER</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What CRISPR interference changes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guide-directed transcriptional brake creates a causal perturbation without cutting DNA.</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Qi et al., Cell (2013); VCC 2026 Data</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05</a:t>
            </a:r>
          </a:p>
        </p:txBody>
      </p:sp>
      <p:sp>
        <p:nvSpPr>
          <p:cNvPr id="10" name="TextBox 9"/>
          <p:cNvSpPr txBox="1"/>
          <p:nvPr/>
        </p:nvSpPr>
        <p:spPr>
          <a:xfrm>
            <a:off x="640080" y="1627632"/>
            <a:ext cx="502920"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A9B5CC"/>
                </a:solidFill>
                <a:latin typeface="Montserrat"/>
              </a:rPr>
              <a:t>DNA</a:t>
            </a:r>
          </a:p>
        </p:txBody>
      </p:sp>
      <p:cxnSp>
        <p:nvCxnSpPr>
          <p:cNvPr id="11" name="Connector 10"/>
          <p:cNvCxnSpPr/>
          <p:nvPr/>
        </p:nvCxnSpPr>
        <p:spPr>
          <a:xfrm>
            <a:off x="1115568" y="1755648"/>
            <a:ext cx="5559552" cy="0"/>
          </a:xfrm>
          <a:prstGeom prst="line">
            <a:avLst/>
          </a:prstGeom>
          <a:ln w="38100">
            <a:solidFill>
              <a:srgbClr val="60A5F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234440"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609344"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84248"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59152"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734056"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108960"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483864"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858768"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233672"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08576"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983479"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358383"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33288"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108192" y="1627632"/>
            <a:ext cx="0" cy="256032"/>
          </a:xfrm>
          <a:prstGeom prst="line">
            <a:avLst/>
          </a:prstGeom>
          <a:ln w="13970">
            <a:solidFill>
              <a:srgbClr val="A5F3F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880360" y="1463040"/>
            <a:ext cx="1371600" cy="566928"/>
          </a:xfrm>
          <a:prstGeom prst="roundRect">
            <a:avLst/>
          </a:prstGeom>
          <a:solidFill>
            <a:srgbClr val="8B5CF6"/>
          </a:solidFill>
          <a:ln w="12700">
            <a:solidFill>
              <a:srgbClr val="C4B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35224" y="1581912"/>
            <a:ext cx="1261872" cy="23774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F7F9FC"/>
                </a:solidFill>
                <a:latin typeface="Montserrat"/>
              </a:rPr>
              <a:t>dCas9–repressor</a:t>
            </a:r>
          </a:p>
        </p:txBody>
      </p:sp>
      <p:cxnSp>
        <p:nvCxnSpPr>
          <p:cNvPr id="28" name="Connector 27"/>
          <p:cNvCxnSpPr/>
          <p:nvPr/>
        </p:nvCxnSpPr>
        <p:spPr>
          <a:xfrm flipV="1">
            <a:off x="2011680" y="1865376"/>
            <a:ext cx="1664207" cy="603504"/>
          </a:xfrm>
          <a:prstGeom prst="line">
            <a:avLst/>
          </a:prstGeom>
          <a:ln w="29209">
            <a:solidFill>
              <a:srgbClr val="F472B6"/>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316736" y="2404872"/>
            <a:ext cx="658368"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FBCFE8"/>
                </a:solidFill>
                <a:latin typeface="Montserrat"/>
              </a:rPr>
              <a:t>sgRNA</a:t>
            </a:r>
          </a:p>
        </p:txBody>
      </p:sp>
      <p:cxnSp>
        <p:nvCxnSpPr>
          <p:cNvPr id="30" name="Connector 29"/>
          <p:cNvCxnSpPr/>
          <p:nvPr/>
        </p:nvCxnSpPr>
        <p:spPr>
          <a:xfrm>
            <a:off x="4370832" y="1755648"/>
            <a:ext cx="1280160" cy="0"/>
          </a:xfrm>
          <a:prstGeom prst="line">
            <a:avLst/>
          </a:prstGeom>
          <a:ln w="25400">
            <a:solidFill>
              <a:srgbClr val="FB7185"/>
            </a:solidFill>
          </a:ln>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5400000">
            <a:off x="5596128" y="1700784"/>
            <a:ext cx="109728" cy="109728"/>
          </a:xfrm>
          <a:prstGeom prst="triangl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a:off x="4645152" y="1353312"/>
            <a:ext cx="0" cy="804672"/>
          </a:xfrm>
          <a:prstGeom prst="line">
            <a:avLst/>
          </a:prstGeom>
          <a:ln w="50800">
            <a:solidFill>
              <a:srgbClr val="FB7185"/>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846320" y="2139696"/>
            <a:ext cx="1874519"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FB7185"/>
                </a:solidFill>
                <a:latin typeface="Montserrat"/>
              </a:rPr>
              <a:t>transcription blocked</a:t>
            </a:r>
          </a:p>
        </p:txBody>
      </p:sp>
      <p:sp>
        <p:nvSpPr>
          <p:cNvPr id="34" name="Rounded Rectangle 33"/>
          <p:cNvSpPr/>
          <p:nvPr/>
        </p:nvSpPr>
        <p:spPr>
          <a:xfrm>
            <a:off x="640080" y="2926080"/>
            <a:ext cx="6126480" cy="2139696"/>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6112" y="3163824"/>
            <a:ext cx="2542032"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F7F9FC"/>
                </a:solidFill>
                <a:latin typeface="Montserrat"/>
              </a:rPr>
              <a:t>Mechanistic consequences</a:t>
            </a:r>
          </a:p>
        </p:txBody>
      </p:sp>
      <p:sp>
        <p:nvSpPr>
          <p:cNvPr id="36" name="TextBox 35"/>
          <p:cNvSpPr txBox="1"/>
          <p:nvPr/>
        </p:nvSpPr>
        <p:spPr>
          <a:xfrm>
            <a:off x="896112" y="3602736"/>
            <a:ext cx="5431536" cy="1225296"/>
          </a:xfrm>
          <a:prstGeom prst="rect">
            <a:avLst/>
          </a:prstGeom>
          <a:noFill/>
        </p:spPr>
        <p:txBody>
          <a:bodyPr wrap="square" lIns="18288" rIns="18288" tIns="18288" bIns="18288">
            <a:spAutoFit/>
          </a:bodyPr>
          <a:lstStyle/>
          <a:p>
            <a:pPr>
              <a:lnSpc>
                <a:spcPct val="108000"/>
              </a:lnSpc>
              <a:spcBef>
                <a:spcPts val="0"/>
              </a:spcBef>
              <a:spcAft>
                <a:spcPts val="300"/>
              </a:spcAft>
            </a:pPr>
            <a:r>
              <a:rPr sz="1250" b="1">
                <a:solidFill>
                  <a:srgbClr val="C4B5FD"/>
                </a:solidFill>
                <a:latin typeface="Montserrat"/>
              </a:rPr>
              <a:t>•  </a:t>
            </a:r>
            <a:r>
              <a:rPr sz="1250">
                <a:solidFill>
                  <a:srgbClr val="F7F9FC"/>
                </a:solidFill>
                <a:latin typeface="Montserrat"/>
              </a:rPr>
              <a:t>Target RNA decreases; the target transcript itself is excluded from scoring.</a:t>
            </a:r>
          </a:p>
          <a:p>
            <a:pPr>
              <a:lnSpc>
                <a:spcPct val="108000"/>
              </a:lnSpc>
              <a:spcBef>
                <a:spcPts val="0"/>
              </a:spcBef>
              <a:spcAft>
                <a:spcPts val="300"/>
              </a:spcAft>
            </a:pPr>
            <a:r>
              <a:rPr sz="1250" b="1">
                <a:solidFill>
                  <a:srgbClr val="C4B5FD"/>
                </a:solidFill>
                <a:latin typeface="Montserrat"/>
              </a:rPr>
              <a:t>•  </a:t>
            </a:r>
            <a:r>
              <a:rPr sz="1250">
                <a:solidFill>
                  <a:srgbClr val="F7F9FC"/>
                </a:solidFill>
                <a:latin typeface="Montserrat"/>
              </a:rPr>
              <a:t>Downstream genes respond through regulatory, signaling, metabolic, and stress networks.</a:t>
            </a:r>
          </a:p>
          <a:p>
            <a:pPr>
              <a:lnSpc>
                <a:spcPct val="108000"/>
              </a:lnSpc>
              <a:spcBef>
                <a:spcPts val="0"/>
              </a:spcBef>
              <a:spcAft>
                <a:spcPts val="300"/>
              </a:spcAft>
            </a:pPr>
            <a:r>
              <a:rPr sz="1250" b="1">
                <a:solidFill>
                  <a:srgbClr val="C4B5FD"/>
                </a:solidFill>
                <a:latin typeface="Montserrat"/>
              </a:rPr>
              <a:t>•  </a:t>
            </a:r>
            <a:r>
              <a:rPr sz="1250">
                <a:solidFill>
                  <a:srgbClr val="F7F9FC"/>
                </a:solidFill>
                <a:latin typeface="Montserrat"/>
              </a:rPr>
              <a:t>The same target can induce different responses in different cell contexts.</a:t>
            </a:r>
          </a:p>
          <a:p>
            <a:pPr>
              <a:lnSpc>
                <a:spcPct val="108000"/>
              </a:lnSpc>
              <a:spcBef>
                <a:spcPts val="0"/>
              </a:spcBef>
              <a:spcAft>
                <a:spcPts val="300"/>
              </a:spcAft>
            </a:pPr>
            <a:r>
              <a:rPr sz="1250" b="1">
                <a:solidFill>
                  <a:srgbClr val="C4B5FD"/>
                </a:solidFill>
                <a:latin typeface="Montserrat"/>
              </a:rPr>
              <a:t>•  </a:t>
            </a:r>
            <a:r>
              <a:rPr sz="1250">
                <a:solidFill>
                  <a:srgbClr val="F7F9FC"/>
                </a:solidFill>
                <a:latin typeface="Montserrat"/>
              </a:rPr>
              <a:t>A knockdown is not necessarily equivalent to a complete genetic knockout.</a:t>
            </a:r>
          </a:p>
        </p:txBody>
      </p:sp>
      <p:sp>
        <p:nvSpPr>
          <p:cNvPr id="37" name="Rounded Rectangle 36"/>
          <p:cNvSpPr/>
          <p:nvPr/>
        </p:nvSpPr>
        <p:spPr>
          <a:xfrm>
            <a:off x="7114032" y="1481328"/>
            <a:ext cx="4133087" cy="3584448"/>
          </a:xfrm>
          <a:prstGeom prst="roundRect">
            <a:avLst/>
          </a:prstGeom>
          <a:solidFill>
            <a:srgbClr val="0D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79792" y="1847088"/>
            <a:ext cx="3401568" cy="65836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3800" b="1" i="0">
                <a:solidFill>
                  <a:srgbClr val="22D3EE"/>
                </a:solidFill>
                <a:latin typeface="Montserrat"/>
              </a:rPr>
              <a:t>&gt;80%</a:t>
            </a:r>
          </a:p>
        </p:txBody>
      </p:sp>
      <p:sp>
        <p:nvSpPr>
          <p:cNvPr id="39" name="TextBox 38"/>
          <p:cNvSpPr txBox="1"/>
          <p:nvPr/>
        </p:nvSpPr>
        <p:spPr>
          <a:xfrm>
            <a:off x="7479792" y="2578608"/>
            <a:ext cx="3401568" cy="32918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reported on-target knockdown</a:t>
            </a:r>
          </a:p>
        </p:txBody>
      </p:sp>
      <p:cxnSp>
        <p:nvCxnSpPr>
          <p:cNvPr id="40" name="Connector 39"/>
          <p:cNvCxnSpPr/>
          <p:nvPr/>
        </p:nvCxnSpPr>
        <p:spPr>
          <a:xfrm>
            <a:off x="7607808" y="3182112"/>
            <a:ext cx="3136392" cy="0"/>
          </a:xfrm>
          <a:prstGeom prst="line">
            <a:avLst/>
          </a:prstGeom>
          <a:ln w="12700">
            <a:solidFill>
              <a:srgbClr val="1726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479792" y="3419856"/>
            <a:ext cx="340156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C4B5FD"/>
                </a:solidFill>
                <a:latin typeface="Montserrat"/>
              </a:rPr>
              <a:t>Model implication</a:t>
            </a:r>
          </a:p>
        </p:txBody>
      </p:sp>
      <p:sp>
        <p:nvSpPr>
          <p:cNvPr id="42" name="TextBox 41"/>
          <p:cNvSpPr txBox="1"/>
          <p:nvPr/>
        </p:nvSpPr>
        <p:spPr>
          <a:xfrm>
            <a:off x="7479792" y="3840480"/>
            <a:ext cx="3401568" cy="7315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0" i="0">
                <a:solidFill>
                  <a:srgbClr val="F7F9FC"/>
                </a:solidFill>
                <a:latin typeface="Montserrat"/>
              </a:rPr>
              <a:t>Do not learn only ‘target goes down.’</a:t>
            </a:r>
            <a:br/>
            <a:r>
              <a:rPr sz="1400" b="0" i="0">
                <a:solidFill>
                  <a:srgbClr val="F7F9FC"/>
                </a:solidFill>
                <a:latin typeface="Montserrat"/>
              </a:rPr>
              <a:t>Learn the trans-effect network and its context modulation.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BIOLOGY PRIMER</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What Perturb-seq measures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Guide identity and a transcriptome are read together for each cell.</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Dixit et al., Cell (2016)</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06</a:t>
            </a:r>
          </a:p>
        </p:txBody>
      </p:sp>
      <p:sp>
        <p:nvSpPr>
          <p:cNvPr id="10" name="Rounded Rectangle 9"/>
          <p:cNvSpPr/>
          <p:nvPr/>
        </p:nvSpPr>
        <p:spPr>
          <a:xfrm>
            <a:off x="621792" y="1664208"/>
            <a:ext cx="2377440" cy="2615184"/>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86384" y="1865376"/>
            <a:ext cx="420624" cy="420624"/>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186537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300" b="1" i="0">
                <a:solidFill>
                  <a:srgbClr val="F7F9FC"/>
                </a:solidFill>
                <a:latin typeface="Montserrat"/>
              </a:rPr>
              <a:t>1</a:t>
            </a:r>
          </a:p>
        </p:txBody>
      </p:sp>
      <p:cxnSp>
        <p:nvCxnSpPr>
          <p:cNvPr id="13" name="Connector 12"/>
          <p:cNvCxnSpPr/>
          <p:nvPr/>
        </p:nvCxnSpPr>
        <p:spPr>
          <a:xfrm>
            <a:off x="1124712" y="2642616"/>
            <a:ext cx="246888" cy="548640"/>
          </a:xfrm>
          <a:prstGeom prst="line">
            <a:avLst/>
          </a:prstGeom>
          <a:ln w="27940">
            <a:solidFill>
              <a:srgbClr val="C4B5F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99032" y="2642616"/>
            <a:ext cx="246888" cy="548640"/>
          </a:xfrm>
          <a:prstGeom prst="line">
            <a:avLst/>
          </a:prstGeom>
          <a:ln w="2794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673352" y="2642616"/>
            <a:ext cx="246888" cy="548640"/>
          </a:xfrm>
          <a:prstGeom prst="line">
            <a:avLst/>
          </a:prstGeom>
          <a:ln w="27940">
            <a:solidFill>
              <a:srgbClr val="FBCFE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947672" y="2642616"/>
            <a:ext cx="246888" cy="548640"/>
          </a:xfrm>
          <a:prstGeom prst="line">
            <a:avLst/>
          </a:prstGeom>
          <a:ln w="27940">
            <a:solidFill>
              <a:srgbClr val="A7F3D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221991" y="2642616"/>
            <a:ext cx="246889" cy="548640"/>
          </a:xfrm>
          <a:prstGeom prst="line">
            <a:avLst/>
          </a:prstGeom>
          <a:ln w="27940">
            <a:solidFill>
              <a:srgbClr val="FDE68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3557016"/>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Pooled guides</a:t>
            </a:r>
          </a:p>
        </p:txBody>
      </p:sp>
      <p:sp>
        <p:nvSpPr>
          <p:cNvPr id="19" name="TextBox 18"/>
          <p:cNvSpPr txBox="1"/>
          <p:nvPr/>
        </p:nvSpPr>
        <p:spPr>
          <a:xfrm>
            <a:off x="822960" y="3895344"/>
            <a:ext cx="1975104"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70" b="0" i="0">
                <a:solidFill>
                  <a:srgbClr val="A9B5CC"/>
                </a:solidFill>
                <a:latin typeface="Montserrat"/>
              </a:rPr>
              <a:t>Many sgRNAs enter one experiment</a:t>
            </a:r>
          </a:p>
        </p:txBody>
      </p:sp>
      <p:cxnSp>
        <p:nvCxnSpPr>
          <p:cNvPr id="20" name="Connector 19"/>
          <p:cNvCxnSpPr/>
          <p:nvPr/>
        </p:nvCxnSpPr>
        <p:spPr>
          <a:xfrm>
            <a:off x="3072384" y="2962656"/>
            <a:ext cx="237744"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3255264" y="2907792"/>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19856" y="1664208"/>
            <a:ext cx="2377440" cy="2615184"/>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84448" y="1865376"/>
            <a:ext cx="420624" cy="42062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4448" y="186537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300" b="1" i="0">
                <a:solidFill>
                  <a:srgbClr val="F7F9FC"/>
                </a:solidFill>
                <a:latin typeface="Montserrat"/>
              </a:rPr>
              <a:t>2</a:t>
            </a:r>
          </a:p>
        </p:txBody>
      </p:sp>
      <p:sp>
        <p:nvSpPr>
          <p:cNvPr id="25" name="Oval 24"/>
          <p:cNvSpPr/>
          <p:nvPr/>
        </p:nvSpPr>
        <p:spPr>
          <a:xfrm>
            <a:off x="3822192" y="2560320"/>
            <a:ext cx="475488" cy="47548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3983857" y="2721985"/>
            <a:ext cx="152156" cy="152156"/>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917289" y="2645907"/>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16994" y="2693456"/>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941064" y="2874142"/>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145523" y="2874142"/>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498848" y="2560320"/>
            <a:ext cx="475488" cy="475488"/>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660513" y="2721985"/>
            <a:ext cx="152156" cy="152156"/>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593945" y="2645907"/>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93650" y="2693456"/>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617720" y="2874142"/>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822179" y="2874142"/>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822192" y="3136391"/>
            <a:ext cx="475488" cy="475488"/>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983857" y="3298057"/>
            <a:ext cx="152156" cy="152156"/>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917289" y="3221979"/>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116994" y="3269528"/>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941064" y="3450214"/>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145523" y="3450214"/>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498848" y="3136391"/>
            <a:ext cx="475488" cy="47548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660513" y="3298057"/>
            <a:ext cx="152156" cy="152156"/>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4593945" y="3221979"/>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93650" y="3269528"/>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4617720" y="3450214"/>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4822179" y="3450214"/>
            <a:ext cx="38039" cy="38039"/>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21024" y="3557016"/>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CRISPRi cells</a:t>
            </a:r>
          </a:p>
        </p:txBody>
      </p:sp>
      <p:sp>
        <p:nvSpPr>
          <p:cNvPr id="50" name="TextBox 49"/>
          <p:cNvSpPr txBox="1"/>
          <p:nvPr/>
        </p:nvSpPr>
        <p:spPr>
          <a:xfrm>
            <a:off x="3621024" y="3895344"/>
            <a:ext cx="1975104"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70" b="0" i="0">
                <a:solidFill>
                  <a:srgbClr val="A9B5CC"/>
                </a:solidFill>
                <a:latin typeface="Montserrat"/>
              </a:rPr>
              <a:t>Each cell carries a perturbation identity</a:t>
            </a:r>
          </a:p>
        </p:txBody>
      </p:sp>
      <p:cxnSp>
        <p:nvCxnSpPr>
          <p:cNvPr id="51" name="Connector 50"/>
          <p:cNvCxnSpPr/>
          <p:nvPr/>
        </p:nvCxnSpPr>
        <p:spPr>
          <a:xfrm>
            <a:off x="5870448" y="2962656"/>
            <a:ext cx="237744"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52" name="Isosceles Triangle 51"/>
          <p:cNvSpPr/>
          <p:nvPr/>
        </p:nvSpPr>
        <p:spPr>
          <a:xfrm rot="5400000">
            <a:off x="6053328" y="2907792"/>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6217920" y="1664208"/>
            <a:ext cx="2377440" cy="2615184"/>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6382512" y="1865376"/>
            <a:ext cx="420624" cy="42062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82512" y="186537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300" b="1" i="0">
                <a:solidFill>
                  <a:srgbClr val="F7F9FC"/>
                </a:solidFill>
                <a:latin typeface="Montserrat"/>
              </a:rPr>
              <a:t>3</a:t>
            </a:r>
          </a:p>
        </p:txBody>
      </p:sp>
      <p:sp>
        <p:nvSpPr>
          <p:cNvPr id="56" name="Oval 55"/>
          <p:cNvSpPr/>
          <p:nvPr/>
        </p:nvSpPr>
        <p:spPr>
          <a:xfrm>
            <a:off x="6812280" y="2505456"/>
            <a:ext cx="1078992" cy="107899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flipV="1">
            <a:off x="7059168" y="2606040"/>
            <a:ext cx="621792" cy="118872"/>
          </a:xfrm>
          <a:prstGeom prst="line">
            <a:avLst/>
          </a:prstGeom>
          <a:ln w="1270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059168" y="2752344"/>
            <a:ext cx="621792" cy="64008"/>
          </a:xfrm>
          <a:prstGeom prst="line">
            <a:avLst/>
          </a:prstGeom>
          <a:ln w="1270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059168" y="2898648"/>
            <a:ext cx="621792" cy="9144"/>
          </a:xfrm>
          <a:prstGeom prst="line">
            <a:avLst/>
          </a:prstGeom>
          <a:ln w="1270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059168" y="2999232"/>
            <a:ext cx="621792" cy="45720"/>
          </a:xfrm>
          <a:prstGeom prst="line">
            <a:avLst/>
          </a:prstGeom>
          <a:ln w="1270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059168" y="3090672"/>
            <a:ext cx="621792" cy="100584"/>
          </a:xfrm>
          <a:prstGeom prst="line">
            <a:avLst/>
          </a:prstGeom>
          <a:ln w="12700">
            <a:solidFill>
              <a:srgbClr val="A5F3FC"/>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7059168" y="3182112"/>
            <a:ext cx="621792" cy="155448"/>
          </a:xfrm>
          <a:prstGeom prst="line">
            <a:avLst/>
          </a:prstGeom>
          <a:ln w="12700">
            <a:solidFill>
              <a:srgbClr val="A5F3FC"/>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419088" y="3557016"/>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10x capture</a:t>
            </a:r>
          </a:p>
        </p:txBody>
      </p:sp>
      <p:sp>
        <p:nvSpPr>
          <p:cNvPr id="64" name="TextBox 63"/>
          <p:cNvSpPr txBox="1"/>
          <p:nvPr/>
        </p:nvSpPr>
        <p:spPr>
          <a:xfrm>
            <a:off x="6419088" y="3895344"/>
            <a:ext cx="1975104"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70" b="0" i="0">
                <a:solidFill>
                  <a:srgbClr val="A9B5CC"/>
                </a:solidFill>
                <a:latin typeface="Montserrat"/>
              </a:rPr>
              <a:t>RNA molecules receive cell and UMI barcodes</a:t>
            </a:r>
          </a:p>
        </p:txBody>
      </p:sp>
      <p:cxnSp>
        <p:nvCxnSpPr>
          <p:cNvPr id="65" name="Connector 64"/>
          <p:cNvCxnSpPr/>
          <p:nvPr/>
        </p:nvCxnSpPr>
        <p:spPr>
          <a:xfrm>
            <a:off x="8668512" y="2962656"/>
            <a:ext cx="237744"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66" name="Isosceles Triangle 65"/>
          <p:cNvSpPr/>
          <p:nvPr/>
        </p:nvSpPr>
        <p:spPr>
          <a:xfrm rot="5400000">
            <a:off x="8851392" y="2907792"/>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9015984" y="1664208"/>
            <a:ext cx="2377440" cy="2615184"/>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9180576" y="1865376"/>
            <a:ext cx="420624" cy="42062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80576" y="186537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300" b="1" i="0">
                <a:solidFill>
                  <a:srgbClr val="F7F9FC"/>
                </a:solidFill>
                <a:latin typeface="Montserrat"/>
              </a:rPr>
              <a:t>4</a:t>
            </a:r>
          </a:p>
        </p:txBody>
      </p:sp>
      <p:sp>
        <p:nvSpPr>
          <p:cNvPr id="70" name="Rectangle 69"/>
          <p:cNvSpPr/>
          <p:nvPr/>
        </p:nvSpPr>
        <p:spPr>
          <a:xfrm>
            <a:off x="9345167" y="249631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555480" y="249631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9765792" y="249631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9976103" y="249631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10186415" y="249631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396728" y="249631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0607040" y="249631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345167" y="267919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555480" y="267919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9765792" y="267919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9976103" y="267919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0186415" y="267919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0396728" y="267919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10607040" y="267919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9345167" y="286207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9555480" y="286207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9765792" y="286207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9976103" y="286207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0186415" y="286207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10396728" y="286207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ectangle 89"/>
          <p:cNvSpPr/>
          <p:nvPr/>
        </p:nvSpPr>
        <p:spPr>
          <a:xfrm>
            <a:off x="10607040" y="286207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9345167" y="304495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9555480" y="304495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9765792" y="304495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9976103" y="304495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0186415" y="304495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0396728" y="304495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10607040" y="304495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9345167" y="322783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9555480" y="322783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9765792" y="322783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9976103" y="322783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0186415" y="3227832"/>
            <a:ext cx="164592" cy="128016"/>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0396728" y="322783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0607040" y="3227832"/>
            <a:ext cx="164592" cy="128016"/>
          </a:xfrm>
          <a:prstGeom prst="rect">
            <a:avLst/>
          </a:prstGeom>
          <a:solidFill>
            <a:srgbClr val="1726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9217152" y="3557016"/>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Count matrix</a:t>
            </a:r>
          </a:p>
        </p:txBody>
      </p:sp>
      <p:sp>
        <p:nvSpPr>
          <p:cNvPr id="106" name="TextBox 105"/>
          <p:cNvSpPr txBox="1"/>
          <p:nvPr/>
        </p:nvSpPr>
        <p:spPr>
          <a:xfrm>
            <a:off x="9217152" y="3895344"/>
            <a:ext cx="1975104" cy="47548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70" b="0" i="0">
                <a:solidFill>
                  <a:srgbClr val="A9B5CC"/>
                </a:solidFill>
                <a:latin typeface="Montserrat"/>
              </a:rPr>
              <a:t>One sparse transcriptome per cell</a:t>
            </a:r>
          </a:p>
        </p:txBody>
      </p:sp>
      <p:sp>
        <p:nvSpPr>
          <p:cNvPr id="107" name="Rounded Rectangle 106"/>
          <p:cNvSpPr/>
          <p:nvPr/>
        </p:nvSpPr>
        <p:spPr>
          <a:xfrm>
            <a:off x="1005840" y="4754880"/>
            <a:ext cx="10149840" cy="749808"/>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261872" y="4965192"/>
            <a:ext cx="307238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A5F3FC"/>
                </a:solidFill>
                <a:latin typeface="Montserrat"/>
              </a:rPr>
              <a:t>The readout is not one phenotype.</a:t>
            </a:r>
          </a:p>
        </p:txBody>
      </p:sp>
      <p:sp>
        <p:nvSpPr>
          <p:cNvPr id="109" name="TextBox 108"/>
          <p:cNvSpPr txBox="1"/>
          <p:nvPr/>
        </p:nvSpPr>
        <p:spPr>
          <a:xfrm>
            <a:off x="4270248" y="4946904"/>
            <a:ext cx="6455664"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F7F9FC"/>
                </a:solidFill>
                <a:latin typeface="Montserrat"/>
              </a:rPr>
              <a:t>It is a 18,533-dimensional molecular phenotype with technical sampling noise and biological heterogeneity.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BIOLOGY PRIMER</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How to read a single-cell count matrix</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Rows are cells; columns are genes; entries are captured molecule counts.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Evidence: local audit of controls.zip</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07</a:t>
            </a:r>
          </a:p>
        </p:txBody>
      </p:sp>
      <p:sp>
        <p:nvSpPr>
          <p:cNvPr id="10" name="TextBox 9"/>
          <p:cNvSpPr txBox="1"/>
          <p:nvPr/>
        </p:nvSpPr>
        <p:spPr>
          <a:xfrm>
            <a:off x="1847088" y="1581912"/>
            <a:ext cx="7132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A5F3FC"/>
                </a:solidFill>
                <a:latin typeface="Montserrat"/>
              </a:rPr>
              <a:t>TSPAN6</a:t>
            </a:r>
          </a:p>
        </p:txBody>
      </p:sp>
      <p:sp>
        <p:nvSpPr>
          <p:cNvPr id="11" name="TextBox 10"/>
          <p:cNvSpPr txBox="1"/>
          <p:nvPr/>
        </p:nvSpPr>
        <p:spPr>
          <a:xfrm>
            <a:off x="2596896" y="1581912"/>
            <a:ext cx="7132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A5F3FC"/>
                </a:solidFill>
                <a:latin typeface="Montserrat"/>
              </a:rPr>
              <a:t>TNMD</a:t>
            </a:r>
          </a:p>
        </p:txBody>
      </p:sp>
      <p:sp>
        <p:nvSpPr>
          <p:cNvPr id="12" name="TextBox 11"/>
          <p:cNvSpPr txBox="1"/>
          <p:nvPr/>
        </p:nvSpPr>
        <p:spPr>
          <a:xfrm>
            <a:off x="3346704" y="1581912"/>
            <a:ext cx="7132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A5F3FC"/>
                </a:solidFill>
                <a:latin typeface="Montserrat"/>
              </a:rPr>
              <a:t>DPM1</a:t>
            </a:r>
          </a:p>
        </p:txBody>
      </p:sp>
      <p:sp>
        <p:nvSpPr>
          <p:cNvPr id="13" name="TextBox 12"/>
          <p:cNvSpPr txBox="1"/>
          <p:nvPr/>
        </p:nvSpPr>
        <p:spPr>
          <a:xfrm>
            <a:off x="4096512" y="1581912"/>
            <a:ext cx="7132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A5F3FC"/>
                </a:solidFill>
                <a:latin typeface="Montserrat"/>
              </a:rPr>
              <a:t>SCYL3</a:t>
            </a:r>
          </a:p>
        </p:txBody>
      </p:sp>
      <p:sp>
        <p:nvSpPr>
          <p:cNvPr id="14" name="TextBox 13"/>
          <p:cNvSpPr txBox="1"/>
          <p:nvPr/>
        </p:nvSpPr>
        <p:spPr>
          <a:xfrm>
            <a:off x="4846320" y="1581912"/>
            <a:ext cx="7132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A5F3FC"/>
                </a:solidFill>
                <a:latin typeface="Montserrat"/>
              </a:rPr>
              <a:t>…</a:t>
            </a:r>
          </a:p>
        </p:txBody>
      </p:sp>
      <p:sp>
        <p:nvSpPr>
          <p:cNvPr id="15" name="TextBox 14"/>
          <p:cNvSpPr txBox="1"/>
          <p:nvPr/>
        </p:nvSpPr>
        <p:spPr>
          <a:xfrm>
            <a:off x="5596127" y="1581912"/>
            <a:ext cx="7132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A5F3FC"/>
                </a:solidFill>
                <a:latin typeface="Montserrat"/>
              </a:rPr>
              <a:t>ZRANB3</a:t>
            </a:r>
          </a:p>
        </p:txBody>
      </p:sp>
      <p:sp>
        <p:nvSpPr>
          <p:cNvPr id="16" name="TextBox 15"/>
          <p:cNvSpPr txBox="1"/>
          <p:nvPr/>
        </p:nvSpPr>
        <p:spPr>
          <a:xfrm>
            <a:off x="786384" y="1938528"/>
            <a:ext cx="777240" cy="27432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1000" b="0" i="0">
                <a:solidFill>
                  <a:srgbClr val="A9B5CC"/>
                </a:solidFill>
                <a:latin typeface="Montserrat"/>
              </a:rPr>
              <a:t>cell 1</a:t>
            </a:r>
          </a:p>
        </p:txBody>
      </p:sp>
      <p:sp>
        <p:nvSpPr>
          <p:cNvPr id="17" name="Rectangle 16"/>
          <p:cNvSpPr/>
          <p:nvPr/>
        </p:nvSpPr>
        <p:spPr>
          <a:xfrm>
            <a:off x="1901952" y="1856231"/>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01952" y="186537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19" name="Rectangle 18"/>
          <p:cNvSpPr/>
          <p:nvPr/>
        </p:nvSpPr>
        <p:spPr>
          <a:xfrm>
            <a:off x="2651760" y="1856231"/>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51760" y="186537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21" name="Rectangle 20"/>
          <p:cNvSpPr/>
          <p:nvPr/>
        </p:nvSpPr>
        <p:spPr>
          <a:xfrm>
            <a:off x="3401568" y="1856231"/>
            <a:ext cx="603504" cy="365760"/>
          </a:xfrm>
          <a:prstGeom prst="rect">
            <a:avLst/>
          </a:prstGeom>
          <a:solidFill>
            <a:srgbClr val="215C75"/>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01568" y="186537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2</a:t>
            </a:r>
          </a:p>
        </p:txBody>
      </p:sp>
      <p:sp>
        <p:nvSpPr>
          <p:cNvPr id="23" name="Rectangle 22"/>
          <p:cNvSpPr/>
          <p:nvPr/>
        </p:nvSpPr>
        <p:spPr>
          <a:xfrm>
            <a:off x="4151376" y="1856231"/>
            <a:ext cx="603504" cy="365760"/>
          </a:xfrm>
          <a:prstGeom prst="rect">
            <a:avLst/>
          </a:prstGeom>
          <a:solidFill>
            <a:srgbClr val="1B345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51376" y="186537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25" name="Rectangle 24"/>
          <p:cNvSpPr/>
          <p:nvPr/>
        </p:nvSpPr>
        <p:spPr>
          <a:xfrm>
            <a:off x="4901183" y="1856231"/>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901183" y="186537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27" name="Rectangle 26"/>
          <p:cNvSpPr/>
          <p:nvPr/>
        </p:nvSpPr>
        <p:spPr>
          <a:xfrm>
            <a:off x="5650992" y="1856231"/>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50992" y="186537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29" name="TextBox 28"/>
          <p:cNvSpPr txBox="1"/>
          <p:nvPr/>
        </p:nvSpPr>
        <p:spPr>
          <a:xfrm>
            <a:off x="786384" y="2414016"/>
            <a:ext cx="777240" cy="27432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1000" b="0" i="0">
                <a:solidFill>
                  <a:srgbClr val="A9B5CC"/>
                </a:solidFill>
                <a:latin typeface="Montserrat"/>
              </a:rPr>
              <a:t>cell 2</a:t>
            </a:r>
          </a:p>
        </p:txBody>
      </p:sp>
      <p:sp>
        <p:nvSpPr>
          <p:cNvPr id="30" name="Rectangle 29"/>
          <p:cNvSpPr/>
          <p:nvPr/>
        </p:nvSpPr>
        <p:spPr>
          <a:xfrm>
            <a:off x="1901952" y="2331720"/>
            <a:ext cx="603504" cy="365760"/>
          </a:xfrm>
          <a:prstGeom prst="rect">
            <a:avLst/>
          </a:prstGeom>
          <a:solidFill>
            <a:srgbClr val="1B345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901952" y="2340864"/>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32" name="Rectangle 31"/>
          <p:cNvSpPr/>
          <p:nvPr/>
        </p:nvSpPr>
        <p:spPr>
          <a:xfrm>
            <a:off x="2651760" y="2331720"/>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51760" y="2340864"/>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34" name="Rectangle 33"/>
          <p:cNvSpPr/>
          <p:nvPr/>
        </p:nvSpPr>
        <p:spPr>
          <a:xfrm>
            <a:off x="3401568" y="2331720"/>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01568" y="2340864"/>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36" name="Rectangle 35"/>
          <p:cNvSpPr/>
          <p:nvPr/>
        </p:nvSpPr>
        <p:spPr>
          <a:xfrm>
            <a:off x="4151376" y="2331720"/>
            <a:ext cx="603504" cy="365760"/>
          </a:xfrm>
          <a:prstGeom prst="rect">
            <a:avLst/>
          </a:prstGeom>
          <a:solidFill>
            <a:srgbClr val="1CA5A9"/>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51376" y="2340864"/>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4</a:t>
            </a:r>
          </a:p>
        </p:txBody>
      </p:sp>
      <p:sp>
        <p:nvSpPr>
          <p:cNvPr id="38" name="Rectangle 37"/>
          <p:cNvSpPr/>
          <p:nvPr/>
        </p:nvSpPr>
        <p:spPr>
          <a:xfrm>
            <a:off x="4901183" y="2331720"/>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901183" y="2340864"/>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40" name="Rectangle 39"/>
          <p:cNvSpPr/>
          <p:nvPr/>
        </p:nvSpPr>
        <p:spPr>
          <a:xfrm>
            <a:off x="5650992" y="2331720"/>
            <a:ext cx="603504" cy="365760"/>
          </a:xfrm>
          <a:prstGeom prst="rect">
            <a:avLst/>
          </a:prstGeom>
          <a:solidFill>
            <a:srgbClr val="1B345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50992" y="2340864"/>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42" name="TextBox 41"/>
          <p:cNvSpPr txBox="1"/>
          <p:nvPr/>
        </p:nvSpPr>
        <p:spPr>
          <a:xfrm>
            <a:off x="786384" y="2889504"/>
            <a:ext cx="777240" cy="27432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1000" b="0" i="0">
                <a:solidFill>
                  <a:srgbClr val="A9B5CC"/>
                </a:solidFill>
                <a:latin typeface="Montserrat"/>
              </a:rPr>
              <a:t>cell 3</a:t>
            </a:r>
          </a:p>
        </p:txBody>
      </p:sp>
      <p:sp>
        <p:nvSpPr>
          <p:cNvPr id="43" name="Rectangle 42"/>
          <p:cNvSpPr/>
          <p:nvPr/>
        </p:nvSpPr>
        <p:spPr>
          <a:xfrm>
            <a:off x="1901952" y="2807208"/>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01952" y="2816352"/>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45" name="Rectangle 44"/>
          <p:cNvSpPr/>
          <p:nvPr/>
        </p:nvSpPr>
        <p:spPr>
          <a:xfrm>
            <a:off x="2651760" y="2807208"/>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651760" y="2816352"/>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47" name="Rectangle 46"/>
          <p:cNvSpPr/>
          <p:nvPr/>
        </p:nvSpPr>
        <p:spPr>
          <a:xfrm>
            <a:off x="3401568" y="2807208"/>
            <a:ext cx="603504" cy="365760"/>
          </a:xfrm>
          <a:prstGeom prst="rect">
            <a:avLst/>
          </a:prstGeom>
          <a:solidFill>
            <a:srgbClr val="1B345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01568" y="2816352"/>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49" name="Rectangle 48"/>
          <p:cNvSpPr/>
          <p:nvPr/>
        </p:nvSpPr>
        <p:spPr>
          <a:xfrm>
            <a:off x="4151376" y="2807208"/>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51376" y="2816352"/>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51" name="Rectangle 50"/>
          <p:cNvSpPr/>
          <p:nvPr/>
        </p:nvSpPr>
        <p:spPr>
          <a:xfrm>
            <a:off x="4901183" y="2807208"/>
            <a:ext cx="603504" cy="365760"/>
          </a:xfrm>
          <a:prstGeom prst="rect">
            <a:avLst/>
          </a:prstGeom>
          <a:solidFill>
            <a:srgbClr val="1D839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901183" y="2816352"/>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3</a:t>
            </a:r>
          </a:p>
        </p:txBody>
      </p:sp>
      <p:sp>
        <p:nvSpPr>
          <p:cNvPr id="53" name="Rectangle 52"/>
          <p:cNvSpPr/>
          <p:nvPr/>
        </p:nvSpPr>
        <p:spPr>
          <a:xfrm>
            <a:off x="5650992" y="2807208"/>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650992" y="2816352"/>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55" name="TextBox 54"/>
          <p:cNvSpPr txBox="1"/>
          <p:nvPr/>
        </p:nvSpPr>
        <p:spPr>
          <a:xfrm>
            <a:off x="786384" y="3364992"/>
            <a:ext cx="777240" cy="27432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1000" b="0" i="0">
                <a:solidFill>
                  <a:srgbClr val="A9B5CC"/>
                </a:solidFill>
                <a:latin typeface="Montserrat"/>
              </a:rPr>
              <a:t>cell 4</a:t>
            </a:r>
          </a:p>
        </p:txBody>
      </p:sp>
      <p:sp>
        <p:nvSpPr>
          <p:cNvPr id="56" name="Rectangle 55"/>
          <p:cNvSpPr/>
          <p:nvPr/>
        </p:nvSpPr>
        <p:spPr>
          <a:xfrm>
            <a:off x="1901952" y="3282696"/>
            <a:ext cx="603504" cy="365760"/>
          </a:xfrm>
          <a:prstGeom prst="rect">
            <a:avLst/>
          </a:prstGeom>
          <a:solidFill>
            <a:srgbClr val="215C75"/>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01952" y="3291840"/>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2</a:t>
            </a:r>
          </a:p>
        </p:txBody>
      </p:sp>
      <p:sp>
        <p:nvSpPr>
          <p:cNvPr id="58" name="Rectangle 57"/>
          <p:cNvSpPr/>
          <p:nvPr/>
        </p:nvSpPr>
        <p:spPr>
          <a:xfrm>
            <a:off x="2651760" y="3282696"/>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651760" y="3291840"/>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60" name="Rectangle 59"/>
          <p:cNvSpPr/>
          <p:nvPr/>
        </p:nvSpPr>
        <p:spPr>
          <a:xfrm>
            <a:off x="3401568" y="3282696"/>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01568" y="3291840"/>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62" name="Rectangle 61"/>
          <p:cNvSpPr/>
          <p:nvPr/>
        </p:nvSpPr>
        <p:spPr>
          <a:xfrm>
            <a:off x="4151376" y="3282696"/>
            <a:ext cx="603504" cy="365760"/>
          </a:xfrm>
          <a:prstGeom prst="rect">
            <a:avLst/>
          </a:prstGeom>
          <a:solidFill>
            <a:srgbClr val="1B345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151376" y="3291840"/>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64" name="Rectangle 63"/>
          <p:cNvSpPr/>
          <p:nvPr/>
        </p:nvSpPr>
        <p:spPr>
          <a:xfrm>
            <a:off x="4901183" y="3282696"/>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01183" y="3291840"/>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66" name="Rectangle 65"/>
          <p:cNvSpPr/>
          <p:nvPr/>
        </p:nvSpPr>
        <p:spPr>
          <a:xfrm>
            <a:off x="5650992" y="3282696"/>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50992" y="3291840"/>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68" name="TextBox 67"/>
          <p:cNvSpPr txBox="1"/>
          <p:nvPr/>
        </p:nvSpPr>
        <p:spPr>
          <a:xfrm>
            <a:off x="786384" y="3840480"/>
            <a:ext cx="777240" cy="27432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1000" b="0" i="0">
                <a:solidFill>
                  <a:srgbClr val="A9B5CC"/>
                </a:solidFill>
                <a:latin typeface="Montserrat"/>
              </a:rPr>
              <a:t>cell 5</a:t>
            </a:r>
          </a:p>
        </p:txBody>
      </p:sp>
      <p:sp>
        <p:nvSpPr>
          <p:cNvPr id="69" name="Rectangle 68"/>
          <p:cNvSpPr/>
          <p:nvPr/>
        </p:nvSpPr>
        <p:spPr>
          <a:xfrm>
            <a:off x="1901952" y="3758183"/>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01952" y="3767328"/>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71" name="Rectangle 70"/>
          <p:cNvSpPr/>
          <p:nvPr/>
        </p:nvSpPr>
        <p:spPr>
          <a:xfrm>
            <a:off x="2651760" y="3758183"/>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651760" y="3767328"/>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73" name="Rectangle 72"/>
          <p:cNvSpPr/>
          <p:nvPr/>
        </p:nvSpPr>
        <p:spPr>
          <a:xfrm>
            <a:off x="3401568" y="3758183"/>
            <a:ext cx="603504" cy="365760"/>
          </a:xfrm>
          <a:prstGeom prst="rect">
            <a:avLst/>
          </a:prstGeom>
          <a:solidFill>
            <a:srgbClr val="22D3EE"/>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401568" y="3767328"/>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5</a:t>
            </a:r>
          </a:p>
        </p:txBody>
      </p:sp>
      <p:sp>
        <p:nvSpPr>
          <p:cNvPr id="75" name="Rectangle 74"/>
          <p:cNvSpPr/>
          <p:nvPr/>
        </p:nvSpPr>
        <p:spPr>
          <a:xfrm>
            <a:off x="4151376" y="3758183"/>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151376" y="3767328"/>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77" name="Rectangle 76"/>
          <p:cNvSpPr/>
          <p:nvPr/>
        </p:nvSpPr>
        <p:spPr>
          <a:xfrm>
            <a:off x="4901183" y="3758183"/>
            <a:ext cx="603504" cy="365760"/>
          </a:xfrm>
          <a:prstGeom prst="rect">
            <a:avLst/>
          </a:prstGeom>
          <a:solidFill>
            <a:srgbClr val="1B345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901183" y="3767328"/>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79" name="Rectangle 78"/>
          <p:cNvSpPr/>
          <p:nvPr/>
        </p:nvSpPr>
        <p:spPr>
          <a:xfrm>
            <a:off x="5650992" y="3758183"/>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5650992" y="3767328"/>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81" name="TextBox 80"/>
          <p:cNvSpPr txBox="1"/>
          <p:nvPr/>
        </p:nvSpPr>
        <p:spPr>
          <a:xfrm>
            <a:off x="786384" y="4315968"/>
            <a:ext cx="777240" cy="27432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1000" b="0" i="0">
                <a:solidFill>
                  <a:srgbClr val="A9B5CC"/>
                </a:solidFill>
                <a:latin typeface="Montserrat"/>
              </a:rPr>
              <a:t>cell 6</a:t>
            </a:r>
          </a:p>
        </p:txBody>
      </p:sp>
      <p:sp>
        <p:nvSpPr>
          <p:cNvPr id="82" name="Rectangle 81"/>
          <p:cNvSpPr/>
          <p:nvPr/>
        </p:nvSpPr>
        <p:spPr>
          <a:xfrm>
            <a:off x="1901952" y="4233672"/>
            <a:ext cx="603504" cy="365760"/>
          </a:xfrm>
          <a:prstGeom prst="rect">
            <a:avLst/>
          </a:prstGeom>
          <a:solidFill>
            <a:srgbClr val="1B345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901952" y="424281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84" name="Rectangle 83"/>
          <p:cNvSpPr/>
          <p:nvPr/>
        </p:nvSpPr>
        <p:spPr>
          <a:xfrm>
            <a:off x="2651760" y="4233672"/>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651760" y="424281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86" name="Rectangle 85"/>
          <p:cNvSpPr/>
          <p:nvPr/>
        </p:nvSpPr>
        <p:spPr>
          <a:xfrm>
            <a:off x="3401568" y="4233672"/>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401568" y="424281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88" name="Rectangle 87"/>
          <p:cNvSpPr/>
          <p:nvPr/>
        </p:nvSpPr>
        <p:spPr>
          <a:xfrm>
            <a:off x="4151376" y="4233672"/>
            <a:ext cx="603504" cy="365760"/>
          </a:xfrm>
          <a:prstGeom prst="rect">
            <a:avLst/>
          </a:prstGeom>
          <a:solidFill>
            <a:srgbClr val="215C75"/>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151376" y="424281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2</a:t>
            </a:r>
          </a:p>
        </p:txBody>
      </p:sp>
      <p:sp>
        <p:nvSpPr>
          <p:cNvPr id="90" name="Rectangle 89"/>
          <p:cNvSpPr/>
          <p:nvPr/>
        </p:nvSpPr>
        <p:spPr>
          <a:xfrm>
            <a:off x="4901183" y="4233672"/>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901183" y="424281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sp>
        <p:nvSpPr>
          <p:cNvPr id="92" name="Rectangle 91"/>
          <p:cNvSpPr/>
          <p:nvPr/>
        </p:nvSpPr>
        <p:spPr>
          <a:xfrm>
            <a:off x="5650992" y="4233672"/>
            <a:ext cx="603504" cy="36576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650992" y="4242816"/>
            <a:ext cx="603504" cy="34747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0" i="0">
                <a:solidFill>
                  <a:srgbClr val="71809B"/>
                </a:solidFill>
                <a:latin typeface="Montserrat"/>
              </a:rPr>
              <a:t>0</a:t>
            </a:r>
          </a:p>
        </p:txBody>
      </p:sp>
      <p:cxnSp>
        <p:nvCxnSpPr>
          <p:cNvPr id="94" name="Connector 93"/>
          <p:cNvCxnSpPr/>
          <p:nvPr/>
        </p:nvCxnSpPr>
        <p:spPr>
          <a:xfrm>
            <a:off x="6812280" y="1572768"/>
            <a:ext cx="0" cy="3438144"/>
          </a:xfrm>
          <a:prstGeom prst="line">
            <a:avLst/>
          </a:prstGeom>
          <a:ln w="15240">
            <a:solidFill>
              <a:srgbClr val="172640"/>
            </a:solidFill>
          </a:ln>
        </p:spPr>
        <p:style>
          <a:lnRef idx="2">
            <a:schemeClr val="accent1"/>
          </a:lnRef>
          <a:fillRef idx="0">
            <a:schemeClr val="accent1"/>
          </a:fillRef>
          <a:effectRef idx="1">
            <a:schemeClr val="accent1"/>
          </a:effectRef>
          <a:fontRef idx="minor">
            <a:schemeClr val="tx1"/>
          </a:fontRef>
        </p:style>
      </p:cxnSp>
      <p:sp>
        <p:nvSpPr>
          <p:cNvPr id="95" name="Rounded Rectangle 94"/>
          <p:cNvSpPr/>
          <p:nvPr/>
        </p:nvSpPr>
        <p:spPr>
          <a:xfrm>
            <a:off x="7150608" y="1600200"/>
            <a:ext cx="4297680" cy="96012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7150608" y="1600200"/>
            <a:ext cx="54864" cy="96012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7388352" y="1764792"/>
            <a:ext cx="384048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Raw UMI-like counts</a:t>
            </a:r>
          </a:p>
        </p:txBody>
      </p:sp>
      <p:sp>
        <p:nvSpPr>
          <p:cNvPr id="98" name="TextBox 97"/>
          <p:cNvSpPr txBox="1"/>
          <p:nvPr/>
        </p:nvSpPr>
        <p:spPr>
          <a:xfrm>
            <a:off x="7388352" y="2194560"/>
            <a:ext cx="3840480" cy="21031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0" i="0">
                <a:solidFill>
                  <a:srgbClr val="A9B5CC"/>
                </a:solidFill>
                <a:latin typeface="Montserrat"/>
              </a:rPr>
              <a:t>Submit whole, finite, nonnegative values—not log1p, CPM, z-scores, or latent vectors.</a:t>
            </a:r>
          </a:p>
        </p:txBody>
      </p:sp>
      <p:sp>
        <p:nvSpPr>
          <p:cNvPr id="99" name="Rounded Rectangle 98"/>
          <p:cNvSpPr/>
          <p:nvPr/>
        </p:nvSpPr>
        <p:spPr>
          <a:xfrm>
            <a:off x="7150608" y="2715768"/>
            <a:ext cx="4297680" cy="96012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150608" y="2715768"/>
            <a:ext cx="54864" cy="9601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388352" y="2880360"/>
            <a:ext cx="384048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Zeros are ambiguous</a:t>
            </a:r>
          </a:p>
        </p:txBody>
      </p:sp>
      <p:sp>
        <p:nvSpPr>
          <p:cNvPr id="102" name="TextBox 101"/>
          <p:cNvSpPr txBox="1"/>
          <p:nvPr/>
        </p:nvSpPr>
        <p:spPr>
          <a:xfrm>
            <a:off x="7388352" y="3310128"/>
            <a:ext cx="3840480" cy="21031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0" i="0">
                <a:solidFill>
                  <a:srgbClr val="A9B5CC"/>
                </a:solidFill>
                <a:latin typeface="Montserrat"/>
              </a:rPr>
              <a:t>A zero may be biological or a consequence of finite molecular capture. Avoid treating every zero as dropout to impute.</a:t>
            </a:r>
          </a:p>
        </p:txBody>
      </p:sp>
      <p:sp>
        <p:nvSpPr>
          <p:cNvPr id="103" name="Rounded Rectangle 102"/>
          <p:cNvSpPr/>
          <p:nvPr/>
        </p:nvSpPr>
        <p:spPr>
          <a:xfrm>
            <a:off x="7150608" y="3831336"/>
            <a:ext cx="4297680" cy="96012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150608" y="3831336"/>
            <a:ext cx="54864" cy="96012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7388352" y="3995928"/>
            <a:ext cx="384048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Sparsity is operational</a:t>
            </a:r>
          </a:p>
        </p:txBody>
      </p:sp>
      <p:sp>
        <p:nvSpPr>
          <p:cNvPr id="106" name="TextBox 105"/>
          <p:cNvSpPr txBox="1"/>
          <p:nvPr/>
        </p:nvSpPr>
        <p:spPr>
          <a:xfrm>
            <a:off x="7388352" y="4425696"/>
            <a:ext cx="3840480" cy="21031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0" i="0">
                <a:solidFill>
                  <a:srgbClr val="A9B5CC"/>
                </a:solidFill>
                <a:latin typeface="Montserrat"/>
              </a:rPr>
              <a:t>Dense submission shape exceeds the stored-entry cap; CSR/CSC and removal of explicit zeros are mandatory.</a:t>
            </a:r>
          </a:p>
        </p:txBody>
      </p:sp>
      <p:sp>
        <p:nvSpPr>
          <p:cNvPr id="107" name="Rounded Rectangle 106"/>
          <p:cNvSpPr/>
          <p:nvPr/>
        </p:nvSpPr>
        <p:spPr>
          <a:xfrm>
            <a:off x="786384" y="5230368"/>
            <a:ext cx="10661904" cy="493776"/>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005840" y="5367528"/>
            <a:ext cx="10204704" cy="22860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DE68A"/>
                </a:solidFill>
                <a:latin typeface="Montserrat"/>
              </a:rPr>
              <a:t>Model in a normalized latent space if useful—then reconstruct and validate raw-count space before packaging.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BIOLOGY PRIMER</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Why 400 cells per perturbation matter</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The evaluator compares distributions and group summaries—not matched cell identities.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VCC metric specification; VCC CLI Guide</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08</a:t>
            </a:r>
          </a:p>
        </p:txBody>
      </p:sp>
      <p:sp>
        <p:nvSpPr>
          <p:cNvPr id="10" name="Rounded Rectangle 9"/>
          <p:cNvSpPr/>
          <p:nvPr/>
        </p:nvSpPr>
        <p:spPr>
          <a:xfrm>
            <a:off x="640080" y="1609344"/>
            <a:ext cx="3383280" cy="3218688"/>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1609344"/>
            <a:ext cx="54864" cy="3218688"/>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1773936"/>
            <a:ext cx="2926080"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What 400 cells estimate</a:t>
            </a:r>
          </a:p>
        </p:txBody>
      </p:sp>
      <p:sp>
        <p:nvSpPr>
          <p:cNvPr id="13" name="TextBox 12"/>
          <p:cNvSpPr txBox="1"/>
          <p:nvPr/>
        </p:nvSpPr>
        <p:spPr>
          <a:xfrm>
            <a:off x="877824" y="2203704"/>
            <a:ext cx="2926080" cy="246888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0" i="0">
                <a:solidFill>
                  <a:srgbClr val="A9B5CC"/>
                </a:solidFill>
                <a:latin typeface="Montserrat"/>
              </a:rPr>
              <a:t>• a stable pseudobulk centroid</a:t>
            </a:r>
            <a:br/>
            <a:br/>
            <a:r>
              <a:rPr sz="1300" b="0" i="0">
                <a:solidFill>
                  <a:srgbClr val="A9B5CC"/>
                </a:solidFill>
                <a:latin typeface="Montserrat"/>
              </a:rPr>
              <a:t>• gene-wise dispersion and zero fraction</a:t>
            </a:r>
            <a:br/>
            <a:br/>
            <a:r>
              <a:rPr sz="1300" b="0" i="0">
                <a:solidFill>
                  <a:srgbClr val="A9B5CC"/>
                </a:solidFill>
                <a:latin typeface="Montserrat"/>
              </a:rPr>
              <a:t>• responder versus non-responder mixtures</a:t>
            </a:r>
            <a:br/>
            <a:br/>
            <a:r>
              <a:rPr sz="1300" b="0" i="0">
                <a:solidFill>
                  <a:srgbClr val="A9B5CC"/>
                </a:solidFill>
                <a:latin typeface="Montserrat"/>
              </a:rPr>
              <a:t>• statistical power for Wilcoxon DE calls</a:t>
            </a:r>
          </a:p>
        </p:txBody>
      </p:sp>
      <p:sp>
        <p:nvSpPr>
          <p:cNvPr id="14" name="Rounded Rectangle 13"/>
          <p:cNvSpPr/>
          <p:nvPr/>
        </p:nvSpPr>
        <p:spPr>
          <a:xfrm>
            <a:off x="4315968" y="1609344"/>
            <a:ext cx="3401568" cy="3218688"/>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0288" y="1865376"/>
            <a:ext cx="2852928"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Two outputs can share a mean…</a:t>
            </a:r>
          </a:p>
        </p:txBody>
      </p:sp>
      <p:sp>
        <p:nvSpPr>
          <p:cNvPr id="16" name="Oval 15"/>
          <p:cNvSpPr/>
          <p:nvPr/>
        </p:nvSpPr>
        <p:spPr>
          <a:xfrm>
            <a:off x="4718304"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029200"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340096"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650992"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961888"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272784"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83680"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894576" y="2450592"/>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18304"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029200"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340096"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650992"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961888"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272784"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583680"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894576" y="2871216"/>
            <a:ext cx="164592" cy="16459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620256" y="3858768"/>
            <a:ext cx="146304" cy="14630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556219" y="4019733"/>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373860" y="4156194"/>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100939" y="4247373"/>
            <a:ext cx="146304" cy="14630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779008" y="4279392"/>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457076" y="4247373"/>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184155" y="4156194"/>
            <a:ext cx="146304" cy="14630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001796" y="4019733"/>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937760" y="3858768"/>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001796" y="3697802"/>
            <a:ext cx="146304" cy="14630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184155" y="3561341"/>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457076" y="3470162"/>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779008" y="3438144"/>
            <a:ext cx="146304" cy="14630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100939" y="3470162"/>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373860" y="3561341"/>
            <a:ext cx="146304" cy="1463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556219" y="3697802"/>
            <a:ext cx="146304" cy="14630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90288" y="4361688"/>
            <a:ext cx="2852928"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0" i="0">
                <a:solidFill>
                  <a:srgbClr val="A9B5CC"/>
                </a:solidFill>
                <a:latin typeface="Montserrat"/>
              </a:rPr>
              <a:t>…but imply different DE power.</a:t>
            </a:r>
          </a:p>
        </p:txBody>
      </p:sp>
      <p:sp>
        <p:nvSpPr>
          <p:cNvPr id="49" name="Rounded Rectangle 48"/>
          <p:cNvSpPr/>
          <p:nvPr/>
        </p:nvSpPr>
        <p:spPr>
          <a:xfrm>
            <a:off x="8010144" y="1609344"/>
            <a:ext cx="3529584" cy="137160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10144" y="1609344"/>
            <a:ext cx="54864" cy="1371600"/>
          </a:xfrm>
          <a:prstGeom prst="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47888" y="1773936"/>
            <a:ext cx="3072384"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Mode collapse</a:t>
            </a:r>
          </a:p>
        </p:txBody>
      </p:sp>
      <p:sp>
        <p:nvSpPr>
          <p:cNvPr id="52" name="TextBox 51"/>
          <p:cNvSpPr txBox="1"/>
          <p:nvPr/>
        </p:nvSpPr>
        <p:spPr>
          <a:xfrm>
            <a:off x="8247888" y="2203704"/>
            <a:ext cx="3072384"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0" i="0">
                <a:solidFill>
                  <a:srgbClr val="A9B5CC"/>
                </a:solidFill>
                <a:latin typeface="Montserrat"/>
              </a:rPr>
              <a:t>Duplicating an identical cell makes variance unrealistically small and can over-call significance.</a:t>
            </a:r>
          </a:p>
        </p:txBody>
      </p:sp>
      <p:sp>
        <p:nvSpPr>
          <p:cNvPr id="53" name="Rounded Rectangle 52"/>
          <p:cNvSpPr/>
          <p:nvPr/>
        </p:nvSpPr>
        <p:spPr>
          <a:xfrm>
            <a:off x="8010144" y="3154680"/>
            <a:ext cx="3529584" cy="137160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010144" y="3154680"/>
            <a:ext cx="54864" cy="137160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47888" y="3319272"/>
            <a:ext cx="3072384" cy="32004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Excess noise</a:t>
            </a:r>
          </a:p>
        </p:txBody>
      </p:sp>
      <p:sp>
        <p:nvSpPr>
          <p:cNvPr id="56" name="TextBox 55"/>
          <p:cNvSpPr txBox="1"/>
          <p:nvPr/>
        </p:nvSpPr>
        <p:spPr>
          <a:xfrm>
            <a:off x="8247888" y="3749040"/>
            <a:ext cx="3072384"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0" i="0">
                <a:solidFill>
                  <a:srgbClr val="A9B5CC"/>
                </a:solidFill>
                <a:latin typeface="Montserrat"/>
              </a:rPr>
              <a:t>Over-dispersed samples can hide true DE genes and damage direction reach and Jaccard.</a:t>
            </a:r>
          </a:p>
        </p:txBody>
      </p:sp>
      <p:sp>
        <p:nvSpPr>
          <p:cNvPr id="57" name="TextBox 56"/>
          <p:cNvSpPr txBox="1"/>
          <p:nvPr/>
        </p:nvSpPr>
        <p:spPr>
          <a:xfrm>
            <a:off x="914400" y="5303520"/>
            <a:ext cx="10369296" cy="36576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A7F3D0"/>
                </a:solidFill>
                <a:latin typeface="Montserrat"/>
              </a:rPr>
              <a:t>Mean accuracy is necessary; calibrated variability is the second-stage requirement.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BIOLOGY PRIMER</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Control cells define the context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context is an empirical distribution—not merely the letter A, B, or C.</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VCC 2026 Data; VCC CLI Guide</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09</a:t>
            </a:r>
          </a:p>
        </p:txBody>
      </p:sp>
      <p:sp>
        <p:nvSpPr>
          <p:cNvPr id="10" name="Oval 9"/>
          <p:cNvSpPr/>
          <p:nvPr/>
        </p:nvSpPr>
        <p:spPr>
          <a:xfrm>
            <a:off x="786384" y="1901952"/>
            <a:ext cx="1298448" cy="12984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27856" y="2343424"/>
            <a:ext cx="415503" cy="415503"/>
          </a:xfrm>
          <a:prstGeom prst="ellipse">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46073" y="2135672"/>
            <a:ext cx="103875" cy="10387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591421" y="2265517"/>
            <a:ext cx="103875" cy="10387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0995" y="2758927"/>
            <a:ext cx="103875" cy="10387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669328" y="2758927"/>
            <a:ext cx="103875" cy="103875"/>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355848"/>
            <a:ext cx="157276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Montserrat"/>
              </a:rPr>
              <a:t>NTC population</a:t>
            </a:r>
          </a:p>
        </p:txBody>
      </p:sp>
      <p:cxnSp>
        <p:nvCxnSpPr>
          <p:cNvPr id="17" name="Connector 16"/>
          <p:cNvCxnSpPr/>
          <p:nvPr/>
        </p:nvCxnSpPr>
        <p:spPr>
          <a:xfrm>
            <a:off x="2331720" y="2551176"/>
            <a:ext cx="612648"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2889504" y="2496312"/>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017520" y="1627632"/>
            <a:ext cx="3749039" cy="1920240"/>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28416" y="1874519"/>
            <a:ext cx="3127248"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800" b="1" i="0">
                <a:solidFill>
                  <a:srgbClr val="F7F9FC"/>
                </a:solidFill>
                <a:latin typeface="Montserrat"/>
              </a:rPr>
              <a:t>Context encoder</a:t>
            </a:r>
          </a:p>
        </p:txBody>
      </p:sp>
      <p:sp>
        <p:nvSpPr>
          <p:cNvPr id="21" name="Rounded Rectangle 20"/>
          <p:cNvSpPr/>
          <p:nvPr/>
        </p:nvSpPr>
        <p:spPr>
          <a:xfrm>
            <a:off x="3273552" y="2404872"/>
            <a:ext cx="932688"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73552" y="2409444"/>
            <a:ext cx="93268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780" b="1" i="0">
                <a:solidFill>
                  <a:srgbClr val="08101F"/>
                </a:solidFill>
                <a:latin typeface="Montserrat"/>
              </a:rPr>
              <a:t>PSEUDOBULK</a:t>
            </a:r>
          </a:p>
        </p:txBody>
      </p:sp>
      <p:sp>
        <p:nvSpPr>
          <p:cNvPr id="23" name="Rounded Rectangle 22"/>
          <p:cNvSpPr/>
          <p:nvPr/>
        </p:nvSpPr>
        <p:spPr>
          <a:xfrm>
            <a:off x="4325112" y="2404872"/>
            <a:ext cx="932688"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25112" y="2409444"/>
            <a:ext cx="93268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780" b="1" i="0">
                <a:solidFill>
                  <a:srgbClr val="F7F9FC"/>
                </a:solidFill>
                <a:latin typeface="Montserrat"/>
              </a:rPr>
              <a:t>CELL-STATE MIXTURE</a:t>
            </a:r>
          </a:p>
        </p:txBody>
      </p:sp>
      <p:sp>
        <p:nvSpPr>
          <p:cNvPr id="25" name="Rounded Rectangle 24"/>
          <p:cNvSpPr/>
          <p:nvPr/>
        </p:nvSpPr>
        <p:spPr>
          <a:xfrm>
            <a:off x="5376672" y="2404872"/>
            <a:ext cx="932688" cy="256032"/>
          </a:xfrm>
          <a:prstGeom prst="round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76672" y="2409444"/>
            <a:ext cx="93268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780" b="1" i="0">
                <a:solidFill>
                  <a:srgbClr val="F7F9FC"/>
                </a:solidFill>
                <a:latin typeface="Montserrat"/>
              </a:rPr>
              <a:t>DEPTH</a:t>
            </a:r>
          </a:p>
        </p:txBody>
      </p:sp>
      <p:sp>
        <p:nvSpPr>
          <p:cNvPr id="27" name="Rounded Rectangle 26"/>
          <p:cNvSpPr/>
          <p:nvPr/>
        </p:nvSpPr>
        <p:spPr>
          <a:xfrm>
            <a:off x="3273552" y="2862072"/>
            <a:ext cx="932688"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273552" y="2866644"/>
            <a:ext cx="93268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780" b="1" i="0">
                <a:solidFill>
                  <a:srgbClr val="08101F"/>
                </a:solidFill>
                <a:latin typeface="Montserrat"/>
              </a:rPr>
              <a:t>DISPERSION</a:t>
            </a:r>
          </a:p>
        </p:txBody>
      </p:sp>
      <p:sp>
        <p:nvSpPr>
          <p:cNvPr id="29" name="Rounded Rectangle 28"/>
          <p:cNvSpPr/>
          <p:nvPr/>
        </p:nvSpPr>
        <p:spPr>
          <a:xfrm>
            <a:off x="4325112" y="2862072"/>
            <a:ext cx="932688" cy="256032"/>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25112" y="2866644"/>
            <a:ext cx="93268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780" b="1" i="0">
                <a:solidFill>
                  <a:srgbClr val="F7F9FC"/>
                </a:solidFill>
                <a:latin typeface="Montserrat"/>
              </a:rPr>
              <a:t>GENE MODULES</a:t>
            </a:r>
          </a:p>
        </p:txBody>
      </p:sp>
      <p:sp>
        <p:nvSpPr>
          <p:cNvPr id="31" name="Rounded Rectangle 30"/>
          <p:cNvSpPr/>
          <p:nvPr/>
        </p:nvSpPr>
        <p:spPr>
          <a:xfrm>
            <a:off x="5376672" y="2862072"/>
            <a:ext cx="932688" cy="256032"/>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376672" y="2866644"/>
            <a:ext cx="93268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780" b="1" i="0">
                <a:solidFill>
                  <a:srgbClr val="08101F"/>
                </a:solidFill>
                <a:latin typeface="Montserrat"/>
              </a:rPr>
              <a:t>COVARIANCE</a:t>
            </a:r>
          </a:p>
        </p:txBody>
      </p:sp>
      <p:cxnSp>
        <p:nvCxnSpPr>
          <p:cNvPr id="33" name="Connector 32"/>
          <p:cNvCxnSpPr/>
          <p:nvPr/>
        </p:nvCxnSpPr>
        <p:spPr>
          <a:xfrm>
            <a:off x="6885432" y="2551176"/>
            <a:ext cx="594360"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5400000">
            <a:off x="7424927" y="2496312"/>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7808" y="1938528"/>
            <a:ext cx="1225296" cy="122529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7808" y="1938528"/>
            <a:ext cx="1225296" cy="1225296"/>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600" b="1" i="0">
                <a:solidFill>
                  <a:srgbClr val="F7F9FC"/>
                </a:solidFill>
                <a:latin typeface="Source Code Pro"/>
              </a:rPr>
              <a:t>zc</a:t>
            </a:r>
          </a:p>
        </p:txBody>
      </p:sp>
      <p:cxnSp>
        <p:nvCxnSpPr>
          <p:cNvPr id="37" name="Connector 36"/>
          <p:cNvCxnSpPr/>
          <p:nvPr/>
        </p:nvCxnSpPr>
        <p:spPr>
          <a:xfrm>
            <a:off x="9034272" y="2551176"/>
            <a:ext cx="493776"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5400000">
            <a:off x="9473184" y="2496312"/>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9656064" y="1783080"/>
            <a:ext cx="1773936" cy="1536192"/>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838944" y="2103120"/>
            <a:ext cx="1408176" cy="65836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500" b="1" i="0">
                <a:solidFill>
                  <a:srgbClr val="F7F9FC"/>
                </a:solidFill>
                <a:latin typeface="Montserrat"/>
              </a:rPr>
              <a:t>modulate</a:t>
            </a:r>
            <a:br/>
            <a:r>
              <a:rPr sz="1500" b="1" i="0">
                <a:solidFill>
                  <a:srgbClr val="F7F9FC"/>
                </a:solidFill>
                <a:latin typeface="Montserrat"/>
              </a:rPr>
              <a:t>target effect</a:t>
            </a:r>
          </a:p>
        </p:txBody>
      </p:sp>
      <p:sp>
        <p:nvSpPr>
          <p:cNvPr id="41" name="Rounded Rectangle 40"/>
          <p:cNvSpPr/>
          <p:nvPr/>
        </p:nvSpPr>
        <p:spPr>
          <a:xfrm>
            <a:off x="731520" y="4096512"/>
            <a:ext cx="10716768" cy="1170432"/>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87552" y="4361688"/>
            <a:ext cx="2212848"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00" b="1" i="0">
                <a:solidFill>
                  <a:srgbClr val="FB7185"/>
                </a:solidFill>
                <a:latin typeface="Montserrat"/>
              </a:rPr>
              <a:t>Critical implementation rule</a:t>
            </a:r>
          </a:p>
        </p:txBody>
      </p:sp>
      <p:sp>
        <p:nvSpPr>
          <p:cNvPr id="43" name="TextBox 42"/>
          <p:cNvSpPr txBox="1"/>
          <p:nvPr/>
        </p:nvSpPr>
        <p:spPr>
          <a:xfrm>
            <a:off x="3291840" y="4315968"/>
            <a:ext cx="7754112"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400" b="1" i="0">
                <a:solidFill>
                  <a:srgbClr val="F7F9FC"/>
                </a:solidFill>
                <a:latin typeface="Montserrat"/>
              </a:rPr>
              <a:t>Attach the original context label at ingestion and never infer, reorder, or relabel it downstream.</a:t>
            </a:r>
          </a:p>
        </p:txBody>
      </p:sp>
      <p:sp>
        <p:nvSpPr>
          <p:cNvPr id="44" name="TextBox 43"/>
          <p:cNvSpPr txBox="1"/>
          <p:nvPr/>
        </p:nvSpPr>
        <p:spPr>
          <a:xfrm>
            <a:off x="3291840" y="4754880"/>
            <a:ext cx="7754112"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The package validator checks label presence, but it cannot detect a biologically swapped A/B mapping.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PROBLEM FORMULATION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causal quantity of interest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Predict the response to an intervention, not the identity of a cell line.</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Interpretation: team modeling framework</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10</a:t>
            </a:r>
          </a:p>
        </p:txBody>
      </p:sp>
      <p:sp>
        <p:nvSpPr>
          <p:cNvPr id="10" name="TextBox 9"/>
          <p:cNvSpPr txBox="1"/>
          <p:nvPr/>
        </p:nvSpPr>
        <p:spPr>
          <a:xfrm>
            <a:off x="749808" y="1627632"/>
            <a:ext cx="109728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22D3EE"/>
                </a:solidFill>
                <a:latin typeface="Montserrat"/>
              </a:rPr>
              <a:t>Observed</a:t>
            </a:r>
          </a:p>
        </p:txBody>
      </p:sp>
      <p:sp>
        <p:nvSpPr>
          <p:cNvPr id="11" name="Rounded Rectangle 10"/>
          <p:cNvSpPr/>
          <p:nvPr/>
        </p:nvSpPr>
        <p:spPr>
          <a:xfrm>
            <a:off x="749808" y="2002536"/>
            <a:ext cx="2926080" cy="2157984"/>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432304"/>
            <a:ext cx="1682496" cy="7498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3600" b="1" i="0">
                <a:solidFill>
                  <a:srgbClr val="A5F3FC"/>
                </a:solidFill>
                <a:latin typeface="Source Code Pro"/>
              </a:rPr>
              <a:t>μ⁰c</a:t>
            </a:r>
          </a:p>
        </p:txBody>
      </p:sp>
      <p:sp>
        <p:nvSpPr>
          <p:cNvPr id="13" name="TextBox 12"/>
          <p:cNvSpPr txBox="1"/>
          <p:nvPr/>
        </p:nvSpPr>
        <p:spPr>
          <a:xfrm>
            <a:off x="1188720" y="3310128"/>
            <a:ext cx="2048256"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0" i="0">
                <a:solidFill>
                  <a:srgbClr val="A9B5CC"/>
                </a:solidFill>
                <a:latin typeface="Montserrat"/>
              </a:rPr>
              <a:t>control-state mean</a:t>
            </a:r>
          </a:p>
        </p:txBody>
      </p:sp>
      <p:sp>
        <p:nvSpPr>
          <p:cNvPr id="14" name="TextBox 13"/>
          <p:cNvSpPr txBox="1"/>
          <p:nvPr/>
        </p:nvSpPr>
        <p:spPr>
          <a:xfrm>
            <a:off x="3895344" y="2633472"/>
            <a:ext cx="603504" cy="58521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3000" b="1" i="0">
                <a:solidFill>
                  <a:srgbClr val="F7F9FC"/>
                </a:solidFill>
                <a:latin typeface="Montserrat"/>
              </a:rPr>
              <a:t>+</a:t>
            </a:r>
          </a:p>
        </p:txBody>
      </p:sp>
      <p:sp>
        <p:nvSpPr>
          <p:cNvPr id="15" name="TextBox 14"/>
          <p:cNvSpPr txBox="1"/>
          <p:nvPr/>
        </p:nvSpPr>
        <p:spPr>
          <a:xfrm>
            <a:off x="4590288" y="1627632"/>
            <a:ext cx="146304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C4B5FD"/>
                </a:solidFill>
                <a:latin typeface="Montserrat"/>
              </a:rPr>
              <a:t>Missing effect</a:t>
            </a:r>
          </a:p>
        </p:txBody>
      </p:sp>
      <p:sp>
        <p:nvSpPr>
          <p:cNvPr id="16" name="Rounded Rectangle 15"/>
          <p:cNvSpPr/>
          <p:nvPr/>
        </p:nvSpPr>
        <p:spPr>
          <a:xfrm>
            <a:off x="4590288" y="2002536"/>
            <a:ext cx="2926080" cy="2157984"/>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93792" y="2432304"/>
            <a:ext cx="1719072" cy="7498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3600" b="1" i="0">
                <a:solidFill>
                  <a:srgbClr val="C4B5FD"/>
                </a:solidFill>
                <a:latin typeface="Source Code Pro"/>
              </a:rPr>
              <a:t>Δc,p</a:t>
            </a:r>
          </a:p>
        </p:txBody>
      </p:sp>
      <p:sp>
        <p:nvSpPr>
          <p:cNvPr id="18" name="TextBox 17"/>
          <p:cNvSpPr txBox="1"/>
          <p:nvPr/>
        </p:nvSpPr>
        <p:spPr>
          <a:xfrm>
            <a:off x="4937760" y="3310128"/>
            <a:ext cx="2212848"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0" i="0">
                <a:solidFill>
                  <a:srgbClr val="A9B5CC"/>
                </a:solidFill>
                <a:latin typeface="Montserrat"/>
              </a:rPr>
              <a:t>context × target response</a:t>
            </a:r>
          </a:p>
        </p:txBody>
      </p:sp>
      <p:sp>
        <p:nvSpPr>
          <p:cNvPr id="19" name="TextBox 18"/>
          <p:cNvSpPr txBox="1"/>
          <p:nvPr/>
        </p:nvSpPr>
        <p:spPr>
          <a:xfrm>
            <a:off x="7699248" y="2633472"/>
            <a:ext cx="603504" cy="58521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3000" b="1" i="0">
                <a:solidFill>
                  <a:srgbClr val="F7F9FC"/>
                </a:solidFill>
                <a:latin typeface="Montserrat"/>
              </a:rPr>
              <a:t>=</a:t>
            </a:r>
          </a:p>
        </p:txBody>
      </p:sp>
      <p:sp>
        <p:nvSpPr>
          <p:cNvPr id="20" name="TextBox 19"/>
          <p:cNvSpPr txBox="1"/>
          <p:nvPr/>
        </p:nvSpPr>
        <p:spPr>
          <a:xfrm>
            <a:off x="8394192" y="1627632"/>
            <a:ext cx="173736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34D399"/>
                </a:solidFill>
                <a:latin typeface="Montserrat"/>
              </a:rPr>
              <a:t>Counterfactual</a:t>
            </a:r>
          </a:p>
        </p:txBody>
      </p:sp>
      <p:sp>
        <p:nvSpPr>
          <p:cNvPr id="21" name="Rounded Rectangle 20"/>
          <p:cNvSpPr/>
          <p:nvPr/>
        </p:nvSpPr>
        <p:spPr>
          <a:xfrm>
            <a:off x="8394192" y="2002536"/>
            <a:ext cx="2926080" cy="2157984"/>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0" y="2432304"/>
            <a:ext cx="1975104" cy="7498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3400" b="1" i="0">
                <a:solidFill>
                  <a:srgbClr val="A7F3D0"/>
                </a:solidFill>
                <a:latin typeface="Source Code Pro"/>
              </a:rPr>
              <a:t>μ¹c,p</a:t>
            </a:r>
          </a:p>
        </p:txBody>
      </p:sp>
      <p:sp>
        <p:nvSpPr>
          <p:cNvPr id="23" name="TextBox 22"/>
          <p:cNvSpPr txBox="1"/>
          <p:nvPr/>
        </p:nvSpPr>
        <p:spPr>
          <a:xfrm>
            <a:off x="8814816" y="3310128"/>
            <a:ext cx="2066543"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0" i="0">
                <a:solidFill>
                  <a:srgbClr val="A9B5CC"/>
                </a:solidFill>
                <a:latin typeface="Montserrat"/>
              </a:rPr>
              <a:t>post-CRISPRi mean</a:t>
            </a:r>
          </a:p>
        </p:txBody>
      </p:sp>
      <p:sp>
        <p:nvSpPr>
          <p:cNvPr id="24" name="Rounded Rectangle 23"/>
          <p:cNvSpPr/>
          <p:nvPr/>
        </p:nvSpPr>
        <p:spPr>
          <a:xfrm>
            <a:off x="1225296" y="4617720"/>
            <a:ext cx="9710928" cy="768096"/>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36192" y="4855464"/>
            <a:ext cx="9089136"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DE68A"/>
                </a:solidFill>
                <a:latin typeface="Montserrat"/>
              </a:rPr>
              <a:t>Then generate individual cells around μ¹c,p with context-matched depth, dispersion, zeros, and state mixtures.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PROBLEM FORMULATION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Zero-shot means multiple extrapolations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The hidden test does not preserve the identities that a one-hot model can memorize.</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VCC 2026 Data; VCC CLI Guide</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11</a:t>
            </a:r>
          </a:p>
        </p:txBody>
      </p:sp>
      <p:sp>
        <p:nvSpPr>
          <p:cNvPr id="10" name="Rounded Rectangle 9"/>
          <p:cNvSpPr/>
          <p:nvPr/>
        </p:nvSpPr>
        <p:spPr>
          <a:xfrm>
            <a:off x="731520" y="1572768"/>
            <a:ext cx="1883664" cy="80467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1783080"/>
            <a:ext cx="157276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08101F"/>
                </a:solidFill>
                <a:latin typeface="Montserrat"/>
              </a:rPr>
              <a:t>Context shift</a:t>
            </a:r>
          </a:p>
        </p:txBody>
      </p:sp>
      <p:sp>
        <p:nvSpPr>
          <p:cNvPr id="12" name="Rounded Rectangle 11"/>
          <p:cNvSpPr/>
          <p:nvPr/>
        </p:nvSpPr>
        <p:spPr>
          <a:xfrm>
            <a:off x="2816352" y="1572768"/>
            <a:ext cx="3328416" cy="804672"/>
          </a:xfrm>
          <a:prstGeom prst="roundRect">
            <a:avLst/>
          </a:prstGeom>
          <a:solidFill>
            <a:srgbClr val="0D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17520" y="1773936"/>
            <a:ext cx="29260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Source Code Pro"/>
              </a:rPr>
              <a:t>A / B / C  →  D / E / F</a:t>
            </a:r>
          </a:p>
        </p:txBody>
      </p:sp>
      <p:sp>
        <p:nvSpPr>
          <p:cNvPr id="14" name="Rounded Rectangle 13"/>
          <p:cNvSpPr/>
          <p:nvPr/>
        </p:nvSpPr>
        <p:spPr>
          <a:xfrm>
            <a:off x="6345936" y="1572768"/>
            <a:ext cx="5029200" cy="804672"/>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773936"/>
            <a:ext cx="4553712"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50" b="0" i="0">
                <a:solidFill>
                  <a:srgbClr val="A9B5CC"/>
                </a:solidFill>
                <a:latin typeface="Montserrat"/>
              </a:rPr>
              <a:t>Three entirely different anonymous cell lines</a:t>
            </a:r>
          </a:p>
        </p:txBody>
      </p:sp>
      <p:sp>
        <p:nvSpPr>
          <p:cNvPr id="16" name="Rounded Rectangle 15"/>
          <p:cNvSpPr/>
          <p:nvPr/>
        </p:nvSpPr>
        <p:spPr>
          <a:xfrm>
            <a:off x="731520" y="2633472"/>
            <a:ext cx="1883664" cy="80467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843784"/>
            <a:ext cx="157276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Target shift</a:t>
            </a:r>
          </a:p>
        </p:txBody>
      </p:sp>
      <p:sp>
        <p:nvSpPr>
          <p:cNvPr id="18" name="Rounded Rectangle 17"/>
          <p:cNvSpPr/>
          <p:nvPr/>
        </p:nvSpPr>
        <p:spPr>
          <a:xfrm>
            <a:off x="2816352" y="2633472"/>
            <a:ext cx="3328416" cy="804672"/>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2834640"/>
            <a:ext cx="29260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Source Code Pro"/>
              </a:rPr>
              <a:t>validation panel  →  final panel</a:t>
            </a:r>
          </a:p>
        </p:txBody>
      </p:sp>
      <p:sp>
        <p:nvSpPr>
          <p:cNvPr id="20" name="Rounded Rectangle 19"/>
          <p:cNvSpPr/>
          <p:nvPr/>
        </p:nvSpPr>
        <p:spPr>
          <a:xfrm>
            <a:off x="6345936" y="2633472"/>
            <a:ext cx="5029200" cy="804672"/>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0" y="2834640"/>
            <a:ext cx="4553712"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50" b="0" i="0">
                <a:solidFill>
                  <a:srgbClr val="A9B5CC"/>
                </a:solidFill>
                <a:latin typeface="Montserrat"/>
              </a:rPr>
              <a:t>A different set of 300 CRISPRi targets</a:t>
            </a:r>
          </a:p>
        </p:txBody>
      </p:sp>
      <p:sp>
        <p:nvSpPr>
          <p:cNvPr id="22" name="Rounded Rectangle 21"/>
          <p:cNvSpPr/>
          <p:nvPr/>
        </p:nvSpPr>
        <p:spPr>
          <a:xfrm>
            <a:off x="731520" y="3694176"/>
            <a:ext cx="1883664" cy="804672"/>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3904488"/>
            <a:ext cx="157276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Domain shift</a:t>
            </a:r>
          </a:p>
        </p:txBody>
      </p:sp>
      <p:sp>
        <p:nvSpPr>
          <p:cNvPr id="24" name="Rounded Rectangle 23"/>
          <p:cNvSpPr/>
          <p:nvPr/>
        </p:nvSpPr>
        <p:spPr>
          <a:xfrm>
            <a:off x="2816352" y="3694176"/>
            <a:ext cx="3328416" cy="804672"/>
          </a:xfrm>
          <a:prstGeom prst="roundRect">
            <a:avLst/>
          </a:prstGeom>
          <a:solidFill>
            <a:srgbClr val="0D172A"/>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17520" y="3895344"/>
            <a:ext cx="29260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Source Code Pro"/>
              </a:rPr>
              <a:t>public assays  →  Arc 10x Flex</a:t>
            </a:r>
          </a:p>
        </p:txBody>
      </p:sp>
      <p:sp>
        <p:nvSpPr>
          <p:cNvPr id="26" name="Rounded Rectangle 25"/>
          <p:cNvSpPr/>
          <p:nvPr/>
        </p:nvSpPr>
        <p:spPr>
          <a:xfrm>
            <a:off x="6345936" y="3694176"/>
            <a:ext cx="5029200" cy="804672"/>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3895344"/>
            <a:ext cx="4553712"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50" b="0" i="0">
                <a:solidFill>
                  <a:srgbClr val="A9B5CC"/>
                </a:solidFill>
                <a:latin typeface="Montserrat"/>
              </a:rPr>
              <a:t>Platform, depth, guides, timing, and batch</a:t>
            </a:r>
          </a:p>
        </p:txBody>
      </p:sp>
      <p:sp>
        <p:nvSpPr>
          <p:cNvPr id="28" name="Rounded Rectangle 27"/>
          <p:cNvSpPr/>
          <p:nvPr/>
        </p:nvSpPr>
        <p:spPr>
          <a:xfrm>
            <a:off x="731520" y="4754879"/>
            <a:ext cx="1883664" cy="80467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6968" y="4965192"/>
            <a:ext cx="157276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08101F"/>
                </a:solidFill>
                <a:latin typeface="Montserrat"/>
              </a:rPr>
              <a:t>Distribution shift</a:t>
            </a:r>
          </a:p>
        </p:txBody>
      </p:sp>
      <p:sp>
        <p:nvSpPr>
          <p:cNvPr id="30" name="Rounded Rectangle 29"/>
          <p:cNvSpPr/>
          <p:nvPr/>
        </p:nvSpPr>
        <p:spPr>
          <a:xfrm>
            <a:off x="2816352" y="4754879"/>
            <a:ext cx="3328416" cy="804672"/>
          </a:xfrm>
          <a:prstGeom prst="roundRect">
            <a:avLst/>
          </a:prstGeom>
          <a:solidFill>
            <a:srgbClr val="0D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017520" y="4956047"/>
            <a:ext cx="29260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Source Code Pro"/>
              </a:rPr>
              <a:t>mean response  →  400 cells</a:t>
            </a:r>
          </a:p>
        </p:txBody>
      </p:sp>
      <p:sp>
        <p:nvSpPr>
          <p:cNvPr id="32" name="Rounded Rectangle 31"/>
          <p:cNvSpPr/>
          <p:nvPr/>
        </p:nvSpPr>
        <p:spPr>
          <a:xfrm>
            <a:off x="6345936" y="4754879"/>
            <a:ext cx="5029200" cy="804672"/>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0" y="4956047"/>
            <a:ext cx="4553712"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50" b="0" i="0">
                <a:solidFill>
                  <a:srgbClr val="A9B5CC"/>
                </a:solidFill>
                <a:latin typeface="Montserrat"/>
              </a:rPr>
              <a:t>Variance, zeros, state mixtures, and responders</a:t>
            </a:r>
          </a:p>
        </p:txBody>
      </p:sp>
      <p:sp>
        <p:nvSpPr>
          <p:cNvPr id="34" name="TextBox 33"/>
          <p:cNvSpPr txBox="1"/>
          <p:nvPr/>
        </p:nvSpPr>
        <p:spPr>
          <a:xfrm>
            <a:off x="749808" y="5888736"/>
            <a:ext cx="1298448"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1" i="0">
                <a:solidFill>
                  <a:srgbClr val="FBBF24"/>
                </a:solidFill>
                <a:latin typeface="Montserrat"/>
              </a:rPr>
              <a:t>Design consequence</a:t>
            </a:r>
          </a:p>
        </p:txBody>
      </p:sp>
      <p:sp>
        <p:nvSpPr>
          <p:cNvPr id="35" name="TextBox 34"/>
          <p:cNvSpPr txBox="1"/>
          <p:nvPr/>
        </p:nvSpPr>
        <p:spPr>
          <a:xfrm>
            <a:off x="2176272" y="5833872"/>
            <a:ext cx="8979408"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No context-ID lookup table. No target-ID-only embedding. No validation-leaderboard tuning as a training objective.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PROBLEM FORMULATION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Validation is not the final test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The final phase replaces both the contexts and perturbation panel.</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VCC 2026 Data; VCC CLI Guide; challenge portal</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12</a:t>
            </a:r>
          </a:p>
        </p:txBody>
      </p:sp>
      <p:sp>
        <p:nvSpPr>
          <p:cNvPr id="10" name="Rounded Rectangle 9"/>
          <p:cNvSpPr/>
          <p:nvPr/>
        </p:nvSpPr>
        <p:spPr>
          <a:xfrm>
            <a:off x="658368" y="1572768"/>
            <a:ext cx="5248656" cy="3511296"/>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810512"/>
            <a:ext cx="1389888"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15084"/>
            <a:ext cx="138988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DEVELOPMENT ROUND</a:t>
            </a:r>
          </a:p>
        </p:txBody>
      </p:sp>
      <p:sp>
        <p:nvSpPr>
          <p:cNvPr id="13" name="TextBox 12"/>
          <p:cNvSpPr txBox="1"/>
          <p:nvPr/>
        </p:nvSpPr>
        <p:spPr>
          <a:xfrm>
            <a:off x="932688" y="2377440"/>
            <a:ext cx="4389120" cy="5029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800" b="1" i="0">
                <a:solidFill>
                  <a:srgbClr val="A5F3FC"/>
                </a:solidFill>
                <a:latin typeface="Montserrat"/>
              </a:rPr>
              <a:t>A  •  B  •  C</a:t>
            </a:r>
          </a:p>
        </p:txBody>
      </p:sp>
      <p:sp>
        <p:nvSpPr>
          <p:cNvPr id="14" name="TextBox 13"/>
          <p:cNvSpPr txBox="1"/>
          <p:nvPr/>
        </p:nvSpPr>
        <p:spPr>
          <a:xfrm>
            <a:off x="932688" y="2944368"/>
            <a:ext cx="438912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0" i="0">
                <a:solidFill>
                  <a:srgbClr val="F7F9FC"/>
                </a:solidFill>
                <a:latin typeface="Montserrat"/>
              </a:rPr>
              <a:t>3 anonymous validation cell lines</a:t>
            </a:r>
          </a:p>
        </p:txBody>
      </p:sp>
      <p:sp>
        <p:nvSpPr>
          <p:cNvPr id="15" name="TextBox 14"/>
          <p:cNvSpPr txBox="1"/>
          <p:nvPr/>
        </p:nvSpPr>
        <p:spPr>
          <a:xfrm>
            <a:off x="932688" y="3346704"/>
            <a:ext cx="438912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0" i="0">
                <a:solidFill>
                  <a:srgbClr val="A9B5CC"/>
                </a:solidFill>
                <a:latin typeface="Montserrat"/>
              </a:rPr>
              <a:t>300 shared validation targets</a:t>
            </a:r>
          </a:p>
        </p:txBody>
      </p:sp>
      <p:sp>
        <p:nvSpPr>
          <p:cNvPr id="16" name="TextBox 15"/>
          <p:cNvSpPr txBox="1"/>
          <p:nvPr/>
        </p:nvSpPr>
        <p:spPr>
          <a:xfrm>
            <a:off x="932688" y="4041648"/>
            <a:ext cx="438912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0" i="0">
                <a:solidFill>
                  <a:srgbClr val="FDE68A"/>
                </a:solidFill>
                <a:latin typeface="Montserrat"/>
              </a:rPr>
              <a:t>Live leaderboard • development evidence</a:t>
            </a:r>
          </a:p>
        </p:txBody>
      </p:sp>
      <p:sp>
        <p:nvSpPr>
          <p:cNvPr id="17" name="Rounded Rectangle 16"/>
          <p:cNvSpPr/>
          <p:nvPr/>
        </p:nvSpPr>
        <p:spPr>
          <a:xfrm>
            <a:off x="6272784" y="1572768"/>
            <a:ext cx="5248656" cy="3511296"/>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547104" y="1810512"/>
            <a:ext cx="1033271"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47104" y="1815084"/>
            <a:ext cx="1033271"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PRIZE ROUND</a:t>
            </a:r>
          </a:p>
        </p:txBody>
      </p:sp>
      <p:sp>
        <p:nvSpPr>
          <p:cNvPr id="20" name="TextBox 19"/>
          <p:cNvSpPr txBox="1"/>
          <p:nvPr/>
        </p:nvSpPr>
        <p:spPr>
          <a:xfrm>
            <a:off x="6547104" y="2377440"/>
            <a:ext cx="4389120" cy="5029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800" b="1" i="0">
                <a:solidFill>
                  <a:srgbClr val="C4B5FD"/>
                </a:solidFill>
                <a:latin typeface="Montserrat"/>
              </a:rPr>
              <a:t>D  •  E  •  F</a:t>
            </a:r>
          </a:p>
        </p:txBody>
      </p:sp>
      <p:sp>
        <p:nvSpPr>
          <p:cNvPr id="21" name="TextBox 20"/>
          <p:cNvSpPr txBox="1"/>
          <p:nvPr/>
        </p:nvSpPr>
        <p:spPr>
          <a:xfrm>
            <a:off x="6547104" y="2944368"/>
            <a:ext cx="438912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0" i="0">
                <a:solidFill>
                  <a:srgbClr val="F7F9FC"/>
                </a:solidFill>
                <a:latin typeface="Montserrat"/>
              </a:rPr>
              <a:t>3 different final cell lines</a:t>
            </a:r>
          </a:p>
        </p:txBody>
      </p:sp>
      <p:sp>
        <p:nvSpPr>
          <p:cNvPr id="22" name="TextBox 21"/>
          <p:cNvSpPr txBox="1"/>
          <p:nvPr/>
        </p:nvSpPr>
        <p:spPr>
          <a:xfrm>
            <a:off x="6547104" y="3346704"/>
            <a:ext cx="438912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0" i="0">
                <a:solidFill>
                  <a:srgbClr val="A9B5CC"/>
                </a:solidFill>
                <a:latin typeface="Montserrat"/>
              </a:rPr>
              <a:t>A different panel of 300 targets</a:t>
            </a:r>
          </a:p>
        </p:txBody>
      </p:sp>
      <p:sp>
        <p:nvSpPr>
          <p:cNvPr id="23" name="TextBox 22"/>
          <p:cNvSpPr txBox="1"/>
          <p:nvPr/>
        </p:nvSpPr>
        <p:spPr>
          <a:xfrm>
            <a:off x="6547104" y="4041648"/>
            <a:ext cx="438912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0" i="0">
                <a:solidFill>
                  <a:srgbClr val="FDE68A"/>
                </a:solidFill>
                <a:latin typeface="Montserrat"/>
              </a:rPr>
              <a:t>Controls released 22 Oct • submissions close 5 Nov</a:t>
            </a:r>
          </a:p>
        </p:txBody>
      </p:sp>
      <p:cxnSp>
        <p:nvCxnSpPr>
          <p:cNvPr id="24" name="Connector 23"/>
          <p:cNvCxnSpPr/>
          <p:nvPr/>
        </p:nvCxnSpPr>
        <p:spPr>
          <a:xfrm>
            <a:off x="5916168" y="3310128"/>
            <a:ext cx="274320"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5" name="Isosceles Triangle 24"/>
          <p:cNvSpPr/>
          <p:nvPr/>
        </p:nvSpPr>
        <p:spPr>
          <a:xfrm rot="5400000">
            <a:off x="6135624" y="3255264"/>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389888" y="5413248"/>
            <a:ext cx="9418320" cy="502920"/>
          </a:xfrm>
          <a:prstGeom prst="roundRect">
            <a:avLst/>
          </a:prstGeom>
          <a:solidFill>
            <a:srgbClr val="0D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64208" y="5541264"/>
            <a:ext cx="886968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30" b="1" i="0">
                <a:solidFill>
                  <a:srgbClr val="FB7185"/>
                </a:solidFill>
                <a:latin typeface="Montserrat"/>
              </a:rPr>
              <a:t>Freeze architecture, evaluation, and ensemble rules before 22 October; adapt only through the released controls.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DATA CONTRACT</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exact prediction contract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complete round is large in logical shape but manageable when stored sparsely.</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VCC CLI Guide — Submission requirements (2026)</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13</a:t>
            </a:r>
          </a:p>
        </p:txBody>
      </p:sp>
      <p:sp>
        <p:nvSpPr>
          <p:cNvPr id="10" name="Rounded Rectangle 9"/>
          <p:cNvSpPr/>
          <p:nvPr/>
        </p:nvSpPr>
        <p:spPr>
          <a:xfrm>
            <a:off x="621792" y="1554480"/>
            <a:ext cx="2487168"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682495"/>
            <a:ext cx="2121408"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8B5CF6"/>
                </a:solidFill>
                <a:latin typeface="Montserrat"/>
              </a:rPr>
              <a:t>300</a:t>
            </a:r>
          </a:p>
        </p:txBody>
      </p:sp>
      <p:sp>
        <p:nvSpPr>
          <p:cNvPr id="12" name="TextBox 11"/>
          <p:cNvSpPr txBox="1"/>
          <p:nvPr/>
        </p:nvSpPr>
        <p:spPr>
          <a:xfrm>
            <a:off x="804672" y="2103120"/>
            <a:ext cx="21214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targets / context</a:t>
            </a:r>
          </a:p>
        </p:txBody>
      </p:sp>
      <p:sp>
        <p:nvSpPr>
          <p:cNvPr id="13" name="TextBox 12"/>
          <p:cNvSpPr txBox="1"/>
          <p:nvPr/>
        </p:nvSpPr>
        <p:spPr>
          <a:xfrm>
            <a:off x="804672" y="2350008"/>
            <a:ext cx="2121408" cy="1645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850" b="0" i="0">
                <a:solidFill>
                  <a:srgbClr val="71809B"/>
                </a:solidFill>
                <a:latin typeface="Montserrat"/>
              </a:rPr>
              <a:t>same panel across three contexts</a:t>
            </a:r>
          </a:p>
        </p:txBody>
      </p:sp>
      <p:sp>
        <p:nvSpPr>
          <p:cNvPr id="14" name="Rounded Rectangle 13"/>
          <p:cNvSpPr/>
          <p:nvPr/>
        </p:nvSpPr>
        <p:spPr>
          <a:xfrm>
            <a:off x="3273552" y="1554480"/>
            <a:ext cx="2487168"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56432" y="1682495"/>
            <a:ext cx="2121408"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22D3EE"/>
                </a:solidFill>
                <a:latin typeface="Montserrat"/>
              </a:rPr>
              <a:t>400</a:t>
            </a:r>
          </a:p>
        </p:txBody>
      </p:sp>
      <p:sp>
        <p:nvSpPr>
          <p:cNvPr id="16" name="TextBox 15"/>
          <p:cNvSpPr txBox="1"/>
          <p:nvPr/>
        </p:nvSpPr>
        <p:spPr>
          <a:xfrm>
            <a:off x="3456432" y="2103120"/>
            <a:ext cx="21214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cells / target</a:t>
            </a:r>
          </a:p>
        </p:txBody>
      </p:sp>
      <p:sp>
        <p:nvSpPr>
          <p:cNvPr id="17" name="TextBox 16"/>
          <p:cNvSpPr txBox="1"/>
          <p:nvPr/>
        </p:nvSpPr>
        <p:spPr>
          <a:xfrm>
            <a:off x="3456432" y="2350008"/>
            <a:ext cx="2121408" cy="1645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850" b="0" i="0">
                <a:solidFill>
                  <a:srgbClr val="71809B"/>
                </a:solidFill>
                <a:latin typeface="Montserrat"/>
              </a:rPr>
              <a:t>exactly—not a minimum</a:t>
            </a:r>
          </a:p>
        </p:txBody>
      </p:sp>
      <p:sp>
        <p:nvSpPr>
          <p:cNvPr id="18" name="Rounded Rectangle 17"/>
          <p:cNvSpPr/>
          <p:nvPr/>
        </p:nvSpPr>
        <p:spPr>
          <a:xfrm>
            <a:off x="5925312" y="1554480"/>
            <a:ext cx="2487168"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08192" y="1682495"/>
            <a:ext cx="2121408"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34D399"/>
                </a:solidFill>
                <a:latin typeface="Montserrat"/>
              </a:rPr>
              <a:t>3</a:t>
            </a:r>
          </a:p>
        </p:txBody>
      </p:sp>
      <p:sp>
        <p:nvSpPr>
          <p:cNvPr id="20" name="TextBox 19"/>
          <p:cNvSpPr txBox="1"/>
          <p:nvPr/>
        </p:nvSpPr>
        <p:spPr>
          <a:xfrm>
            <a:off x="6108192" y="2103120"/>
            <a:ext cx="21214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contexts / round</a:t>
            </a:r>
          </a:p>
        </p:txBody>
      </p:sp>
      <p:sp>
        <p:nvSpPr>
          <p:cNvPr id="21" name="TextBox 20"/>
          <p:cNvSpPr txBox="1"/>
          <p:nvPr/>
        </p:nvSpPr>
        <p:spPr>
          <a:xfrm>
            <a:off x="6108192" y="2350008"/>
            <a:ext cx="2121408" cy="1645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850" b="0" i="0">
                <a:solidFill>
                  <a:srgbClr val="71809B"/>
                </a:solidFill>
                <a:latin typeface="Montserrat"/>
              </a:rPr>
              <a:t>A/B/C or D/E/F</a:t>
            </a:r>
          </a:p>
        </p:txBody>
      </p:sp>
      <p:sp>
        <p:nvSpPr>
          <p:cNvPr id="22" name="Rounded Rectangle 21"/>
          <p:cNvSpPr/>
          <p:nvPr/>
        </p:nvSpPr>
        <p:spPr>
          <a:xfrm>
            <a:off x="8577072" y="1554480"/>
            <a:ext cx="2487168"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59952" y="1682495"/>
            <a:ext cx="2121408"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F472B6"/>
                </a:solidFill>
                <a:latin typeface="Montserrat"/>
              </a:rPr>
              <a:t>18,533</a:t>
            </a:r>
          </a:p>
        </p:txBody>
      </p:sp>
      <p:sp>
        <p:nvSpPr>
          <p:cNvPr id="24" name="TextBox 23"/>
          <p:cNvSpPr txBox="1"/>
          <p:nvPr/>
        </p:nvSpPr>
        <p:spPr>
          <a:xfrm>
            <a:off x="8759952" y="2103120"/>
            <a:ext cx="21214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genes / cell</a:t>
            </a:r>
          </a:p>
        </p:txBody>
      </p:sp>
      <p:sp>
        <p:nvSpPr>
          <p:cNvPr id="25" name="TextBox 24"/>
          <p:cNvSpPr txBox="1"/>
          <p:nvPr/>
        </p:nvSpPr>
        <p:spPr>
          <a:xfrm>
            <a:off x="8759952" y="2350008"/>
            <a:ext cx="2121408" cy="1645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850" b="0" i="0">
                <a:solidFill>
                  <a:srgbClr val="71809B"/>
                </a:solidFill>
                <a:latin typeface="Montserrat"/>
              </a:rPr>
              <a:t>official fixed axis</a:t>
            </a:r>
          </a:p>
        </p:txBody>
      </p:sp>
      <p:sp>
        <p:nvSpPr>
          <p:cNvPr id="26" name="TextBox 25"/>
          <p:cNvSpPr txBox="1"/>
          <p:nvPr/>
        </p:nvSpPr>
        <p:spPr>
          <a:xfrm>
            <a:off x="1152144" y="3017520"/>
            <a:ext cx="2971800" cy="50292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2200" b="1" i="0">
                <a:solidFill>
                  <a:srgbClr val="A9B5CC"/>
                </a:solidFill>
                <a:latin typeface="Montserrat"/>
              </a:rPr>
              <a:t>300 × 400 × 3 =</a:t>
            </a:r>
          </a:p>
        </p:txBody>
      </p:sp>
      <p:sp>
        <p:nvSpPr>
          <p:cNvPr id="27" name="TextBox 26"/>
          <p:cNvSpPr txBox="1"/>
          <p:nvPr/>
        </p:nvSpPr>
        <p:spPr>
          <a:xfrm>
            <a:off x="4297680" y="2990088"/>
            <a:ext cx="2926080" cy="56692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3000" b="1" i="0">
                <a:solidFill>
                  <a:srgbClr val="F7F9FC"/>
                </a:solidFill>
                <a:latin typeface="Montserrat"/>
              </a:rPr>
              <a:t>360,000 cells</a:t>
            </a:r>
          </a:p>
        </p:txBody>
      </p:sp>
      <p:sp>
        <p:nvSpPr>
          <p:cNvPr id="28" name="TextBox 27"/>
          <p:cNvSpPr txBox="1"/>
          <p:nvPr/>
        </p:nvSpPr>
        <p:spPr>
          <a:xfrm>
            <a:off x="7351775" y="3017520"/>
            <a:ext cx="3017520" cy="5029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200" b="1" i="0">
                <a:solidFill>
                  <a:srgbClr val="A9B5CC"/>
                </a:solidFill>
                <a:latin typeface="Montserrat"/>
              </a:rPr>
              <a:t>× 18,533 genes</a:t>
            </a:r>
          </a:p>
        </p:txBody>
      </p:sp>
      <p:sp>
        <p:nvSpPr>
          <p:cNvPr id="29" name="Rounded Rectangle 28"/>
          <p:cNvSpPr/>
          <p:nvPr/>
        </p:nvSpPr>
        <p:spPr>
          <a:xfrm>
            <a:off x="841248" y="3986784"/>
            <a:ext cx="10497312" cy="137160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78992" y="4279392"/>
            <a:ext cx="804672"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78992" y="4283964"/>
            <a:ext cx="80467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RAW</a:t>
            </a:r>
          </a:p>
        </p:txBody>
      </p:sp>
      <p:sp>
        <p:nvSpPr>
          <p:cNvPr id="32" name="TextBox 31"/>
          <p:cNvSpPr txBox="1"/>
          <p:nvPr/>
        </p:nvSpPr>
        <p:spPr>
          <a:xfrm>
            <a:off x="1078992" y="4690872"/>
            <a:ext cx="2103120" cy="42062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whole nonnegative counts</a:t>
            </a:r>
          </a:p>
        </p:txBody>
      </p:sp>
      <p:sp>
        <p:nvSpPr>
          <p:cNvPr id="33" name="Rounded Rectangle 32"/>
          <p:cNvSpPr/>
          <p:nvPr/>
        </p:nvSpPr>
        <p:spPr>
          <a:xfrm>
            <a:off x="3657600" y="4279392"/>
            <a:ext cx="804672"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57600" y="4283964"/>
            <a:ext cx="80467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SPARSE</a:t>
            </a:r>
          </a:p>
        </p:txBody>
      </p:sp>
      <p:sp>
        <p:nvSpPr>
          <p:cNvPr id="35" name="TextBox 34"/>
          <p:cNvSpPr txBox="1"/>
          <p:nvPr/>
        </p:nvSpPr>
        <p:spPr>
          <a:xfrm>
            <a:off x="3657600" y="4690872"/>
            <a:ext cx="2103120" cy="42062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CSR / CSC; remove explicit zeros</a:t>
            </a:r>
          </a:p>
        </p:txBody>
      </p:sp>
      <p:sp>
        <p:nvSpPr>
          <p:cNvPr id="36" name="Rounded Rectangle 35"/>
          <p:cNvSpPr/>
          <p:nvPr/>
        </p:nvSpPr>
        <p:spPr>
          <a:xfrm>
            <a:off x="6236207" y="4279392"/>
            <a:ext cx="804672" cy="256032"/>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36207" y="4283964"/>
            <a:ext cx="80467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LABELS</a:t>
            </a:r>
          </a:p>
        </p:txBody>
      </p:sp>
      <p:sp>
        <p:nvSpPr>
          <p:cNvPr id="38" name="TextBox 37"/>
          <p:cNvSpPr txBox="1"/>
          <p:nvPr/>
        </p:nvSpPr>
        <p:spPr>
          <a:xfrm>
            <a:off x="6236207" y="4690872"/>
            <a:ext cx="2103120" cy="42062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exact context + target symbols</a:t>
            </a:r>
          </a:p>
        </p:txBody>
      </p:sp>
      <p:sp>
        <p:nvSpPr>
          <p:cNvPr id="39" name="Rounded Rectangle 38"/>
          <p:cNvSpPr/>
          <p:nvPr/>
        </p:nvSpPr>
        <p:spPr>
          <a:xfrm>
            <a:off x="8814815" y="4279392"/>
            <a:ext cx="804672"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14815" y="4283964"/>
            <a:ext cx="80467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ONE FILE</a:t>
            </a:r>
          </a:p>
        </p:txBody>
      </p:sp>
      <p:sp>
        <p:nvSpPr>
          <p:cNvPr id="41" name="TextBox 40"/>
          <p:cNvSpPr txBox="1"/>
          <p:nvPr/>
        </p:nvSpPr>
        <p:spPr>
          <a:xfrm>
            <a:off x="8814815" y="4690872"/>
            <a:ext cx="2103120" cy="42062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all three contexts; no NTC rows</a:t>
            </a:r>
          </a:p>
        </p:txBody>
      </p:sp>
      <p:sp>
        <p:nvSpPr>
          <p:cNvPr id="42" name="TextBox 41"/>
          <p:cNvSpPr txBox="1"/>
          <p:nvPr/>
        </p:nvSpPr>
        <p:spPr>
          <a:xfrm>
            <a:off x="1225296" y="5715000"/>
            <a:ext cx="97475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50" b="1" i="0">
                <a:solidFill>
                  <a:srgbClr val="FDE68A"/>
                </a:solidFill>
                <a:latin typeface="Source Code Pro"/>
              </a:rPr>
              <a:t>Dense logical positions: 6,671,880,000  &gt;  stored-entry cap: 4,750,000,000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DATA CONTRACT</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Downloaded controls: measured facts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The local archive passed structural, numerical, and metadata checks.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Evidence: artifacts/control_audit.json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14</a:t>
            </a:r>
          </a:p>
        </p:txBody>
      </p:sp>
      <p:sp>
        <p:nvSpPr>
          <p:cNvPr id="10" name="Rectangle 9"/>
          <p:cNvSpPr/>
          <p:nvPr/>
        </p:nvSpPr>
        <p:spPr>
          <a:xfrm>
            <a:off x="658368" y="1591056"/>
            <a:ext cx="1143000" cy="53035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1618488"/>
            <a:ext cx="99669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A5F3FC"/>
                </a:solidFill>
                <a:latin typeface="Montserrat"/>
              </a:rPr>
              <a:t>Context</a:t>
            </a:r>
          </a:p>
        </p:txBody>
      </p:sp>
      <p:sp>
        <p:nvSpPr>
          <p:cNvPr id="12" name="Rectangle 11"/>
          <p:cNvSpPr/>
          <p:nvPr/>
        </p:nvSpPr>
        <p:spPr>
          <a:xfrm>
            <a:off x="1801368" y="1591056"/>
            <a:ext cx="1325880" cy="53035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874519" y="1618488"/>
            <a:ext cx="117957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A5F3FC"/>
                </a:solidFill>
                <a:latin typeface="Montserrat"/>
              </a:rPr>
              <a:t>Cells</a:t>
            </a:r>
          </a:p>
        </p:txBody>
      </p:sp>
      <p:sp>
        <p:nvSpPr>
          <p:cNvPr id="14" name="Rectangle 13"/>
          <p:cNvSpPr/>
          <p:nvPr/>
        </p:nvSpPr>
        <p:spPr>
          <a:xfrm>
            <a:off x="3127248" y="1591056"/>
            <a:ext cx="1481328" cy="53035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00400" y="1618488"/>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A5F3FC"/>
                </a:solidFill>
                <a:latin typeface="Montserrat"/>
              </a:rPr>
              <a:t>Density</a:t>
            </a:r>
          </a:p>
        </p:txBody>
      </p:sp>
      <p:sp>
        <p:nvSpPr>
          <p:cNvPr id="16" name="Rectangle 15"/>
          <p:cNvSpPr/>
          <p:nvPr/>
        </p:nvSpPr>
        <p:spPr>
          <a:xfrm>
            <a:off x="4608576" y="1591056"/>
            <a:ext cx="1481328" cy="53035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81728" y="1618488"/>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A5F3FC"/>
                </a:solidFill>
                <a:latin typeface="Montserrat"/>
              </a:rPr>
              <a:t>Mean genes/cell</a:t>
            </a:r>
          </a:p>
        </p:txBody>
      </p:sp>
      <p:sp>
        <p:nvSpPr>
          <p:cNvPr id="18" name="Rectangle 17"/>
          <p:cNvSpPr/>
          <p:nvPr/>
        </p:nvSpPr>
        <p:spPr>
          <a:xfrm>
            <a:off x="6089904" y="1591056"/>
            <a:ext cx="1481328" cy="53035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63056" y="1618488"/>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A5F3FC"/>
                </a:solidFill>
                <a:latin typeface="Montserrat"/>
              </a:rPr>
              <a:t>Mean UMI/cell</a:t>
            </a:r>
          </a:p>
        </p:txBody>
      </p:sp>
      <p:sp>
        <p:nvSpPr>
          <p:cNvPr id="20" name="Rectangle 19"/>
          <p:cNvSpPr/>
          <p:nvPr/>
        </p:nvSpPr>
        <p:spPr>
          <a:xfrm>
            <a:off x="7571232" y="1591056"/>
            <a:ext cx="1444752" cy="53035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44384" y="1618488"/>
            <a:ext cx="1298448"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A5F3FC"/>
                </a:solidFill>
                <a:latin typeface="Montserrat"/>
              </a:rPr>
              <a:t>Median UMI</a:t>
            </a:r>
          </a:p>
        </p:txBody>
      </p:sp>
      <p:sp>
        <p:nvSpPr>
          <p:cNvPr id="22" name="Rectangle 21"/>
          <p:cNvSpPr/>
          <p:nvPr/>
        </p:nvSpPr>
        <p:spPr>
          <a:xfrm>
            <a:off x="9015984" y="1591056"/>
            <a:ext cx="1481328" cy="53035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9136" y="1618488"/>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A5F3FC"/>
                </a:solidFill>
                <a:latin typeface="Montserrat"/>
              </a:rPr>
              <a:t>All-zero genes</a:t>
            </a:r>
          </a:p>
        </p:txBody>
      </p:sp>
      <p:sp>
        <p:nvSpPr>
          <p:cNvPr id="24" name="Rectangle 23"/>
          <p:cNvSpPr/>
          <p:nvPr/>
        </p:nvSpPr>
        <p:spPr>
          <a:xfrm>
            <a:off x="658368" y="2121408"/>
            <a:ext cx="1143000"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19" y="2148839"/>
            <a:ext cx="99669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22D3EE"/>
                </a:solidFill>
                <a:latin typeface="Montserrat"/>
              </a:rPr>
              <a:t>A</a:t>
            </a:r>
          </a:p>
        </p:txBody>
      </p:sp>
      <p:sp>
        <p:nvSpPr>
          <p:cNvPr id="26" name="Rectangle 25"/>
          <p:cNvSpPr/>
          <p:nvPr/>
        </p:nvSpPr>
        <p:spPr>
          <a:xfrm>
            <a:off x="1801368" y="2121408"/>
            <a:ext cx="1325880"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874519" y="2148839"/>
            <a:ext cx="117957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18,400</a:t>
            </a:r>
          </a:p>
        </p:txBody>
      </p:sp>
      <p:sp>
        <p:nvSpPr>
          <p:cNvPr id="28" name="Rectangle 27"/>
          <p:cNvSpPr/>
          <p:nvPr/>
        </p:nvSpPr>
        <p:spPr>
          <a:xfrm>
            <a:off x="3127248" y="2121408"/>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0" y="2148839"/>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32.23%</a:t>
            </a:r>
          </a:p>
        </p:txBody>
      </p:sp>
      <p:sp>
        <p:nvSpPr>
          <p:cNvPr id="30" name="Rectangle 29"/>
          <p:cNvSpPr/>
          <p:nvPr/>
        </p:nvSpPr>
        <p:spPr>
          <a:xfrm>
            <a:off x="4608576" y="2121408"/>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81728" y="2148839"/>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5,973</a:t>
            </a:r>
          </a:p>
        </p:txBody>
      </p:sp>
      <p:sp>
        <p:nvSpPr>
          <p:cNvPr id="32" name="Rectangle 31"/>
          <p:cNvSpPr/>
          <p:nvPr/>
        </p:nvSpPr>
        <p:spPr>
          <a:xfrm>
            <a:off x="6089904" y="2121408"/>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63056" y="2148839"/>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21,134</a:t>
            </a:r>
          </a:p>
        </p:txBody>
      </p:sp>
      <p:sp>
        <p:nvSpPr>
          <p:cNvPr id="34" name="Rectangle 33"/>
          <p:cNvSpPr/>
          <p:nvPr/>
        </p:nvSpPr>
        <p:spPr>
          <a:xfrm>
            <a:off x="7571232" y="2121408"/>
            <a:ext cx="1444752"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44384" y="2148839"/>
            <a:ext cx="1298448"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20,109</a:t>
            </a:r>
          </a:p>
        </p:txBody>
      </p:sp>
      <p:sp>
        <p:nvSpPr>
          <p:cNvPr id="36" name="Rectangle 35"/>
          <p:cNvSpPr/>
          <p:nvPr/>
        </p:nvSpPr>
        <p:spPr>
          <a:xfrm>
            <a:off x="9015984" y="2121408"/>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89136" y="2148839"/>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2,398</a:t>
            </a:r>
          </a:p>
        </p:txBody>
      </p:sp>
      <p:sp>
        <p:nvSpPr>
          <p:cNvPr id="38" name="Rectangle 37"/>
          <p:cNvSpPr/>
          <p:nvPr/>
        </p:nvSpPr>
        <p:spPr>
          <a:xfrm>
            <a:off x="658368" y="2651760"/>
            <a:ext cx="1143000" cy="53035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19" y="2679191"/>
            <a:ext cx="99669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8B5CF6"/>
                </a:solidFill>
                <a:latin typeface="Montserrat"/>
              </a:rPr>
              <a:t>B</a:t>
            </a:r>
          </a:p>
        </p:txBody>
      </p:sp>
      <p:sp>
        <p:nvSpPr>
          <p:cNvPr id="40" name="Rectangle 39"/>
          <p:cNvSpPr/>
          <p:nvPr/>
        </p:nvSpPr>
        <p:spPr>
          <a:xfrm>
            <a:off x="1801368" y="2651760"/>
            <a:ext cx="1325880" cy="53035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74519" y="2679191"/>
            <a:ext cx="117957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18,400</a:t>
            </a:r>
          </a:p>
        </p:txBody>
      </p:sp>
      <p:sp>
        <p:nvSpPr>
          <p:cNvPr id="42" name="Rectangle 41"/>
          <p:cNvSpPr/>
          <p:nvPr/>
        </p:nvSpPr>
        <p:spPr>
          <a:xfrm>
            <a:off x="3127248" y="2651760"/>
            <a:ext cx="1481328" cy="53035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0" y="2679191"/>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29.78%</a:t>
            </a:r>
          </a:p>
        </p:txBody>
      </p:sp>
      <p:sp>
        <p:nvSpPr>
          <p:cNvPr id="44" name="Rectangle 43"/>
          <p:cNvSpPr/>
          <p:nvPr/>
        </p:nvSpPr>
        <p:spPr>
          <a:xfrm>
            <a:off x="4608576" y="2651760"/>
            <a:ext cx="1481328" cy="53035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681728" y="2679191"/>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5,519</a:t>
            </a:r>
          </a:p>
        </p:txBody>
      </p:sp>
      <p:sp>
        <p:nvSpPr>
          <p:cNvPr id="46" name="Rectangle 45"/>
          <p:cNvSpPr/>
          <p:nvPr/>
        </p:nvSpPr>
        <p:spPr>
          <a:xfrm>
            <a:off x="6089904" y="2651760"/>
            <a:ext cx="1481328" cy="53035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63056" y="2679191"/>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19,990</a:t>
            </a:r>
          </a:p>
        </p:txBody>
      </p:sp>
      <p:sp>
        <p:nvSpPr>
          <p:cNvPr id="48" name="Rectangle 47"/>
          <p:cNvSpPr/>
          <p:nvPr/>
        </p:nvSpPr>
        <p:spPr>
          <a:xfrm>
            <a:off x="7571232" y="2651760"/>
            <a:ext cx="1444752" cy="53035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44384" y="2679191"/>
            <a:ext cx="1298448"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19,946</a:t>
            </a:r>
          </a:p>
        </p:txBody>
      </p:sp>
      <p:sp>
        <p:nvSpPr>
          <p:cNvPr id="50" name="Rectangle 49"/>
          <p:cNvSpPr/>
          <p:nvPr/>
        </p:nvSpPr>
        <p:spPr>
          <a:xfrm>
            <a:off x="9015984" y="2651760"/>
            <a:ext cx="1481328" cy="53035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89136" y="2679191"/>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2,853</a:t>
            </a:r>
          </a:p>
        </p:txBody>
      </p:sp>
      <p:sp>
        <p:nvSpPr>
          <p:cNvPr id="52" name="Rectangle 51"/>
          <p:cNvSpPr/>
          <p:nvPr/>
        </p:nvSpPr>
        <p:spPr>
          <a:xfrm>
            <a:off x="658368" y="3182111"/>
            <a:ext cx="1143000"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19" y="3209543"/>
            <a:ext cx="99669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1" i="0">
                <a:solidFill>
                  <a:srgbClr val="F472B6"/>
                </a:solidFill>
                <a:latin typeface="Montserrat"/>
              </a:rPr>
              <a:t>C</a:t>
            </a:r>
          </a:p>
        </p:txBody>
      </p:sp>
      <p:sp>
        <p:nvSpPr>
          <p:cNvPr id="54" name="Rectangle 53"/>
          <p:cNvSpPr/>
          <p:nvPr/>
        </p:nvSpPr>
        <p:spPr>
          <a:xfrm>
            <a:off x="1801368" y="3182111"/>
            <a:ext cx="1325880"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874519" y="3209543"/>
            <a:ext cx="1179576"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18,400</a:t>
            </a:r>
          </a:p>
        </p:txBody>
      </p:sp>
      <p:sp>
        <p:nvSpPr>
          <p:cNvPr id="56" name="Rectangle 55"/>
          <p:cNvSpPr/>
          <p:nvPr/>
        </p:nvSpPr>
        <p:spPr>
          <a:xfrm>
            <a:off x="3127248" y="3182111"/>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200400" y="3209543"/>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31.73%</a:t>
            </a:r>
          </a:p>
        </p:txBody>
      </p:sp>
      <p:sp>
        <p:nvSpPr>
          <p:cNvPr id="58" name="Rectangle 57"/>
          <p:cNvSpPr/>
          <p:nvPr/>
        </p:nvSpPr>
        <p:spPr>
          <a:xfrm>
            <a:off x="4608576" y="3182111"/>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681728" y="3209543"/>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5,881</a:t>
            </a:r>
          </a:p>
        </p:txBody>
      </p:sp>
      <p:sp>
        <p:nvSpPr>
          <p:cNvPr id="60" name="Rectangle 59"/>
          <p:cNvSpPr/>
          <p:nvPr/>
        </p:nvSpPr>
        <p:spPr>
          <a:xfrm>
            <a:off x="6089904" y="3182111"/>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63056" y="3209543"/>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21,157</a:t>
            </a:r>
          </a:p>
        </p:txBody>
      </p:sp>
      <p:sp>
        <p:nvSpPr>
          <p:cNvPr id="62" name="Rectangle 61"/>
          <p:cNvSpPr/>
          <p:nvPr/>
        </p:nvSpPr>
        <p:spPr>
          <a:xfrm>
            <a:off x="7571232" y="3182111"/>
            <a:ext cx="1444752"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644384" y="3209543"/>
            <a:ext cx="1298448"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20,034</a:t>
            </a:r>
          </a:p>
        </p:txBody>
      </p:sp>
      <p:sp>
        <p:nvSpPr>
          <p:cNvPr id="64" name="Rectangle 63"/>
          <p:cNvSpPr/>
          <p:nvPr/>
        </p:nvSpPr>
        <p:spPr>
          <a:xfrm>
            <a:off x="9015984" y="3182111"/>
            <a:ext cx="1481328" cy="53035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89136" y="3209543"/>
            <a:ext cx="1335024" cy="47548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00" b="0" i="0">
                <a:solidFill>
                  <a:srgbClr val="A9B5CC"/>
                </a:solidFill>
                <a:latin typeface="Montserrat"/>
              </a:rPr>
              <a:t>2,317</a:t>
            </a:r>
          </a:p>
        </p:txBody>
      </p:sp>
      <p:sp>
        <p:nvSpPr>
          <p:cNvPr id="66" name="Rounded Rectangle 65"/>
          <p:cNvSpPr/>
          <p:nvPr/>
        </p:nvSpPr>
        <p:spPr>
          <a:xfrm>
            <a:off x="658368" y="3968496"/>
            <a:ext cx="2468880"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41247" y="4096511"/>
            <a:ext cx="2103120"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22D3EE"/>
                </a:solidFill>
                <a:latin typeface="Montserrat"/>
              </a:rPr>
              <a:t>55,200</a:t>
            </a:r>
          </a:p>
        </p:txBody>
      </p:sp>
      <p:sp>
        <p:nvSpPr>
          <p:cNvPr id="68" name="TextBox 67"/>
          <p:cNvSpPr txBox="1"/>
          <p:nvPr/>
        </p:nvSpPr>
        <p:spPr>
          <a:xfrm>
            <a:off x="841247" y="4517136"/>
            <a:ext cx="2103120"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total control cells</a:t>
            </a:r>
          </a:p>
        </p:txBody>
      </p:sp>
      <p:sp>
        <p:nvSpPr>
          <p:cNvPr id="69" name="Rounded Rectangle 68"/>
          <p:cNvSpPr/>
          <p:nvPr/>
        </p:nvSpPr>
        <p:spPr>
          <a:xfrm>
            <a:off x="3273552" y="3968496"/>
            <a:ext cx="2468880"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456432" y="4096511"/>
            <a:ext cx="2103120"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8B5CF6"/>
                </a:solidFill>
                <a:latin typeface="Montserrat"/>
              </a:rPr>
              <a:t>46 × 400</a:t>
            </a:r>
          </a:p>
        </p:txBody>
      </p:sp>
      <p:sp>
        <p:nvSpPr>
          <p:cNvPr id="71" name="TextBox 70"/>
          <p:cNvSpPr txBox="1"/>
          <p:nvPr/>
        </p:nvSpPr>
        <p:spPr>
          <a:xfrm>
            <a:off x="3456432" y="4517136"/>
            <a:ext cx="2103120"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NTC design / context</a:t>
            </a:r>
          </a:p>
        </p:txBody>
      </p:sp>
      <p:sp>
        <p:nvSpPr>
          <p:cNvPr id="72" name="Rounded Rectangle 71"/>
          <p:cNvSpPr/>
          <p:nvPr/>
        </p:nvSpPr>
        <p:spPr>
          <a:xfrm>
            <a:off x="5888736" y="3968496"/>
            <a:ext cx="2468880"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071616" y="4096511"/>
            <a:ext cx="2103120"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34D399"/>
                </a:solidFill>
                <a:latin typeface="Montserrat"/>
              </a:rPr>
              <a:t>319.7M</a:t>
            </a:r>
          </a:p>
        </p:txBody>
      </p:sp>
      <p:sp>
        <p:nvSpPr>
          <p:cNvPr id="74" name="TextBox 73"/>
          <p:cNvSpPr txBox="1"/>
          <p:nvPr/>
        </p:nvSpPr>
        <p:spPr>
          <a:xfrm>
            <a:off x="6071616" y="4517136"/>
            <a:ext cx="2103120"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stored nonzeros</a:t>
            </a:r>
          </a:p>
        </p:txBody>
      </p:sp>
      <p:sp>
        <p:nvSpPr>
          <p:cNvPr id="75" name="Rounded Rectangle 74"/>
          <p:cNvSpPr/>
          <p:nvPr/>
        </p:nvSpPr>
        <p:spPr>
          <a:xfrm>
            <a:off x="8503920" y="3968496"/>
            <a:ext cx="2468880" cy="10515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686800" y="4096511"/>
            <a:ext cx="2103120"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400" b="1" i="0">
                <a:solidFill>
                  <a:srgbClr val="F472B6"/>
                </a:solidFill>
                <a:latin typeface="Montserrat"/>
              </a:rPr>
              <a:t>662 MB</a:t>
            </a:r>
          </a:p>
        </p:txBody>
      </p:sp>
      <p:sp>
        <p:nvSpPr>
          <p:cNvPr id="77" name="TextBox 76"/>
          <p:cNvSpPr txBox="1"/>
          <p:nvPr/>
        </p:nvSpPr>
        <p:spPr>
          <a:xfrm>
            <a:off x="8686800" y="4517136"/>
            <a:ext cx="2103120"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controls.zip</a:t>
            </a:r>
          </a:p>
        </p:txBody>
      </p:sp>
      <p:sp>
        <p:nvSpPr>
          <p:cNvPr id="78" name="Rounded Rectangle 77"/>
          <p:cNvSpPr/>
          <p:nvPr/>
        </p:nvSpPr>
        <p:spPr>
          <a:xfrm>
            <a:off x="658368" y="5285232"/>
            <a:ext cx="10314432" cy="512064"/>
          </a:xfrm>
          <a:prstGeom prst="roundRect">
            <a:avLst/>
          </a:prstGeom>
          <a:solidFill>
            <a:srgbClr val="0D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9536" y="5413248"/>
            <a:ext cx="9912096"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80" b="1" i="0">
                <a:solidFill>
                  <a:srgbClr val="A7F3D0"/>
                </a:solidFill>
                <a:latin typeface="Montserrat"/>
              </a:rPr>
              <a:t>PASS: finite • nonnegative • integer-valued • canonical CSR • identical gene order • 300 unique targets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DATA CONTRACT</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three contexts are genuinely different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Control-centroid similarity is high enough to share structure, but low enough to require context modulation.</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Evidence: artifacts/h100_smoke_result.json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15</a:t>
            </a:r>
          </a:p>
        </p:txBody>
      </p:sp>
      <p:sp>
        <p:nvSpPr>
          <p:cNvPr id="10" name="TextBox 9"/>
          <p:cNvSpPr txBox="1"/>
          <p:nvPr/>
        </p:nvSpPr>
        <p:spPr>
          <a:xfrm>
            <a:off x="786384" y="1609344"/>
            <a:ext cx="512064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500" b="1" i="0">
                <a:solidFill>
                  <a:srgbClr val="F7F9FC"/>
                </a:solidFill>
                <a:latin typeface="Montserrat"/>
              </a:rPr>
              <a:t>Cosine similarity of log-CP10K control centroids</a:t>
            </a:r>
          </a:p>
        </p:txBody>
      </p:sp>
      <p:sp>
        <p:nvSpPr>
          <p:cNvPr id="11" name="TextBox 10"/>
          <p:cNvSpPr txBox="1"/>
          <p:nvPr/>
        </p:nvSpPr>
        <p:spPr>
          <a:xfrm>
            <a:off x="1883664" y="1993392"/>
            <a:ext cx="749808"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A5F3FC"/>
                </a:solidFill>
                <a:latin typeface="Montserrat"/>
              </a:rPr>
              <a:t>A</a:t>
            </a:r>
          </a:p>
        </p:txBody>
      </p:sp>
      <p:sp>
        <p:nvSpPr>
          <p:cNvPr id="12" name="TextBox 11"/>
          <p:cNvSpPr txBox="1"/>
          <p:nvPr/>
        </p:nvSpPr>
        <p:spPr>
          <a:xfrm>
            <a:off x="2816352" y="1993392"/>
            <a:ext cx="749808"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A5F3FC"/>
                </a:solidFill>
                <a:latin typeface="Montserrat"/>
              </a:rPr>
              <a:t>B</a:t>
            </a:r>
          </a:p>
        </p:txBody>
      </p:sp>
      <p:sp>
        <p:nvSpPr>
          <p:cNvPr id="13" name="TextBox 12"/>
          <p:cNvSpPr txBox="1"/>
          <p:nvPr/>
        </p:nvSpPr>
        <p:spPr>
          <a:xfrm>
            <a:off x="3749039" y="1993392"/>
            <a:ext cx="749808"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A5F3FC"/>
                </a:solidFill>
                <a:latin typeface="Montserrat"/>
              </a:rPr>
              <a:t>C</a:t>
            </a:r>
          </a:p>
        </p:txBody>
      </p:sp>
      <p:sp>
        <p:nvSpPr>
          <p:cNvPr id="14" name="TextBox 13"/>
          <p:cNvSpPr txBox="1"/>
          <p:nvPr/>
        </p:nvSpPr>
        <p:spPr>
          <a:xfrm>
            <a:off x="1097280" y="2423160"/>
            <a:ext cx="47548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A5F3FC"/>
                </a:solidFill>
                <a:latin typeface="Montserrat"/>
              </a:rPr>
              <a:t>A</a:t>
            </a:r>
          </a:p>
        </p:txBody>
      </p:sp>
      <p:sp>
        <p:nvSpPr>
          <p:cNvPr id="15" name="Rectangle 14"/>
          <p:cNvSpPr/>
          <p:nvPr/>
        </p:nvSpPr>
        <p:spPr>
          <a:xfrm>
            <a:off x="1883664" y="2286000"/>
            <a:ext cx="749808" cy="6400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83664" y="228600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1.000</a:t>
            </a:r>
          </a:p>
        </p:txBody>
      </p:sp>
      <p:sp>
        <p:nvSpPr>
          <p:cNvPr id="17" name="Rectangle 16"/>
          <p:cNvSpPr/>
          <p:nvPr/>
        </p:nvSpPr>
        <p:spPr>
          <a:xfrm>
            <a:off x="2816352" y="2286000"/>
            <a:ext cx="749808" cy="6400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16352" y="228600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0.778</a:t>
            </a:r>
          </a:p>
        </p:txBody>
      </p:sp>
      <p:sp>
        <p:nvSpPr>
          <p:cNvPr id="19" name="Rectangle 18"/>
          <p:cNvSpPr/>
          <p:nvPr/>
        </p:nvSpPr>
        <p:spPr>
          <a:xfrm>
            <a:off x="3749039" y="2286000"/>
            <a:ext cx="749808" cy="640080"/>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49039" y="228600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0.721</a:t>
            </a:r>
          </a:p>
        </p:txBody>
      </p:sp>
      <p:sp>
        <p:nvSpPr>
          <p:cNvPr id="21" name="TextBox 20"/>
          <p:cNvSpPr txBox="1"/>
          <p:nvPr/>
        </p:nvSpPr>
        <p:spPr>
          <a:xfrm>
            <a:off x="1097280" y="3246120"/>
            <a:ext cx="47548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A5F3FC"/>
                </a:solidFill>
                <a:latin typeface="Montserrat"/>
              </a:rPr>
              <a:t>B</a:t>
            </a:r>
          </a:p>
        </p:txBody>
      </p:sp>
      <p:sp>
        <p:nvSpPr>
          <p:cNvPr id="22" name="Rectangle 21"/>
          <p:cNvSpPr/>
          <p:nvPr/>
        </p:nvSpPr>
        <p:spPr>
          <a:xfrm>
            <a:off x="1883664" y="3108960"/>
            <a:ext cx="749808" cy="64008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83664" y="310896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0.778</a:t>
            </a:r>
          </a:p>
        </p:txBody>
      </p:sp>
      <p:sp>
        <p:nvSpPr>
          <p:cNvPr id="24" name="Rectangle 23"/>
          <p:cNvSpPr/>
          <p:nvPr/>
        </p:nvSpPr>
        <p:spPr>
          <a:xfrm>
            <a:off x="2816352" y="3108960"/>
            <a:ext cx="749808" cy="6400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16352" y="310896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1.000</a:t>
            </a:r>
          </a:p>
        </p:txBody>
      </p:sp>
      <p:sp>
        <p:nvSpPr>
          <p:cNvPr id="26" name="Rectangle 25"/>
          <p:cNvSpPr/>
          <p:nvPr/>
        </p:nvSpPr>
        <p:spPr>
          <a:xfrm>
            <a:off x="3749039" y="3108960"/>
            <a:ext cx="749808" cy="6400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49039" y="310896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0.808</a:t>
            </a:r>
          </a:p>
        </p:txBody>
      </p:sp>
      <p:sp>
        <p:nvSpPr>
          <p:cNvPr id="28" name="TextBox 27"/>
          <p:cNvSpPr txBox="1"/>
          <p:nvPr/>
        </p:nvSpPr>
        <p:spPr>
          <a:xfrm>
            <a:off x="1097280" y="4069080"/>
            <a:ext cx="47548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A5F3FC"/>
                </a:solidFill>
                <a:latin typeface="Montserrat"/>
              </a:rPr>
              <a:t>C</a:t>
            </a:r>
          </a:p>
        </p:txBody>
      </p:sp>
      <p:sp>
        <p:nvSpPr>
          <p:cNvPr id="29" name="Rectangle 28"/>
          <p:cNvSpPr/>
          <p:nvPr/>
        </p:nvSpPr>
        <p:spPr>
          <a:xfrm>
            <a:off x="1883664" y="3931920"/>
            <a:ext cx="749808" cy="640080"/>
          </a:xfrm>
          <a:prstGeom prst="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883664" y="393192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0.721</a:t>
            </a:r>
          </a:p>
        </p:txBody>
      </p:sp>
      <p:sp>
        <p:nvSpPr>
          <p:cNvPr id="31" name="Rectangle 30"/>
          <p:cNvSpPr/>
          <p:nvPr/>
        </p:nvSpPr>
        <p:spPr>
          <a:xfrm>
            <a:off x="2816352" y="3931920"/>
            <a:ext cx="749808" cy="64008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16352" y="393192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0.808</a:t>
            </a:r>
          </a:p>
        </p:txBody>
      </p:sp>
      <p:sp>
        <p:nvSpPr>
          <p:cNvPr id="33" name="Rectangle 32"/>
          <p:cNvSpPr/>
          <p:nvPr/>
        </p:nvSpPr>
        <p:spPr>
          <a:xfrm>
            <a:off x="3749039" y="3931920"/>
            <a:ext cx="749808" cy="640080"/>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49039" y="3931920"/>
            <a:ext cx="749808"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1.000</a:t>
            </a:r>
          </a:p>
        </p:txBody>
      </p:sp>
      <p:sp>
        <p:nvSpPr>
          <p:cNvPr id="35" name="Rounded Rectangle 34"/>
          <p:cNvSpPr/>
          <p:nvPr/>
        </p:nvSpPr>
        <p:spPr>
          <a:xfrm>
            <a:off x="5943600" y="1591056"/>
            <a:ext cx="5303520" cy="3273552"/>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54496" y="1847088"/>
            <a:ext cx="182880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C4B5FD"/>
                </a:solidFill>
                <a:latin typeface="Montserrat"/>
              </a:rPr>
              <a:t>Interpretation</a:t>
            </a:r>
          </a:p>
        </p:txBody>
      </p:sp>
      <p:sp>
        <p:nvSpPr>
          <p:cNvPr id="37" name="TextBox 36"/>
          <p:cNvSpPr txBox="1"/>
          <p:nvPr/>
        </p:nvSpPr>
        <p:spPr>
          <a:xfrm>
            <a:off x="6254496" y="2304288"/>
            <a:ext cx="4608576" cy="2066543"/>
          </a:xfrm>
          <a:prstGeom prst="rect">
            <a:avLst/>
          </a:prstGeom>
          <a:noFill/>
        </p:spPr>
        <p:txBody>
          <a:bodyPr wrap="square" lIns="18288" rIns="18288" tIns="18288" bIns="18288">
            <a:spAutoFit/>
          </a:bodyPr>
          <a:lstStyle/>
          <a:p>
            <a:pPr>
              <a:lnSpc>
                <a:spcPct val="108000"/>
              </a:lnSpc>
              <a:spcBef>
                <a:spcPts val="0"/>
              </a:spcBef>
              <a:spcAft>
                <a:spcPts val="400"/>
              </a:spcAft>
            </a:pPr>
            <a:r>
              <a:rPr sz="1220" b="1">
                <a:solidFill>
                  <a:srgbClr val="22D3EE"/>
                </a:solidFill>
                <a:latin typeface="Montserrat"/>
              </a:rPr>
              <a:t>•  </a:t>
            </a:r>
            <a:r>
              <a:rPr sz="1220">
                <a:solidFill>
                  <a:srgbClr val="F7F9FC"/>
                </a:solidFill>
                <a:latin typeface="Montserrat"/>
              </a:rPr>
              <a:t>Shared programs make cross-context transfer plausible.</a:t>
            </a:r>
          </a:p>
          <a:p>
            <a:pPr>
              <a:lnSpc>
                <a:spcPct val="108000"/>
              </a:lnSpc>
              <a:spcBef>
                <a:spcPts val="0"/>
              </a:spcBef>
              <a:spcAft>
                <a:spcPts val="400"/>
              </a:spcAft>
            </a:pPr>
            <a:r>
              <a:rPr sz="1220" b="1">
                <a:solidFill>
                  <a:srgbClr val="22D3EE"/>
                </a:solidFill>
                <a:latin typeface="Montserrat"/>
              </a:rPr>
              <a:t>•  </a:t>
            </a:r>
            <a:r>
              <a:rPr sz="1220">
                <a:solidFill>
                  <a:srgbClr val="F7F9FC"/>
                </a:solidFill>
                <a:latin typeface="Montserrat"/>
              </a:rPr>
              <a:t>Distinct basal states make a single global response insufficient.</a:t>
            </a:r>
          </a:p>
          <a:p>
            <a:pPr>
              <a:lnSpc>
                <a:spcPct val="108000"/>
              </a:lnSpc>
              <a:spcBef>
                <a:spcPts val="0"/>
              </a:spcBef>
              <a:spcAft>
                <a:spcPts val="400"/>
              </a:spcAft>
            </a:pPr>
            <a:r>
              <a:rPr sz="1220" b="1">
                <a:solidFill>
                  <a:srgbClr val="22D3EE"/>
                </a:solidFill>
                <a:latin typeface="Montserrat"/>
              </a:rPr>
              <a:t>•  </a:t>
            </a:r>
            <a:r>
              <a:rPr sz="1220">
                <a:solidFill>
                  <a:srgbClr val="F7F9FC"/>
                </a:solidFill>
                <a:latin typeface="Montserrat"/>
              </a:rPr>
              <a:t>Context identity must come from the control distribution, not a memorized letter.</a:t>
            </a:r>
          </a:p>
          <a:p>
            <a:pPr>
              <a:lnSpc>
                <a:spcPct val="108000"/>
              </a:lnSpc>
              <a:spcBef>
                <a:spcPts val="0"/>
              </a:spcBef>
              <a:spcAft>
                <a:spcPts val="400"/>
              </a:spcAft>
            </a:pPr>
            <a:r>
              <a:rPr sz="1220" b="1">
                <a:solidFill>
                  <a:srgbClr val="22D3EE"/>
                </a:solidFill>
                <a:latin typeface="Montserrat"/>
              </a:rPr>
              <a:t>•  </a:t>
            </a:r>
            <a:r>
              <a:rPr sz="1220">
                <a:solidFill>
                  <a:srgbClr val="F7F9FC"/>
                </a:solidFill>
                <a:latin typeface="Montserrat"/>
              </a:rPr>
              <a:t>Do not infer the hidden biological identity of A, B, or C.</a:t>
            </a:r>
          </a:p>
        </p:txBody>
      </p:sp>
      <p:sp>
        <p:nvSpPr>
          <p:cNvPr id="38" name="Rounded Rectangle 37"/>
          <p:cNvSpPr/>
          <p:nvPr/>
        </p:nvSpPr>
        <p:spPr>
          <a:xfrm>
            <a:off x="786384" y="5239512"/>
            <a:ext cx="10460736" cy="585216"/>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4128" y="5404104"/>
            <a:ext cx="9985248"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C4B5FD"/>
                </a:solidFill>
                <a:latin typeface="Source Code Pro"/>
              </a:rPr>
              <a:t>Design target: learn Δglobal(p) + Δinteraction(context, p), with shrinkage when evidence is weak.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H100 READINESS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end-to-end H100 smoke test passed</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Data → CUDA training path → sparse H5AD → official validation → .vcc packaging.</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Evidence: job 792580; reports/VCC_2026_H100_smoke_runbook_bilingual.md</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16</a:t>
            </a:r>
          </a:p>
        </p:txBody>
      </p:sp>
      <p:sp>
        <p:nvSpPr>
          <p:cNvPr id="10" name="Oval 9"/>
          <p:cNvSpPr/>
          <p:nvPr/>
        </p:nvSpPr>
        <p:spPr>
          <a:xfrm>
            <a:off x="1234440" y="1627632"/>
            <a:ext cx="640080" cy="64008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34440" y="1627632"/>
            <a:ext cx="640080"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000" b="1" i="0">
                <a:solidFill>
                  <a:srgbClr val="08101F"/>
                </a:solidFill>
                <a:latin typeface="Montserrat"/>
              </a:rPr>
              <a:t>✓</a:t>
            </a:r>
          </a:p>
        </p:txBody>
      </p:sp>
      <p:sp>
        <p:nvSpPr>
          <p:cNvPr id="12" name="TextBox 11"/>
          <p:cNvSpPr txBox="1"/>
          <p:nvPr/>
        </p:nvSpPr>
        <p:spPr>
          <a:xfrm>
            <a:off x="566928" y="2487168"/>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Data audit</a:t>
            </a:r>
          </a:p>
        </p:txBody>
      </p:sp>
      <p:sp>
        <p:nvSpPr>
          <p:cNvPr id="13" name="TextBox 12"/>
          <p:cNvSpPr txBox="1"/>
          <p:nvPr/>
        </p:nvSpPr>
        <p:spPr>
          <a:xfrm>
            <a:off x="566928" y="2880360"/>
            <a:ext cx="197510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55,200 controls</a:t>
            </a:r>
          </a:p>
        </p:txBody>
      </p:sp>
      <p:cxnSp>
        <p:nvCxnSpPr>
          <p:cNvPr id="14" name="Connector 13"/>
          <p:cNvCxnSpPr/>
          <p:nvPr/>
        </p:nvCxnSpPr>
        <p:spPr>
          <a:xfrm>
            <a:off x="2286000" y="1956816"/>
            <a:ext cx="33832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2569464" y="1901952"/>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20440" y="1627632"/>
            <a:ext cx="640080" cy="640080"/>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40" y="1627632"/>
            <a:ext cx="640080"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000" b="1" i="0">
                <a:solidFill>
                  <a:srgbClr val="F7F9FC"/>
                </a:solidFill>
                <a:latin typeface="Montserrat"/>
              </a:rPr>
              <a:t>✓</a:t>
            </a:r>
          </a:p>
        </p:txBody>
      </p:sp>
      <p:sp>
        <p:nvSpPr>
          <p:cNvPr id="18" name="TextBox 17"/>
          <p:cNvSpPr txBox="1"/>
          <p:nvPr/>
        </p:nvSpPr>
        <p:spPr>
          <a:xfrm>
            <a:off x="2852928" y="2487168"/>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BF16 train</a:t>
            </a:r>
          </a:p>
        </p:txBody>
      </p:sp>
      <p:sp>
        <p:nvSpPr>
          <p:cNvPr id="19" name="TextBox 18"/>
          <p:cNvSpPr txBox="1"/>
          <p:nvPr/>
        </p:nvSpPr>
        <p:spPr>
          <a:xfrm>
            <a:off x="2852928" y="2880360"/>
            <a:ext cx="197510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9.54M parameters</a:t>
            </a:r>
          </a:p>
        </p:txBody>
      </p:sp>
      <p:cxnSp>
        <p:nvCxnSpPr>
          <p:cNvPr id="20" name="Connector 19"/>
          <p:cNvCxnSpPr/>
          <p:nvPr/>
        </p:nvCxnSpPr>
        <p:spPr>
          <a:xfrm>
            <a:off x="4572000" y="1956816"/>
            <a:ext cx="33832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4855464" y="1901952"/>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06440" y="1627632"/>
            <a:ext cx="640080" cy="640080"/>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1627632"/>
            <a:ext cx="640080"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000" b="1" i="0">
                <a:solidFill>
                  <a:srgbClr val="F7F9FC"/>
                </a:solidFill>
                <a:latin typeface="Montserrat"/>
              </a:rPr>
              <a:t>✓</a:t>
            </a:r>
          </a:p>
        </p:txBody>
      </p:sp>
      <p:sp>
        <p:nvSpPr>
          <p:cNvPr id="24" name="TextBox 23"/>
          <p:cNvSpPr txBox="1"/>
          <p:nvPr/>
        </p:nvSpPr>
        <p:spPr>
          <a:xfrm>
            <a:off x="5138928" y="2487168"/>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Full artifact</a:t>
            </a:r>
          </a:p>
        </p:txBody>
      </p:sp>
      <p:sp>
        <p:nvSpPr>
          <p:cNvPr id="25" name="TextBox 24"/>
          <p:cNvSpPr txBox="1"/>
          <p:nvPr/>
        </p:nvSpPr>
        <p:spPr>
          <a:xfrm>
            <a:off x="5138928" y="2880360"/>
            <a:ext cx="197510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360,000 cells</a:t>
            </a:r>
          </a:p>
        </p:txBody>
      </p:sp>
      <p:cxnSp>
        <p:nvCxnSpPr>
          <p:cNvPr id="26" name="Connector 25"/>
          <p:cNvCxnSpPr/>
          <p:nvPr/>
        </p:nvCxnSpPr>
        <p:spPr>
          <a:xfrm>
            <a:off x="6858000" y="1956816"/>
            <a:ext cx="33832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7141464" y="1901952"/>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92440" y="1627632"/>
            <a:ext cx="640080" cy="64008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92440" y="1627632"/>
            <a:ext cx="640080"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000" b="1" i="0">
                <a:solidFill>
                  <a:srgbClr val="08101F"/>
                </a:solidFill>
                <a:latin typeface="Montserrat"/>
              </a:rPr>
              <a:t>✓</a:t>
            </a:r>
          </a:p>
        </p:txBody>
      </p:sp>
      <p:sp>
        <p:nvSpPr>
          <p:cNvPr id="30" name="TextBox 29"/>
          <p:cNvSpPr txBox="1"/>
          <p:nvPr/>
        </p:nvSpPr>
        <p:spPr>
          <a:xfrm>
            <a:off x="7424927" y="2487168"/>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Official prep</a:t>
            </a:r>
          </a:p>
        </p:txBody>
      </p:sp>
      <p:sp>
        <p:nvSpPr>
          <p:cNvPr id="31" name="TextBox 30"/>
          <p:cNvSpPr txBox="1"/>
          <p:nvPr/>
        </p:nvSpPr>
        <p:spPr>
          <a:xfrm>
            <a:off x="7424927" y="2880360"/>
            <a:ext cx="197510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targets verified</a:t>
            </a:r>
          </a:p>
        </p:txBody>
      </p:sp>
      <p:cxnSp>
        <p:nvCxnSpPr>
          <p:cNvPr id="32" name="Connector 31"/>
          <p:cNvCxnSpPr/>
          <p:nvPr/>
        </p:nvCxnSpPr>
        <p:spPr>
          <a:xfrm>
            <a:off x="9144000" y="1956816"/>
            <a:ext cx="33832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5400000">
            <a:off x="9427463" y="1901952"/>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78440" y="1627632"/>
            <a:ext cx="640080" cy="640080"/>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78440" y="1627632"/>
            <a:ext cx="640080" cy="64008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000" b="1" i="0">
                <a:solidFill>
                  <a:srgbClr val="08101F"/>
                </a:solidFill>
                <a:latin typeface="Montserrat"/>
              </a:rPr>
              <a:t>✓</a:t>
            </a:r>
          </a:p>
        </p:txBody>
      </p:sp>
      <p:sp>
        <p:nvSpPr>
          <p:cNvPr id="36" name="TextBox 35"/>
          <p:cNvSpPr txBox="1"/>
          <p:nvPr/>
        </p:nvSpPr>
        <p:spPr>
          <a:xfrm>
            <a:off x="9710928" y="2487168"/>
            <a:ext cx="1975104"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Package</a:t>
            </a:r>
          </a:p>
        </p:txBody>
      </p:sp>
      <p:sp>
        <p:nvSpPr>
          <p:cNvPr id="37" name="TextBox 36"/>
          <p:cNvSpPr txBox="1"/>
          <p:nvPr/>
        </p:nvSpPr>
        <p:spPr>
          <a:xfrm>
            <a:off x="9710928" y="2880360"/>
            <a:ext cx="197510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16.46 MB .vcc</a:t>
            </a:r>
          </a:p>
        </p:txBody>
      </p:sp>
      <p:sp>
        <p:nvSpPr>
          <p:cNvPr id="38" name="Rectangle 37"/>
          <p:cNvSpPr/>
          <p:nvPr/>
        </p:nvSpPr>
        <p:spPr>
          <a:xfrm>
            <a:off x="1024128" y="3822191"/>
            <a:ext cx="2057400" cy="45720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97280" y="3849624"/>
            <a:ext cx="1911095"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1" i="0">
                <a:solidFill>
                  <a:srgbClr val="A5F3FC"/>
                </a:solidFill>
                <a:latin typeface="Montserrat"/>
              </a:rPr>
              <a:t>GPU</a:t>
            </a:r>
          </a:p>
        </p:txBody>
      </p:sp>
      <p:sp>
        <p:nvSpPr>
          <p:cNvPr id="40" name="Rectangle 39"/>
          <p:cNvSpPr/>
          <p:nvPr/>
        </p:nvSpPr>
        <p:spPr>
          <a:xfrm>
            <a:off x="3081528" y="3822191"/>
            <a:ext cx="1920240" cy="45720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154680" y="3849624"/>
            <a:ext cx="1773936"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1" i="0">
                <a:solidFill>
                  <a:srgbClr val="A5F3FC"/>
                </a:solidFill>
                <a:latin typeface="Montserrat"/>
              </a:rPr>
              <a:t>Elapsed</a:t>
            </a:r>
          </a:p>
        </p:txBody>
      </p:sp>
      <p:sp>
        <p:nvSpPr>
          <p:cNvPr id="42" name="Rectangle 41"/>
          <p:cNvSpPr/>
          <p:nvPr/>
        </p:nvSpPr>
        <p:spPr>
          <a:xfrm>
            <a:off x="5001768" y="3822191"/>
            <a:ext cx="2194560" cy="45720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74920" y="3849624"/>
            <a:ext cx="2048255"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1" i="0">
                <a:solidFill>
                  <a:srgbClr val="A5F3FC"/>
                </a:solidFill>
                <a:latin typeface="Montserrat"/>
              </a:rPr>
              <a:t>Peak RSS</a:t>
            </a:r>
          </a:p>
        </p:txBody>
      </p:sp>
      <p:sp>
        <p:nvSpPr>
          <p:cNvPr id="44" name="Rectangle 43"/>
          <p:cNvSpPr/>
          <p:nvPr/>
        </p:nvSpPr>
        <p:spPr>
          <a:xfrm>
            <a:off x="7196328" y="3822191"/>
            <a:ext cx="2267712" cy="45720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269480" y="3849624"/>
            <a:ext cx="2121408"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1" i="0">
                <a:solidFill>
                  <a:srgbClr val="A5F3FC"/>
                </a:solidFill>
                <a:latin typeface="Montserrat"/>
              </a:rPr>
              <a:t>Training loss</a:t>
            </a:r>
          </a:p>
        </p:txBody>
      </p:sp>
      <p:sp>
        <p:nvSpPr>
          <p:cNvPr id="46" name="Rectangle 45"/>
          <p:cNvSpPr/>
          <p:nvPr/>
        </p:nvSpPr>
        <p:spPr>
          <a:xfrm>
            <a:off x="9464040" y="3822191"/>
            <a:ext cx="1993392" cy="45720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537192" y="3849624"/>
            <a:ext cx="1847088"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1" i="0">
                <a:solidFill>
                  <a:srgbClr val="A5F3FC"/>
                </a:solidFill>
                <a:latin typeface="Montserrat"/>
              </a:rPr>
              <a:t>Exit</a:t>
            </a:r>
          </a:p>
        </p:txBody>
      </p:sp>
      <p:sp>
        <p:nvSpPr>
          <p:cNvPr id="48" name="Rectangle 47"/>
          <p:cNvSpPr/>
          <p:nvPr/>
        </p:nvSpPr>
        <p:spPr>
          <a:xfrm>
            <a:off x="1024128" y="4279392"/>
            <a:ext cx="2057400" cy="45720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97280" y="4306824"/>
            <a:ext cx="1911095"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1" i="0">
                <a:solidFill>
                  <a:srgbClr val="34D399"/>
                </a:solidFill>
                <a:latin typeface="Montserrat"/>
              </a:rPr>
              <a:t>H100 80GB</a:t>
            </a:r>
          </a:p>
        </p:txBody>
      </p:sp>
      <p:sp>
        <p:nvSpPr>
          <p:cNvPr id="50" name="Rectangle 49"/>
          <p:cNvSpPr/>
          <p:nvPr/>
        </p:nvSpPr>
        <p:spPr>
          <a:xfrm>
            <a:off x="3081528" y="4279392"/>
            <a:ext cx="1920240" cy="45720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54680" y="4306824"/>
            <a:ext cx="1773936"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0" i="0">
                <a:solidFill>
                  <a:srgbClr val="A9B5CC"/>
                </a:solidFill>
                <a:latin typeface="Montserrat"/>
              </a:rPr>
              <a:t>1m 31s</a:t>
            </a:r>
          </a:p>
        </p:txBody>
      </p:sp>
      <p:sp>
        <p:nvSpPr>
          <p:cNvPr id="52" name="Rectangle 51"/>
          <p:cNvSpPr/>
          <p:nvPr/>
        </p:nvSpPr>
        <p:spPr>
          <a:xfrm>
            <a:off x="5001768" y="4279392"/>
            <a:ext cx="2194560" cy="45720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74920" y="4306824"/>
            <a:ext cx="2048255"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0" i="0">
                <a:solidFill>
                  <a:srgbClr val="A9B5CC"/>
                </a:solidFill>
                <a:latin typeface="Montserrat"/>
              </a:rPr>
              <a:t>≈4.91 GiB</a:t>
            </a:r>
          </a:p>
        </p:txBody>
      </p:sp>
      <p:sp>
        <p:nvSpPr>
          <p:cNvPr id="54" name="Rectangle 53"/>
          <p:cNvSpPr/>
          <p:nvPr/>
        </p:nvSpPr>
        <p:spPr>
          <a:xfrm>
            <a:off x="7196328" y="4279392"/>
            <a:ext cx="2267712" cy="45720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269480" y="4306824"/>
            <a:ext cx="2121408"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0" i="0">
                <a:solidFill>
                  <a:srgbClr val="A9B5CC"/>
                </a:solidFill>
                <a:latin typeface="Montserrat"/>
              </a:rPr>
              <a:t>0.3466 → 0.2165</a:t>
            </a:r>
          </a:p>
        </p:txBody>
      </p:sp>
      <p:sp>
        <p:nvSpPr>
          <p:cNvPr id="56" name="Rectangle 55"/>
          <p:cNvSpPr/>
          <p:nvPr/>
        </p:nvSpPr>
        <p:spPr>
          <a:xfrm>
            <a:off x="9464040" y="4279392"/>
            <a:ext cx="1993392" cy="45720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537192" y="4306824"/>
            <a:ext cx="1847088" cy="40233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1050" b="0" i="0">
                <a:solidFill>
                  <a:srgbClr val="A9B5CC"/>
                </a:solidFill>
                <a:latin typeface="Montserrat"/>
              </a:rPr>
              <a:t>COMPLETED</a:t>
            </a:r>
          </a:p>
        </p:txBody>
      </p:sp>
      <p:sp>
        <p:nvSpPr>
          <p:cNvPr id="58" name="TextBox 57"/>
          <p:cNvSpPr txBox="1"/>
          <p:nvPr/>
        </p:nvSpPr>
        <p:spPr>
          <a:xfrm>
            <a:off x="1078992" y="5321808"/>
            <a:ext cx="10040112" cy="36576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500" b="1" i="0">
                <a:solidFill>
                  <a:srgbClr val="FDE68A"/>
                </a:solidFill>
                <a:latin typeface="Montserrat"/>
              </a:rPr>
              <a:t>The pipeline is competition-ready; the prediction model is not yet scientifically ready.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H100 READINESS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What the smoke test did not prove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Passing infrastructure gates is not evidence of perturbation biology.</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Evidence: local smoke artifact metadata</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17</a:t>
            </a:r>
          </a:p>
        </p:txBody>
      </p:sp>
      <p:sp>
        <p:nvSpPr>
          <p:cNvPr id="10" name="Rounded Rectangle 9"/>
          <p:cNvSpPr/>
          <p:nvPr/>
        </p:nvSpPr>
        <p:spPr>
          <a:xfrm>
            <a:off x="658368" y="1554480"/>
            <a:ext cx="5010912" cy="3566160"/>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810512"/>
            <a:ext cx="804672"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15084"/>
            <a:ext cx="80467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PROVEN</a:t>
            </a:r>
          </a:p>
        </p:txBody>
      </p:sp>
      <p:sp>
        <p:nvSpPr>
          <p:cNvPr id="13" name="TextBox 12"/>
          <p:cNvSpPr txBox="1"/>
          <p:nvPr/>
        </p:nvSpPr>
        <p:spPr>
          <a:xfrm>
            <a:off x="950976" y="2340864"/>
            <a:ext cx="4224528" cy="2267712"/>
          </a:xfrm>
          <a:prstGeom prst="rect">
            <a:avLst/>
          </a:prstGeom>
          <a:noFill/>
        </p:spPr>
        <p:txBody>
          <a:bodyPr wrap="square" lIns="18288" rIns="18288" tIns="18288" bIns="18288">
            <a:spAutoFit/>
          </a:bodyPr>
          <a:lstStyle/>
          <a:p>
            <a:pPr>
              <a:lnSpc>
                <a:spcPct val="108000"/>
              </a:lnSpc>
              <a:spcBef>
                <a:spcPts val="0"/>
              </a:spcBef>
              <a:spcAft>
                <a:spcPts val="400"/>
              </a:spcAft>
            </a:pPr>
            <a:r>
              <a:rPr sz="1250" b="1">
                <a:solidFill>
                  <a:srgbClr val="34D399"/>
                </a:solidFill>
                <a:latin typeface="Montserrat"/>
              </a:rPr>
              <a:t>•  </a:t>
            </a:r>
            <a:r>
              <a:rPr sz="1250">
                <a:solidFill>
                  <a:srgbClr val="F7F9FC"/>
                </a:solidFill>
                <a:latin typeface="Montserrat"/>
              </a:rPr>
              <a:t>H100 allocation and BF16 tensor path work.</a:t>
            </a:r>
          </a:p>
          <a:p>
            <a:pPr>
              <a:lnSpc>
                <a:spcPct val="108000"/>
              </a:lnSpc>
              <a:spcBef>
                <a:spcPts val="0"/>
              </a:spcBef>
              <a:spcAft>
                <a:spcPts val="400"/>
              </a:spcAft>
            </a:pPr>
            <a:r>
              <a:rPr sz="1250" b="1">
                <a:solidFill>
                  <a:srgbClr val="34D399"/>
                </a:solidFill>
                <a:latin typeface="Montserrat"/>
              </a:rPr>
              <a:t>•  </a:t>
            </a:r>
            <a:r>
              <a:rPr sz="1250">
                <a:solidFill>
                  <a:srgbClr val="F7F9FC"/>
                </a:solidFill>
                <a:latin typeface="Montserrat"/>
              </a:rPr>
              <a:t>Real controls can be loaded without densifying the full matrix.</a:t>
            </a:r>
          </a:p>
          <a:p>
            <a:pPr>
              <a:lnSpc>
                <a:spcPct val="108000"/>
              </a:lnSpc>
              <a:spcBef>
                <a:spcPts val="0"/>
              </a:spcBef>
              <a:spcAft>
                <a:spcPts val="400"/>
              </a:spcAft>
            </a:pPr>
            <a:r>
              <a:rPr sz="1250" b="1">
                <a:solidFill>
                  <a:srgbClr val="34D399"/>
                </a:solidFill>
                <a:latin typeface="Montserrat"/>
              </a:rPr>
              <a:t>•  </a:t>
            </a:r>
            <a:r>
              <a:rPr sz="1250">
                <a:solidFill>
                  <a:srgbClr val="F7F9FC"/>
                </a:solidFill>
                <a:latin typeface="Montserrat"/>
              </a:rPr>
              <a:t>Sparse 360,000 × 18,533 output can be written.</a:t>
            </a:r>
          </a:p>
          <a:p>
            <a:pPr>
              <a:lnSpc>
                <a:spcPct val="108000"/>
              </a:lnSpc>
              <a:spcBef>
                <a:spcPts val="0"/>
              </a:spcBef>
              <a:spcAft>
                <a:spcPts val="400"/>
              </a:spcAft>
            </a:pPr>
            <a:r>
              <a:rPr sz="1250" b="1">
                <a:solidFill>
                  <a:srgbClr val="34D399"/>
                </a:solidFill>
                <a:latin typeface="Montserrat"/>
              </a:rPr>
              <a:t>•  </a:t>
            </a:r>
            <a:r>
              <a:rPr sz="1250">
                <a:solidFill>
                  <a:srgbClr val="F7F9FC"/>
                </a:solidFill>
                <a:latin typeface="Montserrat"/>
              </a:rPr>
              <a:t>Official target, context, count, and gene checks pass.</a:t>
            </a:r>
          </a:p>
          <a:p>
            <a:pPr>
              <a:lnSpc>
                <a:spcPct val="108000"/>
              </a:lnSpc>
              <a:spcBef>
                <a:spcPts val="0"/>
              </a:spcBef>
              <a:spcAft>
                <a:spcPts val="400"/>
              </a:spcAft>
            </a:pPr>
            <a:r>
              <a:rPr sz="1250" b="1">
                <a:solidFill>
                  <a:srgbClr val="34D399"/>
                </a:solidFill>
                <a:latin typeface="Montserrat"/>
              </a:rPr>
              <a:t>•  </a:t>
            </a:r>
            <a:r>
              <a:rPr sz="1250">
                <a:solidFill>
                  <a:srgbClr val="F7F9FC"/>
                </a:solidFill>
                <a:latin typeface="Montserrat"/>
              </a:rPr>
              <a:t>The .vcc packaging workflow is reproducible.</a:t>
            </a:r>
          </a:p>
        </p:txBody>
      </p:sp>
      <p:sp>
        <p:nvSpPr>
          <p:cNvPr id="14" name="Rounded Rectangle 13"/>
          <p:cNvSpPr/>
          <p:nvPr/>
        </p:nvSpPr>
        <p:spPr>
          <a:xfrm>
            <a:off x="5998464" y="1554480"/>
            <a:ext cx="5468112" cy="3566160"/>
          </a:xfrm>
          <a:prstGeom prst="roundRect">
            <a:avLst/>
          </a:prstGeom>
          <a:solidFill>
            <a:srgbClr val="111C31"/>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72784" y="1810512"/>
            <a:ext cx="987552" cy="256032"/>
          </a:xfrm>
          <a:prstGeom prst="round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784" y="1815084"/>
            <a:ext cx="98755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NOT PROVEN</a:t>
            </a:r>
          </a:p>
        </p:txBody>
      </p:sp>
      <p:sp>
        <p:nvSpPr>
          <p:cNvPr id="17" name="TextBox 16"/>
          <p:cNvSpPr txBox="1"/>
          <p:nvPr/>
        </p:nvSpPr>
        <p:spPr>
          <a:xfrm>
            <a:off x="6291072" y="2340864"/>
            <a:ext cx="4663440" cy="2267712"/>
          </a:xfrm>
          <a:prstGeom prst="rect">
            <a:avLst/>
          </a:prstGeom>
          <a:noFill/>
        </p:spPr>
        <p:txBody>
          <a:bodyPr wrap="square" lIns="18288" rIns="18288" tIns="18288" bIns="18288">
            <a:spAutoFit/>
          </a:bodyPr>
          <a:lstStyle/>
          <a:p>
            <a:pPr>
              <a:lnSpc>
                <a:spcPct val="108000"/>
              </a:lnSpc>
              <a:spcBef>
                <a:spcPts val="0"/>
              </a:spcBef>
              <a:spcAft>
                <a:spcPts val="400"/>
              </a:spcAft>
            </a:pPr>
            <a:r>
              <a:rPr sz="1250" b="1">
                <a:solidFill>
                  <a:srgbClr val="FB7185"/>
                </a:solidFill>
                <a:latin typeface="Montserrat"/>
              </a:rPr>
              <a:t>•  </a:t>
            </a:r>
            <a:r>
              <a:rPr sz="1250">
                <a:solidFill>
                  <a:srgbClr val="F7F9FC"/>
                </a:solidFill>
                <a:latin typeface="Montserrat"/>
              </a:rPr>
              <a:t>No target-specific response was learned.</a:t>
            </a:r>
          </a:p>
          <a:p>
            <a:pPr>
              <a:lnSpc>
                <a:spcPct val="108000"/>
              </a:lnSpc>
              <a:spcBef>
                <a:spcPts val="0"/>
              </a:spcBef>
              <a:spcAft>
                <a:spcPts val="400"/>
              </a:spcAft>
            </a:pPr>
            <a:r>
              <a:rPr sz="1250" b="1">
                <a:solidFill>
                  <a:srgbClr val="FB7185"/>
                </a:solidFill>
                <a:latin typeface="Montserrat"/>
              </a:rPr>
              <a:t>•  </a:t>
            </a:r>
            <a:r>
              <a:rPr sz="1250">
                <a:solidFill>
                  <a:srgbClr val="F7F9FC"/>
                </a:solidFill>
                <a:latin typeface="Montserrat"/>
              </a:rPr>
              <a:t>No cross-context generalization was evaluated.</a:t>
            </a:r>
          </a:p>
          <a:p>
            <a:pPr>
              <a:lnSpc>
                <a:spcPct val="108000"/>
              </a:lnSpc>
              <a:spcBef>
                <a:spcPts val="0"/>
              </a:spcBef>
              <a:spcAft>
                <a:spcPts val="400"/>
              </a:spcAft>
            </a:pPr>
            <a:r>
              <a:rPr sz="1250" b="1">
                <a:solidFill>
                  <a:srgbClr val="FB7185"/>
                </a:solidFill>
                <a:latin typeface="Montserrat"/>
              </a:rPr>
              <a:t>•  </a:t>
            </a:r>
            <a:r>
              <a:rPr sz="1250">
                <a:solidFill>
                  <a:srgbClr val="F7F9FC"/>
                </a:solidFill>
                <a:latin typeface="Montserrat"/>
              </a:rPr>
              <a:t>No six-metric gain was established.</a:t>
            </a:r>
          </a:p>
          <a:p>
            <a:pPr>
              <a:lnSpc>
                <a:spcPct val="108000"/>
              </a:lnSpc>
              <a:spcBef>
                <a:spcPts val="0"/>
              </a:spcBef>
              <a:spcAft>
                <a:spcPts val="400"/>
              </a:spcAft>
            </a:pPr>
            <a:r>
              <a:rPr sz="1250" b="1">
                <a:solidFill>
                  <a:srgbClr val="FB7185"/>
                </a:solidFill>
                <a:latin typeface="Montserrat"/>
              </a:rPr>
              <a:t>•  </a:t>
            </a:r>
            <a:r>
              <a:rPr sz="1250">
                <a:solidFill>
                  <a:srgbClr val="F7F9FC"/>
                </a:solidFill>
                <a:latin typeface="Montserrat"/>
              </a:rPr>
              <a:t>No public perturbation data were used.</a:t>
            </a:r>
          </a:p>
          <a:p>
            <a:pPr>
              <a:lnSpc>
                <a:spcPct val="108000"/>
              </a:lnSpc>
              <a:spcBef>
                <a:spcPts val="0"/>
              </a:spcBef>
              <a:spcAft>
                <a:spcPts val="400"/>
              </a:spcAft>
            </a:pPr>
            <a:r>
              <a:rPr sz="1250" b="1">
                <a:solidFill>
                  <a:srgbClr val="FB7185"/>
                </a:solidFill>
                <a:latin typeface="Montserrat"/>
              </a:rPr>
              <a:t>•  </a:t>
            </a:r>
            <a:r>
              <a:rPr sz="1250">
                <a:solidFill>
                  <a:srgbClr val="F7F9FC"/>
                </a:solidFill>
                <a:latin typeface="Montserrat"/>
              </a:rPr>
              <a:t>The generated null artifact must not be submitted.</a:t>
            </a:r>
          </a:p>
        </p:txBody>
      </p:sp>
      <p:sp>
        <p:nvSpPr>
          <p:cNvPr id="18" name="Rounded Rectangle 17"/>
          <p:cNvSpPr/>
          <p:nvPr/>
        </p:nvSpPr>
        <p:spPr>
          <a:xfrm>
            <a:off x="1051560" y="5468112"/>
            <a:ext cx="10076688" cy="457200"/>
          </a:xfrm>
          <a:prstGeom prst="roundRect">
            <a:avLst/>
          </a:prstGeom>
          <a:solidFill>
            <a:srgbClr val="FB7185"/>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98448" y="5577840"/>
            <a:ext cx="9582912" cy="23774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50" b="1" i="0">
                <a:solidFill>
                  <a:srgbClr val="F7F9FC"/>
                </a:solidFill>
                <a:latin typeface="Montserrat"/>
              </a:rPr>
              <a:t>DO_NOT_SUBMIT = an intentional safety label, not a candidate model name.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EVALUATION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score is a ruler—not a percentage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Two biological anchors make six different metrics comparable.</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VCC Evaluation; VCC CLI Guide; cell-eval2 metric specification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18</a:t>
            </a:r>
          </a:p>
        </p:txBody>
      </p:sp>
      <p:cxnSp>
        <p:nvCxnSpPr>
          <p:cNvPr id="10" name="Connector 9"/>
          <p:cNvCxnSpPr/>
          <p:nvPr/>
        </p:nvCxnSpPr>
        <p:spPr>
          <a:xfrm>
            <a:off x="932688" y="2816352"/>
            <a:ext cx="10177272" cy="0"/>
          </a:xfrm>
          <a:prstGeom prst="line">
            <a:avLst/>
          </a:prstGeom>
          <a:ln w="50800">
            <a:solidFill>
              <a:srgbClr val="71809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3977639" y="2468880"/>
            <a:ext cx="694944" cy="694944"/>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85031" y="1755648"/>
            <a:ext cx="1280160"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600" b="1" i="0">
                <a:solidFill>
                  <a:srgbClr val="FB7185"/>
                </a:solidFill>
                <a:latin typeface="Montserrat"/>
              </a:rPr>
              <a:t>−0.0206</a:t>
            </a:r>
          </a:p>
        </p:txBody>
      </p:sp>
      <p:sp>
        <p:nvSpPr>
          <p:cNvPr id="13" name="TextBox 12"/>
          <p:cNvSpPr txBox="1"/>
          <p:nvPr/>
        </p:nvSpPr>
        <p:spPr>
          <a:xfrm>
            <a:off x="3410711" y="3364992"/>
            <a:ext cx="1828800" cy="53035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7F9FC"/>
                </a:solidFill>
                <a:latin typeface="Montserrat"/>
              </a:rPr>
              <a:t>current team</a:t>
            </a:r>
          </a:p>
        </p:txBody>
      </p:sp>
      <p:sp>
        <p:nvSpPr>
          <p:cNvPr id="14" name="Oval 13"/>
          <p:cNvSpPr/>
          <p:nvPr/>
        </p:nvSpPr>
        <p:spPr>
          <a:xfrm>
            <a:off x="4828032" y="2468880"/>
            <a:ext cx="694944" cy="694944"/>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1755648"/>
            <a:ext cx="1280160"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800" b="1" i="0">
                <a:solidFill>
                  <a:srgbClr val="FBBF24"/>
                </a:solidFill>
                <a:latin typeface="Montserrat"/>
              </a:rPr>
              <a:t>0</a:t>
            </a:r>
          </a:p>
        </p:txBody>
      </p:sp>
      <p:sp>
        <p:nvSpPr>
          <p:cNvPr id="16" name="TextBox 15"/>
          <p:cNvSpPr txBox="1"/>
          <p:nvPr/>
        </p:nvSpPr>
        <p:spPr>
          <a:xfrm>
            <a:off x="4261104" y="3364992"/>
            <a:ext cx="1828800" cy="53035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7F9FC"/>
                </a:solidFill>
                <a:latin typeface="Montserrat"/>
              </a:rPr>
              <a:t>mean-response baseline</a:t>
            </a:r>
          </a:p>
        </p:txBody>
      </p:sp>
      <p:sp>
        <p:nvSpPr>
          <p:cNvPr id="17" name="Oval 16"/>
          <p:cNvSpPr/>
          <p:nvPr/>
        </p:nvSpPr>
        <p:spPr>
          <a:xfrm>
            <a:off x="8631936" y="2468880"/>
            <a:ext cx="694944" cy="69494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9327" y="1755648"/>
            <a:ext cx="1280160"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800" b="1" i="0">
                <a:solidFill>
                  <a:srgbClr val="34D399"/>
                </a:solidFill>
                <a:latin typeface="Montserrat"/>
              </a:rPr>
              <a:t>1</a:t>
            </a:r>
          </a:p>
        </p:txBody>
      </p:sp>
      <p:sp>
        <p:nvSpPr>
          <p:cNvPr id="19" name="TextBox 18"/>
          <p:cNvSpPr txBox="1"/>
          <p:nvPr/>
        </p:nvSpPr>
        <p:spPr>
          <a:xfrm>
            <a:off x="8065008" y="3364992"/>
            <a:ext cx="1828800" cy="53035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7F9FC"/>
                </a:solidFill>
                <a:latin typeface="Montserrat"/>
              </a:rPr>
              <a:t>split-half replicate</a:t>
            </a:r>
          </a:p>
        </p:txBody>
      </p:sp>
      <p:sp>
        <p:nvSpPr>
          <p:cNvPr id="20" name="TextBox 19"/>
          <p:cNvSpPr txBox="1"/>
          <p:nvPr/>
        </p:nvSpPr>
        <p:spPr>
          <a:xfrm>
            <a:off x="877824" y="4224528"/>
            <a:ext cx="2871216"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0" i="0">
                <a:solidFill>
                  <a:srgbClr val="A9B5CC"/>
                </a:solidFill>
                <a:latin typeface="Montserrat"/>
              </a:rPr>
              <a:t>worse than baseline</a:t>
            </a:r>
          </a:p>
        </p:txBody>
      </p:sp>
      <p:sp>
        <p:nvSpPr>
          <p:cNvPr id="21" name="TextBox 20"/>
          <p:cNvSpPr txBox="1"/>
          <p:nvPr/>
        </p:nvSpPr>
        <p:spPr>
          <a:xfrm>
            <a:off x="3803904" y="4224528"/>
            <a:ext cx="3913632"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0" i="0">
                <a:solidFill>
                  <a:srgbClr val="A9B5CC"/>
                </a:solidFill>
                <a:latin typeface="Montserrat"/>
              </a:rPr>
              <a:t>meaningful model progress</a:t>
            </a:r>
          </a:p>
        </p:txBody>
      </p:sp>
      <p:sp>
        <p:nvSpPr>
          <p:cNvPr id="22" name="TextBox 21"/>
          <p:cNvSpPr txBox="1"/>
          <p:nvPr/>
        </p:nvSpPr>
        <p:spPr>
          <a:xfrm>
            <a:off x="7772400" y="4224528"/>
            <a:ext cx="349300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0" i="0">
                <a:solidFill>
                  <a:srgbClr val="A9B5CC"/>
                </a:solidFill>
                <a:latin typeface="Montserrat"/>
              </a:rPr>
              <a:t>experimental reproducibility</a:t>
            </a:r>
          </a:p>
        </p:txBody>
      </p:sp>
      <p:sp>
        <p:nvSpPr>
          <p:cNvPr id="23" name="Rounded Rectangle 22"/>
          <p:cNvSpPr/>
          <p:nvPr/>
        </p:nvSpPr>
        <p:spPr>
          <a:xfrm>
            <a:off x="1024128" y="4882896"/>
            <a:ext cx="10131552" cy="749808"/>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98448" y="5056632"/>
            <a:ext cx="5468112"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A5F3FC"/>
                </a:solidFill>
                <a:latin typeface="Montserrat"/>
              </a:rPr>
              <a:t>Overall = unweighted mean of 18 context × metric normalized cells</a:t>
            </a:r>
          </a:p>
        </p:txBody>
      </p:sp>
      <p:sp>
        <p:nvSpPr>
          <p:cNvPr id="25" name="TextBox 24"/>
          <p:cNvSpPr txBox="1"/>
          <p:nvPr/>
        </p:nvSpPr>
        <p:spPr>
          <a:xfrm>
            <a:off x="6620256" y="5056632"/>
            <a:ext cx="4224528"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0" i="0">
                <a:solidFill>
                  <a:srgbClr val="F7F9FC"/>
                </a:solidFill>
                <a:latin typeface="Montserrat"/>
              </a:rPr>
              <a:t>A negative overall cannot identify the failure; retrieve all six metrics by context.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EVALUATION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Six metrics = six failure modes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single overall score hides whether identity, magnitude, direction, significance, or diversity failed.</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VCC 2026 metric specification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19</a:t>
            </a:r>
          </a:p>
        </p:txBody>
      </p:sp>
      <p:sp>
        <p:nvSpPr>
          <p:cNvPr id="10" name="Rounded Rectangle 9"/>
          <p:cNvSpPr/>
          <p:nvPr/>
        </p:nvSpPr>
        <p:spPr>
          <a:xfrm>
            <a:off x="640080" y="1554480"/>
            <a:ext cx="3493008" cy="1627632"/>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1773936"/>
            <a:ext cx="713232"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778507"/>
            <a:ext cx="71323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PDS</a:t>
            </a:r>
          </a:p>
        </p:txBody>
      </p:sp>
      <p:sp>
        <p:nvSpPr>
          <p:cNvPr id="13" name="TextBox 12"/>
          <p:cNvSpPr txBox="1"/>
          <p:nvPr/>
        </p:nvSpPr>
        <p:spPr>
          <a:xfrm>
            <a:off x="868680" y="2221991"/>
            <a:ext cx="3035808" cy="47548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Is the perturbation distinguishable?</a:t>
            </a:r>
          </a:p>
        </p:txBody>
      </p:sp>
      <p:sp>
        <p:nvSpPr>
          <p:cNvPr id="14" name="TextBox 13"/>
          <p:cNvSpPr txBox="1"/>
          <p:nvPr/>
        </p:nvSpPr>
        <p:spPr>
          <a:xfrm>
            <a:off x="868680" y="2779776"/>
            <a:ext cx="3035808"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0" i="0">
                <a:solidFill>
                  <a:srgbClr val="A9B5CC"/>
                </a:solidFill>
                <a:latin typeface="Source Code Pro"/>
              </a:rPr>
              <a:t>rank / direction</a:t>
            </a:r>
          </a:p>
        </p:txBody>
      </p:sp>
      <p:sp>
        <p:nvSpPr>
          <p:cNvPr id="15" name="Rounded Rectangle 14"/>
          <p:cNvSpPr/>
          <p:nvPr/>
        </p:nvSpPr>
        <p:spPr>
          <a:xfrm>
            <a:off x="4389120" y="1554480"/>
            <a:ext cx="3493008" cy="1627632"/>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617720" y="1773936"/>
            <a:ext cx="713232"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1778507"/>
            <a:ext cx="71323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MSE</a:t>
            </a:r>
          </a:p>
        </p:txBody>
      </p:sp>
      <p:sp>
        <p:nvSpPr>
          <p:cNvPr id="18" name="TextBox 17"/>
          <p:cNvSpPr txBox="1"/>
          <p:nvPr/>
        </p:nvSpPr>
        <p:spPr>
          <a:xfrm>
            <a:off x="4617720" y="2221991"/>
            <a:ext cx="3035808" cy="47548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Is the group expression accurate?</a:t>
            </a:r>
          </a:p>
        </p:txBody>
      </p:sp>
      <p:sp>
        <p:nvSpPr>
          <p:cNvPr id="19" name="TextBox 18"/>
          <p:cNvSpPr txBox="1"/>
          <p:nvPr/>
        </p:nvSpPr>
        <p:spPr>
          <a:xfrm>
            <a:off x="4617720" y="2779776"/>
            <a:ext cx="3035808"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0" i="0">
                <a:solidFill>
                  <a:srgbClr val="A9B5CC"/>
                </a:solidFill>
                <a:latin typeface="Source Code Pro"/>
              </a:rPr>
              <a:t>centroid / magnitude</a:t>
            </a:r>
          </a:p>
        </p:txBody>
      </p:sp>
      <p:sp>
        <p:nvSpPr>
          <p:cNvPr id="20" name="Rounded Rectangle 19"/>
          <p:cNvSpPr/>
          <p:nvPr/>
        </p:nvSpPr>
        <p:spPr>
          <a:xfrm>
            <a:off x="8138159" y="1554480"/>
            <a:ext cx="3493008" cy="1627632"/>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366759" y="1773936"/>
            <a:ext cx="713232" cy="256032"/>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59" y="1778507"/>
            <a:ext cx="71323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FID</a:t>
            </a:r>
          </a:p>
        </p:txBody>
      </p:sp>
      <p:sp>
        <p:nvSpPr>
          <p:cNvPr id="23" name="TextBox 22"/>
          <p:cNvSpPr txBox="1"/>
          <p:nvPr/>
        </p:nvSpPr>
        <p:spPr>
          <a:xfrm>
            <a:off x="8366759" y="2221991"/>
            <a:ext cx="3035808" cy="47548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Are significant directions correct?</a:t>
            </a:r>
          </a:p>
        </p:txBody>
      </p:sp>
      <p:sp>
        <p:nvSpPr>
          <p:cNvPr id="24" name="TextBox 23"/>
          <p:cNvSpPr txBox="1"/>
          <p:nvPr/>
        </p:nvSpPr>
        <p:spPr>
          <a:xfrm>
            <a:off x="8366759" y="2779776"/>
            <a:ext cx="3035808"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0" i="0">
                <a:solidFill>
                  <a:srgbClr val="A9B5CC"/>
                </a:solidFill>
                <a:latin typeface="Source Code Pro"/>
              </a:rPr>
              <a:t>sign + coverage</a:t>
            </a:r>
          </a:p>
        </p:txBody>
      </p:sp>
      <p:sp>
        <p:nvSpPr>
          <p:cNvPr id="25" name="Rounded Rectangle 24"/>
          <p:cNvSpPr/>
          <p:nvPr/>
        </p:nvSpPr>
        <p:spPr>
          <a:xfrm>
            <a:off x="640080" y="3547872"/>
            <a:ext cx="3493008" cy="1627632"/>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68680" y="3767328"/>
            <a:ext cx="713232"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3771900"/>
            <a:ext cx="71323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REACH</a:t>
            </a:r>
          </a:p>
        </p:txBody>
      </p:sp>
      <p:sp>
        <p:nvSpPr>
          <p:cNvPr id="28" name="TextBox 27"/>
          <p:cNvSpPr txBox="1"/>
          <p:nvPr/>
        </p:nvSpPr>
        <p:spPr>
          <a:xfrm>
            <a:off x="868680" y="4215383"/>
            <a:ext cx="3035808" cy="47548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How deep is the 90%-correct prefix?</a:t>
            </a:r>
          </a:p>
        </p:txBody>
      </p:sp>
      <p:sp>
        <p:nvSpPr>
          <p:cNvPr id="29" name="TextBox 28"/>
          <p:cNvSpPr txBox="1"/>
          <p:nvPr/>
        </p:nvSpPr>
        <p:spPr>
          <a:xfrm>
            <a:off x="868680" y="4773168"/>
            <a:ext cx="3035808"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0" i="0">
                <a:solidFill>
                  <a:srgbClr val="A9B5CC"/>
                </a:solidFill>
                <a:latin typeface="Source Code Pro"/>
              </a:rPr>
              <a:t>confidence ranking</a:t>
            </a:r>
          </a:p>
        </p:txBody>
      </p:sp>
      <p:sp>
        <p:nvSpPr>
          <p:cNvPr id="30" name="Rounded Rectangle 29"/>
          <p:cNvSpPr/>
          <p:nvPr/>
        </p:nvSpPr>
        <p:spPr>
          <a:xfrm>
            <a:off x="4389120" y="3547872"/>
            <a:ext cx="3493008" cy="1627632"/>
          </a:xfrm>
          <a:prstGeom prst="roundRect">
            <a:avLst/>
          </a:prstGeom>
          <a:solidFill>
            <a:srgbClr val="111C31"/>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617720" y="3767328"/>
            <a:ext cx="713232" cy="256032"/>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17720" y="3771900"/>
            <a:ext cx="71323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JAC</a:t>
            </a:r>
          </a:p>
        </p:txBody>
      </p:sp>
      <p:sp>
        <p:nvSpPr>
          <p:cNvPr id="33" name="TextBox 32"/>
          <p:cNvSpPr txBox="1"/>
          <p:nvPr/>
        </p:nvSpPr>
        <p:spPr>
          <a:xfrm>
            <a:off x="4617720" y="4215383"/>
            <a:ext cx="3035808" cy="47548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Do significant gene sets overlap?</a:t>
            </a:r>
          </a:p>
        </p:txBody>
      </p:sp>
      <p:sp>
        <p:nvSpPr>
          <p:cNvPr id="34" name="TextBox 33"/>
          <p:cNvSpPr txBox="1"/>
          <p:nvPr/>
        </p:nvSpPr>
        <p:spPr>
          <a:xfrm>
            <a:off x="4617720" y="4773168"/>
            <a:ext cx="3035808"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0" i="0">
                <a:solidFill>
                  <a:srgbClr val="A9B5CC"/>
                </a:solidFill>
                <a:latin typeface="Source Code Pro"/>
              </a:rPr>
              <a:t>DE calibration</a:t>
            </a:r>
          </a:p>
        </p:txBody>
      </p:sp>
      <p:sp>
        <p:nvSpPr>
          <p:cNvPr id="35" name="Rounded Rectangle 34"/>
          <p:cNvSpPr/>
          <p:nvPr/>
        </p:nvSpPr>
        <p:spPr>
          <a:xfrm>
            <a:off x="8138159" y="3547872"/>
            <a:ext cx="3493008" cy="1627632"/>
          </a:xfrm>
          <a:prstGeom prst="roundRect">
            <a:avLst/>
          </a:prstGeom>
          <a:solidFill>
            <a:srgbClr val="111C31"/>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366759" y="3767328"/>
            <a:ext cx="713232" cy="256032"/>
          </a:xfrm>
          <a:prstGeom prst="round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59" y="3771900"/>
            <a:ext cx="713232"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NMAE</a:t>
            </a:r>
          </a:p>
        </p:txBody>
      </p:sp>
      <p:sp>
        <p:nvSpPr>
          <p:cNvPr id="38" name="TextBox 37"/>
          <p:cNvSpPr txBox="1"/>
          <p:nvPr/>
        </p:nvSpPr>
        <p:spPr>
          <a:xfrm>
            <a:off x="8366759" y="4215383"/>
            <a:ext cx="3035808" cy="47548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Are reference-significant LFCs accurate?</a:t>
            </a:r>
          </a:p>
        </p:txBody>
      </p:sp>
      <p:sp>
        <p:nvSpPr>
          <p:cNvPr id="39" name="TextBox 38"/>
          <p:cNvSpPr txBox="1"/>
          <p:nvPr/>
        </p:nvSpPr>
        <p:spPr>
          <a:xfrm>
            <a:off x="8366759" y="4773168"/>
            <a:ext cx="3035808"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0" i="0">
                <a:solidFill>
                  <a:srgbClr val="A9B5CC"/>
                </a:solidFill>
                <a:latin typeface="Source Code Pro"/>
              </a:rPr>
              <a:t>effect size</a:t>
            </a:r>
          </a:p>
        </p:txBody>
      </p:sp>
      <p:sp>
        <p:nvSpPr>
          <p:cNvPr id="40" name="Rounded Rectangle 39"/>
          <p:cNvSpPr/>
          <p:nvPr/>
        </p:nvSpPr>
        <p:spPr>
          <a:xfrm>
            <a:off x="969264" y="5605272"/>
            <a:ext cx="10241280" cy="411480"/>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88720" y="5696712"/>
            <a:ext cx="980236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20" b="1" i="0">
                <a:solidFill>
                  <a:srgbClr val="FB7185"/>
                </a:solidFill>
                <a:latin typeface="Montserrat"/>
              </a:rPr>
              <a:t>Always inspect 3 contexts × 6 metrics. Overall alone is not a debugging signal.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EVALUATION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PDS: make each target response identifiable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Correct direction is useful only if it is more similar to the matching perturbation than to the other 299.</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VCC 2026 metric specification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20</a:t>
            </a:r>
          </a:p>
        </p:txBody>
      </p:sp>
      <p:sp>
        <p:nvSpPr>
          <p:cNvPr id="10" name="Oval 9"/>
          <p:cNvSpPr/>
          <p:nvPr/>
        </p:nvSpPr>
        <p:spPr>
          <a:xfrm>
            <a:off x="1152144" y="2468880"/>
            <a:ext cx="960120" cy="960120"/>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2468880"/>
            <a:ext cx="960120" cy="96012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000" b="1" i="0">
                <a:solidFill>
                  <a:srgbClr val="08101F"/>
                </a:solidFill>
                <a:latin typeface="Source Code Pro"/>
              </a:rPr>
              <a:t>Δ̂p</a:t>
            </a:r>
          </a:p>
        </p:txBody>
      </p:sp>
      <p:sp>
        <p:nvSpPr>
          <p:cNvPr id="12" name="TextBox 11"/>
          <p:cNvSpPr txBox="1"/>
          <p:nvPr/>
        </p:nvSpPr>
        <p:spPr>
          <a:xfrm>
            <a:off x="804672" y="3566160"/>
            <a:ext cx="164592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0" i="0">
                <a:solidFill>
                  <a:srgbClr val="A9B5CC"/>
                </a:solidFill>
                <a:latin typeface="Montserrat"/>
              </a:rPr>
              <a:t>predicted delta</a:t>
            </a:r>
          </a:p>
        </p:txBody>
      </p:sp>
      <p:cxnSp>
        <p:nvCxnSpPr>
          <p:cNvPr id="13" name="Connector 12"/>
          <p:cNvCxnSpPr/>
          <p:nvPr/>
        </p:nvCxnSpPr>
        <p:spPr>
          <a:xfrm>
            <a:off x="2359152" y="2953512"/>
            <a:ext cx="804672"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3108960" y="2898648"/>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44768" y="2907792"/>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44768" y="2907792"/>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1</a:t>
            </a:r>
          </a:p>
        </p:txBody>
      </p:sp>
      <p:sp>
        <p:nvSpPr>
          <p:cNvPr id="17" name="Oval 16"/>
          <p:cNvSpPr/>
          <p:nvPr/>
        </p:nvSpPr>
        <p:spPr>
          <a:xfrm>
            <a:off x="5970808" y="3383280"/>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70808" y="3383280"/>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2</a:t>
            </a:r>
          </a:p>
        </p:txBody>
      </p:sp>
      <p:sp>
        <p:nvSpPr>
          <p:cNvPr id="19" name="Oval 18"/>
          <p:cNvSpPr/>
          <p:nvPr/>
        </p:nvSpPr>
        <p:spPr>
          <a:xfrm>
            <a:off x="5495544" y="3731361"/>
            <a:ext cx="320040" cy="320040"/>
          </a:xfrm>
          <a:prstGeom prst="ellipse">
            <a:avLst/>
          </a:prstGeom>
          <a:solidFill>
            <a:srgbClr val="34D399"/>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95544" y="3731361"/>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1" i="0">
                <a:solidFill>
                  <a:srgbClr val="08101F"/>
                </a:solidFill>
                <a:latin typeface="Montserrat"/>
              </a:rPr>
              <a:t>p</a:t>
            </a:r>
          </a:p>
        </p:txBody>
      </p:sp>
      <p:sp>
        <p:nvSpPr>
          <p:cNvPr id="21" name="Oval 20"/>
          <p:cNvSpPr/>
          <p:nvPr/>
        </p:nvSpPr>
        <p:spPr>
          <a:xfrm>
            <a:off x="4846320" y="3858768"/>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0" y="3858768"/>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4</a:t>
            </a:r>
          </a:p>
        </p:txBody>
      </p:sp>
      <p:sp>
        <p:nvSpPr>
          <p:cNvPr id="23" name="Oval 22"/>
          <p:cNvSpPr/>
          <p:nvPr/>
        </p:nvSpPr>
        <p:spPr>
          <a:xfrm>
            <a:off x="4197096" y="3731361"/>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97096" y="3731361"/>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5</a:t>
            </a:r>
          </a:p>
        </p:txBody>
      </p:sp>
      <p:sp>
        <p:nvSpPr>
          <p:cNvPr id="25" name="Oval 24"/>
          <p:cNvSpPr/>
          <p:nvPr/>
        </p:nvSpPr>
        <p:spPr>
          <a:xfrm>
            <a:off x="3721831" y="3383280"/>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21831" y="3383280"/>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6</a:t>
            </a:r>
          </a:p>
        </p:txBody>
      </p:sp>
      <p:sp>
        <p:nvSpPr>
          <p:cNvPr id="27" name="Oval 26"/>
          <p:cNvSpPr/>
          <p:nvPr/>
        </p:nvSpPr>
        <p:spPr>
          <a:xfrm>
            <a:off x="3547872" y="2907792"/>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547872" y="2907792"/>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7</a:t>
            </a:r>
          </a:p>
        </p:txBody>
      </p:sp>
      <p:sp>
        <p:nvSpPr>
          <p:cNvPr id="29" name="Oval 28"/>
          <p:cNvSpPr/>
          <p:nvPr/>
        </p:nvSpPr>
        <p:spPr>
          <a:xfrm>
            <a:off x="3721831" y="2432304"/>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721831" y="2432304"/>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8</a:t>
            </a:r>
          </a:p>
        </p:txBody>
      </p:sp>
      <p:sp>
        <p:nvSpPr>
          <p:cNvPr id="31" name="Oval 30"/>
          <p:cNvSpPr/>
          <p:nvPr/>
        </p:nvSpPr>
        <p:spPr>
          <a:xfrm>
            <a:off x="4197095" y="2084222"/>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97095" y="2084222"/>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9</a:t>
            </a:r>
          </a:p>
        </p:txBody>
      </p:sp>
      <p:sp>
        <p:nvSpPr>
          <p:cNvPr id="33" name="Oval 32"/>
          <p:cNvSpPr/>
          <p:nvPr/>
        </p:nvSpPr>
        <p:spPr>
          <a:xfrm>
            <a:off x="4846320" y="1956816"/>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46320" y="1956816"/>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10</a:t>
            </a:r>
          </a:p>
        </p:txBody>
      </p:sp>
      <p:sp>
        <p:nvSpPr>
          <p:cNvPr id="35" name="Oval 34"/>
          <p:cNvSpPr/>
          <p:nvPr/>
        </p:nvSpPr>
        <p:spPr>
          <a:xfrm>
            <a:off x="5495544" y="2084222"/>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95544" y="2084222"/>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11</a:t>
            </a:r>
          </a:p>
        </p:txBody>
      </p:sp>
      <p:sp>
        <p:nvSpPr>
          <p:cNvPr id="37" name="Oval 36"/>
          <p:cNvSpPr/>
          <p:nvPr/>
        </p:nvSpPr>
        <p:spPr>
          <a:xfrm>
            <a:off x="5970808" y="2432303"/>
            <a:ext cx="320040" cy="320040"/>
          </a:xfrm>
          <a:prstGeom prst="ellipse">
            <a:avLst/>
          </a:prstGeom>
          <a:solidFill>
            <a:srgbClr val="172640"/>
          </a:solidFill>
          <a:ln w="12700">
            <a:solidFill>
              <a:srgbClr val="7180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970808" y="2432303"/>
            <a:ext cx="320040" cy="320040"/>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0" i="0">
                <a:solidFill>
                  <a:srgbClr val="A9B5CC"/>
                </a:solidFill>
                <a:latin typeface="Montserrat"/>
              </a:rPr>
              <a:t>12</a:t>
            </a:r>
          </a:p>
        </p:txBody>
      </p:sp>
      <p:sp>
        <p:nvSpPr>
          <p:cNvPr id="39" name="TextBox 38"/>
          <p:cNvSpPr txBox="1"/>
          <p:nvPr/>
        </p:nvSpPr>
        <p:spPr>
          <a:xfrm>
            <a:off x="3895344" y="4343400"/>
            <a:ext cx="2578608"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F7F9FC"/>
                </a:solidFill>
                <a:latin typeface="Montserrat"/>
              </a:rPr>
              <a:t>300 measured target deltas</a:t>
            </a:r>
          </a:p>
        </p:txBody>
      </p:sp>
      <p:sp>
        <p:nvSpPr>
          <p:cNvPr id="40" name="Rounded Rectangle 39"/>
          <p:cNvSpPr/>
          <p:nvPr/>
        </p:nvSpPr>
        <p:spPr>
          <a:xfrm>
            <a:off x="7443216" y="1691640"/>
            <a:ext cx="3840480" cy="3127248"/>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35824" y="1965960"/>
            <a:ext cx="3255264"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500" b="1" i="0">
                <a:solidFill>
                  <a:srgbClr val="C4B5FD"/>
                </a:solidFill>
                <a:latin typeface="Montserrat"/>
              </a:rPr>
              <a:t>Model behavior rewarded</a:t>
            </a:r>
          </a:p>
        </p:txBody>
      </p:sp>
      <p:sp>
        <p:nvSpPr>
          <p:cNvPr id="42" name="TextBox 41"/>
          <p:cNvSpPr txBox="1"/>
          <p:nvPr/>
        </p:nvSpPr>
        <p:spPr>
          <a:xfrm>
            <a:off x="7735824" y="2487168"/>
            <a:ext cx="3145536" cy="1700784"/>
          </a:xfrm>
          <a:prstGeom prst="rect">
            <a:avLst/>
          </a:prstGeom>
          <a:noFill/>
        </p:spPr>
        <p:txBody>
          <a:bodyPr wrap="square" lIns="18288" rIns="18288" tIns="18288" bIns="18288">
            <a:spAutoFit/>
          </a:bodyPr>
          <a:lstStyle/>
          <a:p>
            <a:pPr>
              <a:lnSpc>
                <a:spcPct val="108000"/>
              </a:lnSpc>
              <a:spcBef>
                <a:spcPts val="0"/>
              </a:spcBef>
              <a:spcAft>
                <a:spcPts val="400"/>
              </a:spcAft>
            </a:pPr>
            <a:r>
              <a:rPr sz="1180" b="1">
                <a:solidFill>
                  <a:srgbClr val="22D3EE"/>
                </a:solidFill>
                <a:latin typeface="Montserrat"/>
              </a:rPr>
              <a:t>•  </a:t>
            </a:r>
            <a:r>
              <a:rPr sz="1180">
                <a:solidFill>
                  <a:srgbClr val="F7F9FC"/>
                </a:solidFill>
                <a:latin typeface="Montserrat"/>
              </a:rPr>
              <a:t>target-specific multi-gene direction</a:t>
            </a:r>
          </a:p>
          <a:p>
            <a:pPr>
              <a:lnSpc>
                <a:spcPct val="108000"/>
              </a:lnSpc>
              <a:spcBef>
                <a:spcPts val="0"/>
              </a:spcBef>
              <a:spcAft>
                <a:spcPts val="400"/>
              </a:spcAft>
            </a:pPr>
            <a:r>
              <a:rPr sz="1180" b="1">
                <a:solidFill>
                  <a:srgbClr val="22D3EE"/>
                </a:solidFill>
                <a:latin typeface="Montserrat"/>
              </a:rPr>
              <a:t>•  </a:t>
            </a:r>
            <a:r>
              <a:rPr sz="1180">
                <a:solidFill>
                  <a:srgbClr val="F7F9FC"/>
                </a:solidFill>
                <a:latin typeface="Montserrat"/>
              </a:rPr>
              <a:t>correct relative geometry across the panel</a:t>
            </a:r>
          </a:p>
          <a:p>
            <a:pPr>
              <a:lnSpc>
                <a:spcPct val="108000"/>
              </a:lnSpc>
              <a:spcBef>
                <a:spcPts val="0"/>
              </a:spcBef>
              <a:spcAft>
                <a:spcPts val="400"/>
              </a:spcAft>
            </a:pPr>
            <a:r>
              <a:rPr sz="1180" b="1">
                <a:solidFill>
                  <a:srgbClr val="22D3EE"/>
                </a:solidFill>
                <a:latin typeface="Montserrat"/>
              </a:rPr>
              <a:t>•  </a:t>
            </a:r>
            <a:r>
              <a:rPr sz="1180">
                <a:solidFill>
                  <a:srgbClr val="F7F9FC"/>
                </a:solidFill>
                <a:latin typeface="Montserrat"/>
              </a:rPr>
              <a:t>robustness after excluding all 300 target genes</a:t>
            </a:r>
          </a:p>
          <a:p>
            <a:pPr>
              <a:lnSpc>
                <a:spcPct val="108000"/>
              </a:lnSpc>
              <a:spcBef>
                <a:spcPts val="0"/>
              </a:spcBef>
              <a:spcAft>
                <a:spcPts val="400"/>
              </a:spcAft>
            </a:pPr>
            <a:r>
              <a:rPr sz="1180" b="1">
                <a:solidFill>
                  <a:srgbClr val="22D3EE"/>
                </a:solidFill>
                <a:latin typeface="Montserrat"/>
              </a:rPr>
              <a:t>•  </a:t>
            </a:r>
            <a:r>
              <a:rPr sz="1180">
                <a:solidFill>
                  <a:srgbClr val="F7F9FC"/>
                </a:solidFill>
                <a:latin typeface="Montserrat"/>
              </a:rPr>
              <a:t>avoidance of one generic response for every target</a:t>
            </a:r>
          </a:p>
        </p:txBody>
      </p:sp>
      <p:sp>
        <p:nvSpPr>
          <p:cNvPr id="43" name="Rounded Rectangle 42"/>
          <p:cNvSpPr/>
          <p:nvPr/>
        </p:nvSpPr>
        <p:spPr>
          <a:xfrm>
            <a:off x="1005840" y="5193792"/>
            <a:ext cx="10104120" cy="530352"/>
          </a:xfrm>
          <a:prstGeom prst="roundRect">
            <a:avLst/>
          </a:prstGeom>
          <a:solidFill>
            <a:srgbClr val="0D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43584" y="5330952"/>
            <a:ext cx="96286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50" b="1" i="0">
                <a:solidFill>
                  <a:srgbClr val="FB7185"/>
                </a:solidFill>
                <a:latin typeface="Montserrat"/>
              </a:rPr>
              <a:t>Failure signature: similar output for every target → reasonable-looking cells, poor discrimination.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EVALUATION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Expression MSE: put the centroid in the right place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good distribution with the wrong mean still fails the competition.</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VCC 2026 metric specification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21</a:t>
            </a:r>
          </a:p>
        </p:txBody>
      </p:sp>
      <p:sp>
        <p:nvSpPr>
          <p:cNvPr id="10" name="Rounded Rectangle 9"/>
          <p:cNvSpPr/>
          <p:nvPr/>
        </p:nvSpPr>
        <p:spPr>
          <a:xfrm>
            <a:off x="731520" y="1627632"/>
            <a:ext cx="6638544" cy="35661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1883664"/>
            <a:ext cx="2633472"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500" b="1" i="0">
                <a:solidFill>
                  <a:srgbClr val="F7F9FC"/>
                </a:solidFill>
                <a:latin typeface="Montserrat"/>
              </a:rPr>
              <a:t>Scorer-space transformation</a:t>
            </a:r>
          </a:p>
        </p:txBody>
      </p:sp>
      <p:sp>
        <p:nvSpPr>
          <p:cNvPr id="12" name="Oval 11"/>
          <p:cNvSpPr/>
          <p:nvPr/>
        </p:nvSpPr>
        <p:spPr>
          <a:xfrm>
            <a:off x="1389888" y="2487168"/>
            <a:ext cx="694944" cy="69494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9888" y="2487168"/>
            <a:ext cx="694944" cy="69494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08101F"/>
                </a:solidFill>
                <a:latin typeface="Montserrat"/>
              </a:rPr>
              <a:t>1</a:t>
            </a:r>
          </a:p>
        </p:txBody>
      </p:sp>
      <p:sp>
        <p:nvSpPr>
          <p:cNvPr id="14" name="TextBox 13"/>
          <p:cNvSpPr txBox="1"/>
          <p:nvPr/>
        </p:nvSpPr>
        <p:spPr>
          <a:xfrm>
            <a:off x="1024128" y="3346704"/>
            <a:ext cx="142646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1" i="0">
                <a:solidFill>
                  <a:srgbClr val="F7F9FC"/>
                </a:solidFill>
                <a:latin typeface="Montserrat"/>
              </a:rPr>
              <a:t>sum</a:t>
            </a:r>
          </a:p>
        </p:txBody>
      </p:sp>
      <p:sp>
        <p:nvSpPr>
          <p:cNvPr id="15" name="TextBox 14"/>
          <p:cNvSpPr txBox="1"/>
          <p:nvPr/>
        </p:nvSpPr>
        <p:spPr>
          <a:xfrm>
            <a:off x="1024128" y="3675887"/>
            <a:ext cx="1426464" cy="23774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400 cells</a:t>
            </a:r>
          </a:p>
        </p:txBody>
      </p:sp>
      <p:cxnSp>
        <p:nvCxnSpPr>
          <p:cNvPr id="16" name="Connector 15"/>
          <p:cNvCxnSpPr/>
          <p:nvPr/>
        </p:nvCxnSpPr>
        <p:spPr>
          <a:xfrm>
            <a:off x="2139696" y="2834640"/>
            <a:ext cx="301752"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2386584" y="277977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898648" y="2487168"/>
            <a:ext cx="694944" cy="694944"/>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898648" y="2487168"/>
            <a:ext cx="694944" cy="69494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F7F9FC"/>
                </a:solidFill>
                <a:latin typeface="Montserrat"/>
              </a:rPr>
              <a:t>2</a:t>
            </a:r>
          </a:p>
        </p:txBody>
      </p:sp>
      <p:sp>
        <p:nvSpPr>
          <p:cNvPr id="20" name="TextBox 19"/>
          <p:cNvSpPr txBox="1"/>
          <p:nvPr/>
        </p:nvSpPr>
        <p:spPr>
          <a:xfrm>
            <a:off x="2532888" y="3346704"/>
            <a:ext cx="142646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1" i="0">
                <a:solidFill>
                  <a:srgbClr val="F7F9FC"/>
                </a:solidFill>
                <a:latin typeface="Montserrat"/>
              </a:rPr>
              <a:t>normalize</a:t>
            </a:r>
          </a:p>
        </p:txBody>
      </p:sp>
      <p:sp>
        <p:nvSpPr>
          <p:cNvPr id="21" name="TextBox 20"/>
          <p:cNvSpPr txBox="1"/>
          <p:nvPr/>
        </p:nvSpPr>
        <p:spPr>
          <a:xfrm>
            <a:off x="2532888" y="3675887"/>
            <a:ext cx="1426464" cy="23774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to 50,000</a:t>
            </a:r>
          </a:p>
        </p:txBody>
      </p:sp>
      <p:cxnSp>
        <p:nvCxnSpPr>
          <p:cNvPr id="22" name="Connector 21"/>
          <p:cNvCxnSpPr/>
          <p:nvPr/>
        </p:nvCxnSpPr>
        <p:spPr>
          <a:xfrm>
            <a:off x="3648456" y="2834640"/>
            <a:ext cx="301752"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3895344" y="277977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07408" y="2487168"/>
            <a:ext cx="694944" cy="69494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8" y="2487168"/>
            <a:ext cx="694944" cy="69494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F7F9FC"/>
                </a:solidFill>
                <a:latin typeface="Montserrat"/>
              </a:rPr>
              <a:t>3</a:t>
            </a:r>
          </a:p>
        </p:txBody>
      </p:sp>
      <p:sp>
        <p:nvSpPr>
          <p:cNvPr id="26" name="TextBox 25"/>
          <p:cNvSpPr txBox="1"/>
          <p:nvPr/>
        </p:nvSpPr>
        <p:spPr>
          <a:xfrm>
            <a:off x="4041648" y="3346704"/>
            <a:ext cx="142646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1" i="0">
                <a:solidFill>
                  <a:srgbClr val="F7F9FC"/>
                </a:solidFill>
                <a:latin typeface="Montserrat"/>
              </a:rPr>
              <a:t>log1p</a:t>
            </a:r>
          </a:p>
        </p:txBody>
      </p:sp>
      <p:sp>
        <p:nvSpPr>
          <p:cNvPr id="27" name="TextBox 26"/>
          <p:cNvSpPr txBox="1"/>
          <p:nvPr/>
        </p:nvSpPr>
        <p:spPr>
          <a:xfrm>
            <a:off x="4041648" y="3675887"/>
            <a:ext cx="1426464" cy="23774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group profile</a:t>
            </a:r>
          </a:p>
        </p:txBody>
      </p:sp>
      <p:cxnSp>
        <p:nvCxnSpPr>
          <p:cNvPr id="28" name="Connector 27"/>
          <p:cNvCxnSpPr/>
          <p:nvPr/>
        </p:nvCxnSpPr>
        <p:spPr>
          <a:xfrm>
            <a:off x="5157216" y="2834640"/>
            <a:ext cx="301752"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5400000">
            <a:off x="5404104" y="277977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916168" y="2487168"/>
            <a:ext cx="694944" cy="69494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16168" y="2487168"/>
            <a:ext cx="694944" cy="69494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600" b="1" i="0">
                <a:solidFill>
                  <a:srgbClr val="08101F"/>
                </a:solidFill>
                <a:latin typeface="Montserrat"/>
              </a:rPr>
              <a:t>4</a:t>
            </a:r>
          </a:p>
        </p:txBody>
      </p:sp>
      <p:sp>
        <p:nvSpPr>
          <p:cNvPr id="32" name="TextBox 31"/>
          <p:cNvSpPr txBox="1"/>
          <p:nvPr/>
        </p:nvSpPr>
        <p:spPr>
          <a:xfrm>
            <a:off x="5550407" y="3346704"/>
            <a:ext cx="142646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00" b="1" i="0">
                <a:solidFill>
                  <a:srgbClr val="F7F9FC"/>
                </a:solidFill>
                <a:latin typeface="Montserrat"/>
              </a:rPr>
              <a:t>compare</a:t>
            </a:r>
          </a:p>
        </p:txBody>
      </p:sp>
      <p:sp>
        <p:nvSpPr>
          <p:cNvPr id="33" name="TextBox 32"/>
          <p:cNvSpPr txBox="1"/>
          <p:nvPr/>
        </p:nvSpPr>
        <p:spPr>
          <a:xfrm>
            <a:off x="5550407" y="3675887"/>
            <a:ext cx="1426464" cy="23774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prediction vs truth</a:t>
            </a:r>
          </a:p>
        </p:txBody>
      </p:sp>
      <p:sp>
        <p:nvSpPr>
          <p:cNvPr id="34" name="TextBox 33"/>
          <p:cNvSpPr txBox="1"/>
          <p:nvPr/>
        </p:nvSpPr>
        <p:spPr>
          <a:xfrm>
            <a:off x="1005840" y="4389120"/>
            <a:ext cx="6089904"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FDE68A"/>
                </a:solidFill>
                <a:latin typeface="Source Code Pro"/>
              </a:rPr>
              <a:t>sampling-noise corrected • normalized by true perturbation distance</a:t>
            </a:r>
          </a:p>
        </p:txBody>
      </p:sp>
      <p:sp>
        <p:nvSpPr>
          <p:cNvPr id="35" name="Rounded Rectangle 34"/>
          <p:cNvSpPr/>
          <p:nvPr/>
        </p:nvSpPr>
        <p:spPr>
          <a:xfrm>
            <a:off x="7680960" y="1627632"/>
            <a:ext cx="3639312" cy="1490472"/>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79" y="1892807"/>
            <a:ext cx="950976"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00" b="1" i="0">
                <a:solidFill>
                  <a:srgbClr val="34D399"/>
                </a:solidFill>
                <a:latin typeface="Montserrat"/>
              </a:rPr>
              <a:t>Protects</a:t>
            </a:r>
          </a:p>
        </p:txBody>
      </p:sp>
      <p:sp>
        <p:nvSpPr>
          <p:cNvPr id="37" name="TextBox 36"/>
          <p:cNvSpPr txBox="1"/>
          <p:nvPr/>
        </p:nvSpPr>
        <p:spPr>
          <a:xfrm>
            <a:off x="8924544" y="1856231"/>
            <a:ext cx="1938528" cy="6766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500" b="1" i="0">
                <a:solidFill>
                  <a:srgbClr val="F7F9FC"/>
                </a:solidFill>
                <a:latin typeface="Montserrat"/>
              </a:rPr>
              <a:t>centroid location</a:t>
            </a:r>
            <a:br/>
            <a:r>
              <a:rPr sz="1500" b="1" i="0">
                <a:solidFill>
                  <a:srgbClr val="F7F9FC"/>
                </a:solidFill>
                <a:latin typeface="Montserrat"/>
              </a:rPr>
              <a:t>effect magnitude</a:t>
            </a:r>
          </a:p>
        </p:txBody>
      </p:sp>
      <p:sp>
        <p:nvSpPr>
          <p:cNvPr id="38" name="Rounded Rectangle 37"/>
          <p:cNvSpPr/>
          <p:nvPr/>
        </p:nvSpPr>
        <p:spPr>
          <a:xfrm>
            <a:off x="7680960" y="3319272"/>
            <a:ext cx="3639312" cy="1874519"/>
          </a:xfrm>
          <a:prstGeom prst="roundRect">
            <a:avLst/>
          </a:prstGeom>
          <a:solidFill>
            <a:srgbClr val="111C31"/>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55279" y="3584448"/>
            <a:ext cx="144475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00" b="1" i="0">
                <a:solidFill>
                  <a:srgbClr val="FB7185"/>
                </a:solidFill>
                <a:latin typeface="Montserrat"/>
              </a:rPr>
              <a:t>Does not guarantee</a:t>
            </a:r>
          </a:p>
        </p:txBody>
      </p:sp>
      <p:sp>
        <p:nvSpPr>
          <p:cNvPr id="40" name="TextBox 39"/>
          <p:cNvSpPr txBox="1"/>
          <p:nvPr/>
        </p:nvSpPr>
        <p:spPr>
          <a:xfrm>
            <a:off x="7955279" y="3986784"/>
            <a:ext cx="2852928" cy="85953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realistic variance</a:t>
            </a:r>
            <a:br/>
            <a:r>
              <a:rPr sz="1300" b="1" i="0">
                <a:solidFill>
                  <a:srgbClr val="F7F9FC"/>
                </a:solidFill>
                <a:latin typeface="Montserrat"/>
              </a:rPr>
              <a:t>correct DE call count</a:t>
            </a:r>
            <a:br/>
            <a:r>
              <a:rPr sz="1300" b="1" i="0">
                <a:solidFill>
                  <a:srgbClr val="F7F9FC"/>
                </a:solidFill>
                <a:latin typeface="Montserrat"/>
              </a:rPr>
              <a:t>responder heterogeneity</a:t>
            </a:r>
          </a:p>
        </p:txBody>
      </p:sp>
      <p:sp>
        <p:nvSpPr>
          <p:cNvPr id="41" name="TextBox 40"/>
          <p:cNvSpPr txBox="1"/>
          <p:nvPr/>
        </p:nvSpPr>
        <p:spPr>
          <a:xfrm>
            <a:off x="1078992" y="5577840"/>
            <a:ext cx="10040112"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A5F3FC"/>
                </a:solidFill>
                <a:latin typeface="Montserrat"/>
              </a:rPr>
              <a:t>First optimize Δ̂c,p. Then calibrate the 400-cell distribution around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EVALUATION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Four DE metrics probe different mistakes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Sign, confidence ordering, significance calibration, and effect size are not interchangeable.</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VCC 2026 metric specification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22</a:t>
            </a:r>
          </a:p>
        </p:txBody>
      </p:sp>
      <p:sp>
        <p:nvSpPr>
          <p:cNvPr id="10" name="Rectangle 9"/>
          <p:cNvSpPr/>
          <p:nvPr/>
        </p:nvSpPr>
        <p:spPr>
          <a:xfrm>
            <a:off x="640080" y="1554480"/>
            <a:ext cx="1261872" cy="62179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1" y="1581912"/>
            <a:ext cx="111556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A5F3FC"/>
                </a:solidFill>
                <a:latin typeface="Montserrat"/>
              </a:rPr>
              <a:t>Metric</a:t>
            </a:r>
          </a:p>
        </p:txBody>
      </p:sp>
      <p:sp>
        <p:nvSpPr>
          <p:cNvPr id="12" name="Rectangle 11"/>
          <p:cNvSpPr/>
          <p:nvPr/>
        </p:nvSpPr>
        <p:spPr>
          <a:xfrm>
            <a:off x="1901952" y="1554480"/>
            <a:ext cx="2240280" cy="62179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75104" y="1581912"/>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A5F3FC"/>
                </a:solidFill>
                <a:latin typeface="Montserrat"/>
              </a:rPr>
              <a:t>Question</a:t>
            </a:r>
          </a:p>
        </p:txBody>
      </p:sp>
      <p:sp>
        <p:nvSpPr>
          <p:cNvPr id="14" name="Rectangle 13"/>
          <p:cNvSpPr/>
          <p:nvPr/>
        </p:nvSpPr>
        <p:spPr>
          <a:xfrm>
            <a:off x="4142232" y="1554480"/>
            <a:ext cx="2267712" cy="62179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15384" y="1581912"/>
            <a:ext cx="212140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A5F3FC"/>
                </a:solidFill>
                <a:latin typeface="Montserrat"/>
              </a:rPr>
              <a:t>Rewards</a:t>
            </a:r>
          </a:p>
        </p:txBody>
      </p:sp>
      <p:sp>
        <p:nvSpPr>
          <p:cNvPr id="16" name="Rectangle 15"/>
          <p:cNvSpPr/>
          <p:nvPr/>
        </p:nvSpPr>
        <p:spPr>
          <a:xfrm>
            <a:off x="6409944" y="1554480"/>
            <a:ext cx="2240280" cy="62179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1581912"/>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A5F3FC"/>
                </a:solidFill>
                <a:latin typeface="Montserrat"/>
              </a:rPr>
              <a:t>Punishes</a:t>
            </a:r>
          </a:p>
        </p:txBody>
      </p:sp>
      <p:sp>
        <p:nvSpPr>
          <p:cNvPr id="18" name="Rectangle 17"/>
          <p:cNvSpPr/>
          <p:nvPr/>
        </p:nvSpPr>
        <p:spPr>
          <a:xfrm>
            <a:off x="8650224" y="1554480"/>
            <a:ext cx="2240280" cy="621792"/>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3376" y="1581912"/>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A5F3FC"/>
                </a:solidFill>
                <a:latin typeface="Montserrat"/>
              </a:rPr>
              <a:t>Model lever</a:t>
            </a:r>
          </a:p>
        </p:txBody>
      </p:sp>
      <p:sp>
        <p:nvSpPr>
          <p:cNvPr id="20" name="Rectangle 19"/>
          <p:cNvSpPr/>
          <p:nvPr/>
        </p:nvSpPr>
        <p:spPr>
          <a:xfrm>
            <a:off x="640080" y="2176272"/>
            <a:ext cx="1261872"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1" y="2203703"/>
            <a:ext cx="111556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F472B6"/>
                </a:solidFill>
                <a:latin typeface="Montserrat"/>
              </a:rPr>
              <a:t>FID</a:t>
            </a:r>
          </a:p>
        </p:txBody>
      </p:sp>
      <p:sp>
        <p:nvSpPr>
          <p:cNvPr id="22" name="Rectangle 21"/>
          <p:cNvSpPr/>
          <p:nvPr/>
        </p:nvSpPr>
        <p:spPr>
          <a:xfrm>
            <a:off x="1901952" y="2176272"/>
            <a:ext cx="2240280"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75104" y="2203703"/>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Are DE directions right?</a:t>
            </a:r>
          </a:p>
        </p:txBody>
      </p:sp>
      <p:sp>
        <p:nvSpPr>
          <p:cNvPr id="24" name="Rectangle 23"/>
          <p:cNvSpPr/>
          <p:nvPr/>
        </p:nvSpPr>
        <p:spPr>
          <a:xfrm>
            <a:off x="4142232" y="2176272"/>
            <a:ext cx="2267712"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15384" y="2203703"/>
            <a:ext cx="212140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sign + adequate coverage</a:t>
            </a:r>
          </a:p>
        </p:txBody>
      </p:sp>
      <p:sp>
        <p:nvSpPr>
          <p:cNvPr id="26" name="Rectangle 25"/>
          <p:cNvSpPr/>
          <p:nvPr/>
        </p:nvSpPr>
        <p:spPr>
          <a:xfrm>
            <a:off x="6409944" y="2176272"/>
            <a:ext cx="2240280"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83096" y="2203703"/>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few calls or wrong signs</a:t>
            </a:r>
          </a:p>
        </p:txBody>
      </p:sp>
      <p:sp>
        <p:nvSpPr>
          <p:cNvPr id="28" name="Rectangle 27"/>
          <p:cNvSpPr/>
          <p:nvPr/>
        </p:nvSpPr>
        <p:spPr>
          <a:xfrm>
            <a:off x="8650224" y="2176272"/>
            <a:ext cx="2240280"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23376" y="2203703"/>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direction-aware loss</a:t>
            </a:r>
          </a:p>
        </p:txBody>
      </p:sp>
      <p:sp>
        <p:nvSpPr>
          <p:cNvPr id="30" name="Rectangle 29"/>
          <p:cNvSpPr/>
          <p:nvPr/>
        </p:nvSpPr>
        <p:spPr>
          <a:xfrm>
            <a:off x="640080" y="2798064"/>
            <a:ext cx="1261872"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1" y="2825496"/>
            <a:ext cx="111556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34D399"/>
                </a:solidFill>
                <a:latin typeface="Montserrat"/>
              </a:rPr>
              <a:t>REACH</a:t>
            </a:r>
          </a:p>
        </p:txBody>
      </p:sp>
      <p:sp>
        <p:nvSpPr>
          <p:cNvPr id="32" name="Rectangle 31"/>
          <p:cNvSpPr/>
          <p:nvPr/>
        </p:nvSpPr>
        <p:spPr>
          <a:xfrm>
            <a:off x="1901952" y="2798064"/>
            <a:ext cx="2240280"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75104" y="2825496"/>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How deep stays ≥90% right?</a:t>
            </a:r>
          </a:p>
        </p:txBody>
      </p:sp>
      <p:sp>
        <p:nvSpPr>
          <p:cNvPr id="34" name="Rectangle 33"/>
          <p:cNvSpPr/>
          <p:nvPr/>
        </p:nvSpPr>
        <p:spPr>
          <a:xfrm>
            <a:off x="4142232" y="2798064"/>
            <a:ext cx="2267712"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15384" y="2825496"/>
            <a:ext cx="212140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calibrated confidence rank</a:t>
            </a:r>
          </a:p>
        </p:txBody>
      </p:sp>
      <p:sp>
        <p:nvSpPr>
          <p:cNvPr id="36" name="Rectangle 35"/>
          <p:cNvSpPr/>
          <p:nvPr/>
        </p:nvSpPr>
        <p:spPr>
          <a:xfrm>
            <a:off x="6409944" y="2798064"/>
            <a:ext cx="2240280"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83096" y="2825496"/>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bad early ranking</a:t>
            </a:r>
          </a:p>
        </p:txBody>
      </p:sp>
      <p:sp>
        <p:nvSpPr>
          <p:cNvPr id="38" name="Rectangle 37"/>
          <p:cNvSpPr/>
          <p:nvPr/>
        </p:nvSpPr>
        <p:spPr>
          <a:xfrm>
            <a:off x="8650224" y="2798064"/>
            <a:ext cx="2240280"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23376" y="2825496"/>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rank / margin loss</a:t>
            </a:r>
          </a:p>
        </p:txBody>
      </p:sp>
      <p:sp>
        <p:nvSpPr>
          <p:cNvPr id="40" name="Rectangle 39"/>
          <p:cNvSpPr/>
          <p:nvPr/>
        </p:nvSpPr>
        <p:spPr>
          <a:xfrm>
            <a:off x="640080" y="3419856"/>
            <a:ext cx="1261872"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1" y="3447288"/>
            <a:ext cx="111556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FBBF24"/>
                </a:solidFill>
                <a:latin typeface="Montserrat"/>
              </a:rPr>
              <a:t>JAC</a:t>
            </a:r>
          </a:p>
        </p:txBody>
      </p:sp>
      <p:sp>
        <p:nvSpPr>
          <p:cNvPr id="42" name="Rectangle 41"/>
          <p:cNvSpPr/>
          <p:nvPr/>
        </p:nvSpPr>
        <p:spPr>
          <a:xfrm>
            <a:off x="1901952" y="3419856"/>
            <a:ext cx="2240280"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75104" y="3447288"/>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Do significant sets overlap?</a:t>
            </a:r>
          </a:p>
        </p:txBody>
      </p:sp>
      <p:sp>
        <p:nvSpPr>
          <p:cNvPr id="44" name="Rectangle 43"/>
          <p:cNvSpPr/>
          <p:nvPr/>
        </p:nvSpPr>
        <p:spPr>
          <a:xfrm>
            <a:off x="4142232" y="3419856"/>
            <a:ext cx="2267712"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15384" y="3447288"/>
            <a:ext cx="212140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matched DE cardinality</a:t>
            </a:r>
          </a:p>
        </p:txBody>
      </p:sp>
      <p:sp>
        <p:nvSpPr>
          <p:cNvPr id="46" name="Rectangle 45"/>
          <p:cNvSpPr/>
          <p:nvPr/>
        </p:nvSpPr>
        <p:spPr>
          <a:xfrm>
            <a:off x="6409944" y="3419856"/>
            <a:ext cx="2240280"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83096" y="3447288"/>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wrong variance / FDR</a:t>
            </a:r>
          </a:p>
        </p:txBody>
      </p:sp>
      <p:sp>
        <p:nvSpPr>
          <p:cNvPr id="48" name="Rectangle 47"/>
          <p:cNvSpPr/>
          <p:nvPr/>
        </p:nvSpPr>
        <p:spPr>
          <a:xfrm>
            <a:off x="8650224" y="3419856"/>
            <a:ext cx="2240280" cy="621792"/>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723376" y="3447288"/>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dispersion + threshold</a:t>
            </a:r>
          </a:p>
        </p:txBody>
      </p:sp>
      <p:sp>
        <p:nvSpPr>
          <p:cNvPr id="50" name="Rectangle 49"/>
          <p:cNvSpPr/>
          <p:nvPr/>
        </p:nvSpPr>
        <p:spPr>
          <a:xfrm>
            <a:off x="640080" y="4041648"/>
            <a:ext cx="1261872"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3231" y="4069080"/>
            <a:ext cx="111556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1" i="0">
                <a:solidFill>
                  <a:srgbClr val="60A5FA"/>
                </a:solidFill>
                <a:latin typeface="Montserrat"/>
              </a:rPr>
              <a:t>NMAE</a:t>
            </a:r>
          </a:p>
        </p:txBody>
      </p:sp>
      <p:sp>
        <p:nvSpPr>
          <p:cNvPr id="52" name="Rectangle 51"/>
          <p:cNvSpPr/>
          <p:nvPr/>
        </p:nvSpPr>
        <p:spPr>
          <a:xfrm>
            <a:off x="1901952" y="4041648"/>
            <a:ext cx="2240280"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975104" y="4069080"/>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Are log2FC values right?</a:t>
            </a:r>
          </a:p>
        </p:txBody>
      </p:sp>
      <p:sp>
        <p:nvSpPr>
          <p:cNvPr id="54" name="Rectangle 53"/>
          <p:cNvSpPr/>
          <p:nvPr/>
        </p:nvSpPr>
        <p:spPr>
          <a:xfrm>
            <a:off x="4142232" y="4041648"/>
            <a:ext cx="2267712"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15384" y="4069080"/>
            <a:ext cx="2121408"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magnitude calibration</a:t>
            </a:r>
          </a:p>
        </p:txBody>
      </p:sp>
      <p:sp>
        <p:nvSpPr>
          <p:cNvPr id="56" name="Rectangle 55"/>
          <p:cNvSpPr/>
          <p:nvPr/>
        </p:nvSpPr>
        <p:spPr>
          <a:xfrm>
            <a:off x="6409944" y="4041648"/>
            <a:ext cx="2240280"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83096" y="4069080"/>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over/under-shoot</a:t>
            </a:r>
          </a:p>
        </p:txBody>
      </p:sp>
      <p:sp>
        <p:nvSpPr>
          <p:cNvPr id="58" name="Rectangle 57"/>
          <p:cNvSpPr/>
          <p:nvPr/>
        </p:nvSpPr>
        <p:spPr>
          <a:xfrm>
            <a:off x="8650224" y="4041648"/>
            <a:ext cx="2240280" cy="621792"/>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23376" y="4069080"/>
            <a:ext cx="2093976" cy="566928"/>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60" b="0" i="0">
                <a:solidFill>
                  <a:srgbClr val="A9B5CC"/>
                </a:solidFill>
                <a:latin typeface="Montserrat"/>
              </a:rPr>
              <a:t>effect scaling</a:t>
            </a:r>
          </a:p>
        </p:txBody>
      </p:sp>
      <p:sp>
        <p:nvSpPr>
          <p:cNvPr id="60" name="Rounded Rectangle 59"/>
          <p:cNvSpPr/>
          <p:nvPr/>
        </p:nvSpPr>
        <p:spPr>
          <a:xfrm>
            <a:off x="896112" y="5047488"/>
            <a:ext cx="10369296" cy="713232"/>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70432" y="5276088"/>
            <a:ext cx="1481328"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C4B5FD"/>
                </a:solidFill>
                <a:latin typeface="Montserrat"/>
              </a:rPr>
              <a:t>Common dependency</a:t>
            </a:r>
          </a:p>
        </p:txBody>
      </p:sp>
      <p:sp>
        <p:nvSpPr>
          <p:cNvPr id="62" name="TextBox 61"/>
          <p:cNvSpPr txBox="1"/>
          <p:nvPr/>
        </p:nvSpPr>
        <p:spPr>
          <a:xfrm>
            <a:off x="2761488" y="5230368"/>
            <a:ext cx="8138160" cy="3383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1" i="0">
                <a:solidFill>
                  <a:srgbClr val="F7F9FC"/>
                </a:solidFill>
                <a:latin typeface="Montserrat"/>
              </a:rPr>
              <a:t>DE is called from predicted cells versus real held-out controls using per-gene Wilcoxon tests and BH-FDR.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EVALUATION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metrics pull in different directions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Winning requires calibrated trade-offs, not a single loss optimized harder.</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Interpretation of official metrics</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23</a:t>
            </a:r>
          </a:p>
        </p:txBody>
      </p:sp>
      <p:cxnSp>
        <p:nvCxnSpPr>
          <p:cNvPr id="10" name="Connector 9"/>
          <p:cNvCxnSpPr/>
          <p:nvPr/>
        </p:nvCxnSpPr>
        <p:spPr>
          <a:xfrm flipH="1">
            <a:off x="1097280" y="1700784"/>
            <a:ext cx="2057400" cy="3054096"/>
          </a:xfrm>
          <a:prstGeom prst="line">
            <a:avLst/>
          </a:prstGeom>
          <a:ln w="31750">
            <a:solidFill>
              <a:srgbClr val="22D3E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97280" y="4754880"/>
            <a:ext cx="4114800" cy="0"/>
          </a:xfrm>
          <a:prstGeom prst="line">
            <a:avLst/>
          </a:prstGeom>
          <a:ln w="31750">
            <a:solidFill>
              <a:srgbClr val="8B5CF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154680" y="1700784"/>
            <a:ext cx="2057400" cy="3054096"/>
          </a:xfrm>
          <a:prstGeom prst="line">
            <a:avLst/>
          </a:prstGeom>
          <a:ln w="31750">
            <a:solidFill>
              <a:srgbClr val="F472B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2807208" y="1353312"/>
            <a:ext cx="694944" cy="69494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50008" y="2176272"/>
            <a:ext cx="1609344" cy="36576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7F9FC"/>
                </a:solidFill>
                <a:latin typeface="Montserrat"/>
              </a:rPr>
              <a:t>Mean accuracy</a:t>
            </a:r>
          </a:p>
        </p:txBody>
      </p:sp>
      <p:sp>
        <p:nvSpPr>
          <p:cNvPr id="15" name="Oval 14"/>
          <p:cNvSpPr/>
          <p:nvPr/>
        </p:nvSpPr>
        <p:spPr>
          <a:xfrm>
            <a:off x="749808" y="4407408"/>
            <a:ext cx="694944" cy="694944"/>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2607" y="5193792"/>
            <a:ext cx="1609344" cy="36576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7F9FC"/>
                </a:solidFill>
                <a:latin typeface="Montserrat"/>
              </a:rPr>
              <a:t>Target identity</a:t>
            </a:r>
          </a:p>
        </p:txBody>
      </p:sp>
      <p:sp>
        <p:nvSpPr>
          <p:cNvPr id="17" name="Oval 16"/>
          <p:cNvSpPr/>
          <p:nvPr/>
        </p:nvSpPr>
        <p:spPr>
          <a:xfrm>
            <a:off x="4864608" y="4407408"/>
            <a:ext cx="694944" cy="69494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07408" y="5193792"/>
            <a:ext cx="1609344" cy="36576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7F9FC"/>
                </a:solidFill>
                <a:latin typeface="Montserrat"/>
              </a:rPr>
              <a:t>DE calibration</a:t>
            </a:r>
          </a:p>
        </p:txBody>
      </p:sp>
      <p:sp>
        <p:nvSpPr>
          <p:cNvPr id="19" name="Oval 18"/>
          <p:cNvSpPr/>
          <p:nvPr/>
        </p:nvSpPr>
        <p:spPr>
          <a:xfrm>
            <a:off x="2807208" y="3099816"/>
            <a:ext cx="694944" cy="69494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87168" y="3008376"/>
            <a:ext cx="1335024" cy="859536"/>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calibrated</a:t>
            </a:r>
            <a:br/>
            <a:r>
              <a:rPr sz="1100" b="1" i="0">
                <a:solidFill>
                  <a:srgbClr val="08101F"/>
                </a:solidFill>
                <a:latin typeface="Montserrat"/>
              </a:rPr>
              <a:t>model</a:t>
            </a:r>
          </a:p>
        </p:txBody>
      </p:sp>
      <p:sp>
        <p:nvSpPr>
          <p:cNvPr id="21" name="Rounded Rectangle 20"/>
          <p:cNvSpPr/>
          <p:nvPr/>
        </p:nvSpPr>
        <p:spPr>
          <a:xfrm>
            <a:off x="6419088" y="1609344"/>
            <a:ext cx="4901184" cy="3566160"/>
          </a:xfrm>
          <a:prstGeom prst="roundRect">
            <a:avLst/>
          </a:prstGeom>
          <a:solidFill>
            <a:srgbClr val="111C31"/>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9984" y="1883664"/>
            <a:ext cx="4279392"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500" b="1" i="0">
                <a:solidFill>
                  <a:srgbClr val="F7F9FC"/>
                </a:solidFill>
                <a:latin typeface="Montserrat"/>
              </a:rPr>
              <a:t>Typical interventions and side effects</a:t>
            </a:r>
          </a:p>
        </p:txBody>
      </p:sp>
      <p:sp>
        <p:nvSpPr>
          <p:cNvPr id="23" name="Rectangle 22"/>
          <p:cNvSpPr/>
          <p:nvPr/>
        </p:nvSpPr>
        <p:spPr>
          <a:xfrm>
            <a:off x="6711696" y="2377440"/>
            <a:ext cx="1993392" cy="512064"/>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84848" y="2404872"/>
            <a:ext cx="18470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1" i="0">
                <a:solidFill>
                  <a:srgbClr val="A5F3FC"/>
                </a:solidFill>
                <a:latin typeface="Montserrat"/>
              </a:rPr>
              <a:t>Intervention</a:t>
            </a:r>
          </a:p>
        </p:txBody>
      </p:sp>
      <p:sp>
        <p:nvSpPr>
          <p:cNvPr id="25" name="Rectangle 24"/>
          <p:cNvSpPr/>
          <p:nvPr/>
        </p:nvSpPr>
        <p:spPr>
          <a:xfrm>
            <a:off x="8705088" y="2377440"/>
            <a:ext cx="2340864" cy="512064"/>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0" y="2404872"/>
            <a:ext cx="2194560"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1" i="0">
                <a:solidFill>
                  <a:srgbClr val="A5F3FC"/>
                </a:solidFill>
                <a:latin typeface="Montserrat"/>
              </a:rPr>
              <a:t>Possible side effect</a:t>
            </a:r>
          </a:p>
        </p:txBody>
      </p:sp>
      <p:sp>
        <p:nvSpPr>
          <p:cNvPr id="27" name="Rectangle 26"/>
          <p:cNvSpPr/>
          <p:nvPr/>
        </p:nvSpPr>
        <p:spPr>
          <a:xfrm>
            <a:off x="6711696" y="2889504"/>
            <a:ext cx="199339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84848" y="2916936"/>
            <a:ext cx="18470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1" i="0">
                <a:solidFill>
                  <a:srgbClr val="22D3EE"/>
                </a:solidFill>
                <a:latin typeface="Montserrat"/>
              </a:rPr>
              <a:t>Increase guidance</a:t>
            </a:r>
          </a:p>
        </p:txBody>
      </p:sp>
      <p:sp>
        <p:nvSpPr>
          <p:cNvPr id="29" name="Rectangle 28"/>
          <p:cNvSpPr/>
          <p:nvPr/>
        </p:nvSpPr>
        <p:spPr>
          <a:xfrm>
            <a:off x="8705088" y="2889504"/>
            <a:ext cx="2340864"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0" y="2916936"/>
            <a:ext cx="2194560"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0" i="0">
                <a:solidFill>
                  <a:srgbClr val="A9B5CC"/>
                </a:solidFill>
                <a:latin typeface="Montserrat"/>
              </a:rPr>
              <a:t>MSE / NMAE overshoot</a:t>
            </a:r>
          </a:p>
        </p:txBody>
      </p:sp>
      <p:sp>
        <p:nvSpPr>
          <p:cNvPr id="31" name="Rectangle 30"/>
          <p:cNvSpPr/>
          <p:nvPr/>
        </p:nvSpPr>
        <p:spPr>
          <a:xfrm>
            <a:off x="6711696" y="3401568"/>
            <a:ext cx="199339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84848" y="3429000"/>
            <a:ext cx="18470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1" i="0">
                <a:solidFill>
                  <a:srgbClr val="8B5CF6"/>
                </a:solidFill>
                <a:latin typeface="Montserrat"/>
              </a:rPr>
              <a:t>Shrink all deltas</a:t>
            </a:r>
          </a:p>
        </p:txBody>
      </p:sp>
      <p:sp>
        <p:nvSpPr>
          <p:cNvPr id="33" name="Rectangle 32"/>
          <p:cNvSpPr/>
          <p:nvPr/>
        </p:nvSpPr>
        <p:spPr>
          <a:xfrm>
            <a:off x="8705088" y="3401568"/>
            <a:ext cx="2340864"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778240" y="3429000"/>
            <a:ext cx="2194560"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0" i="0">
                <a:solidFill>
                  <a:srgbClr val="A9B5CC"/>
                </a:solidFill>
                <a:latin typeface="Montserrat"/>
              </a:rPr>
              <a:t>PDS / reach collapse</a:t>
            </a:r>
          </a:p>
        </p:txBody>
      </p:sp>
      <p:sp>
        <p:nvSpPr>
          <p:cNvPr id="35" name="Rectangle 34"/>
          <p:cNvSpPr/>
          <p:nvPr/>
        </p:nvSpPr>
        <p:spPr>
          <a:xfrm>
            <a:off x="6711696" y="3913632"/>
            <a:ext cx="199339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84848" y="3941064"/>
            <a:ext cx="18470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1" i="0">
                <a:solidFill>
                  <a:srgbClr val="F472B6"/>
                </a:solidFill>
                <a:latin typeface="Montserrat"/>
              </a:rPr>
              <a:t>Reduce dispersion</a:t>
            </a:r>
          </a:p>
        </p:txBody>
      </p:sp>
      <p:sp>
        <p:nvSpPr>
          <p:cNvPr id="37" name="Rectangle 36"/>
          <p:cNvSpPr/>
          <p:nvPr/>
        </p:nvSpPr>
        <p:spPr>
          <a:xfrm>
            <a:off x="8705088" y="3913632"/>
            <a:ext cx="2340864"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778240" y="3941064"/>
            <a:ext cx="2194560"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0" i="0">
                <a:solidFill>
                  <a:srgbClr val="A9B5CC"/>
                </a:solidFill>
                <a:latin typeface="Montserrat"/>
              </a:rPr>
              <a:t>too many DE calls</a:t>
            </a:r>
          </a:p>
        </p:txBody>
      </p:sp>
      <p:sp>
        <p:nvSpPr>
          <p:cNvPr id="39" name="Rectangle 38"/>
          <p:cNvSpPr/>
          <p:nvPr/>
        </p:nvSpPr>
        <p:spPr>
          <a:xfrm>
            <a:off x="6711696" y="4425696"/>
            <a:ext cx="199339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84848" y="4453128"/>
            <a:ext cx="18470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1" i="0">
                <a:solidFill>
                  <a:srgbClr val="34D399"/>
                </a:solidFill>
                <a:latin typeface="Montserrat"/>
              </a:rPr>
              <a:t>Add diversity</a:t>
            </a:r>
          </a:p>
        </p:txBody>
      </p:sp>
      <p:sp>
        <p:nvSpPr>
          <p:cNvPr id="41" name="Rectangle 40"/>
          <p:cNvSpPr/>
          <p:nvPr/>
        </p:nvSpPr>
        <p:spPr>
          <a:xfrm>
            <a:off x="8705088" y="4425696"/>
            <a:ext cx="2340864"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78240" y="4453128"/>
            <a:ext cx="2194560"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30" b="0" i="0">
                <a:solidFill>
                  <a:srgbClr val="A9B5CC"/>
                </a:solidFill>
                <a:latin typeface="Montserrat"/>
              </a:rPr>
              <a:t>true DE becomes underpowered</a:t>
            </a:r>
          </a:p>
        </p:txBody>
      </p:sp>
      <p:sp>
        <p:nvSpPr>
          <p:cNvPr id="43" name="TextBox 42"/>
          <p:cNvSpPr txBox="1"/>
          <p:nvPr/>
        </p:nvSpPr>
        <p:spPr>
          <a:xfrm>
            <a:off x="1060704" y="5605272"/>
            <a:ext cx="1005840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DE68A"/>
                </a:solidFill>
                <a:latin typeface="Montserrat"/>
              </a:rPr>
              <a:t>Therefore: use metric-aware validation and choose a Pareto-robust ensemble.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EVALUATION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A scoring-aware hierarchy of needs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Do not optimize the top layer while the lower layer is still broken.</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decision framework</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24</a:t>
            </a:r>
          </a:p>
        </p:txBody>
      </p:sp>
      <p:sp>
        <p:nvSpPr>
          <p:cNvPr id="10" name="Rounded Rectangle 9"/>
          <p:cNvSpPr/>
          <p:nvPr/>
        </p:nvSpPr>
        <p:spPr>
          <a:xfrm>
            <a:off x="1249527" y="5330952"/>
            <a:ext cx="9692640" cy="62179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395831" y="5431536"/>
            <a:ext cx="420624" cy="420624"/>
          </a:xfrm>
          <a:prstGeom prst="ellipse">
            <a:avLst/>
          </a:prstGeom>
          <a:solidFill>
            <a:srgbClr val="08101F"/>
          </a:solidFill>
          <a:ln w="12700">
            <a:solidFill>
              <a:srgbClr val="F7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95831" y="543153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1</a:t>
            </a:r>
          </a:p>
        </p:txBody>
      </p:sp>
      <p:sp>
        <p:nvSpPr>
          <p:cNvPr id="13" name="TextBox 12"/>
          <p:cNvSpPr txBox="1"/>
          <p:nvPr/>
        </p:nvSpPr>
        <p:spPr>
          <a:xfrm>
            <a:off x="1962759" y="5422392"/>
            <a:ext cx="25786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08101F"/>
                </a:solidFill>
                <a:latin typeface="Montserrat"/>
              </a:rPr>
              <a:t>VALID OUTPUT</a:t>
            </a:r>
          </a:p>
        </p:txBody>
      </p:sp>
      <p:sp>
        <p:nvSpPr>
          <p:cNvPr id="14" name="TextBox 13"/>
          <p:cNvSpPr txBox="1"/>
          <p:nvPr/>
        </p:nvSpPr>
        <p:spPr>
          <a:xfrm>
            <a:off x="4376775" y="5422392"/>
            <a:ext cx="6309359" cy="256032"/>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08101F"/>
                </a:solidFill>
                <a:latin typeface="Montserrat"/>
              </a:rPr>
              <a:t>axes • labels • 400 cells • raw sparse counts</a:t>
            </a:r>
          </a:p>
        </p:txBody>
      </p:sp>
      <p:sp>
        <p:nvSpPr>
          <p:cNvPr id="15" name="Rounded Rectangle 14"/>
          <p:cNvSpPr/>
          <p:nvPr/>
        </p:nvSpPr>
        <p:spPr>
          <a:xfrm>
            <a:off x="1752447" y="4507992"/>
            <a:ext cx="8686800" cy="62179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898751" y="4608576"/>
            <a:ext cx="420624" cy="420624"/>
          </a:xfrm>
          <a:prstGeom prst="ellipse">
            <a:avLst/>
          </a:prstGeom>
          <a:solidFill>
            <a:srgbClr val="08101F"/>
          </a:solidFill>
          <a:ln w="12700">
            <a:solidFill>
              <a:srgbClr val="F7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898751" y="460857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2</a:t>
            </a:r>
          </a:p>
        </p:txBody>
      </p:sp>
      <p:sp>
        <p:nvSpPr>
          <p:cNvPr id="18" name="TextBox 17"/>
          <p:cNvSpPr txBox="1"/>
          <p:nvPr/>
        </p:nvSpPr>
        <p:spPr>
          <a:xfrm>
            <a:off x="2465679" y="4599431"/>
            <a:ext cx="25786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F7F9FC"/>
                </a:solidFill>
                <a:latin typeface="Montserrat"/>
              </a:rPr>
              <a:t>TARGET-SPECIFIC MEAN</a:t>
            </a:r>
          </a:p>
        </p:txBody>
      </p:sp>
      <p:sp>
        <p:nvSpPr>
          <p:cNvPr id="19" name="TextBox 18"/>
          <p:cNvSpPr txBox="1"/>
          <p:nvPr/>
        </p:nvSpPr>
        <p:spPr>
          <a:xfrm>
            <a:off x="4879695" y="4599431"/>
            <a:ext cx="5303520" cy="256032"/>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F7F9FC"/>
                </a:solidFill>
                <a:latin typeface="Montserrat"/>
              </a:rPr>
              <a:t>correct perturbation identity and centroid</a:t>
            </a:r>
          </a:p>
        </p:txBody>
      </p:sp>
      <p:sp>
        <p:nvSpPr>
          <p:cNvPr id="20" name="Rounded Rectangle 19"/>
          <p:cNvSpPr/>
          <p:nvPr/>
        </p:nvSpPr>
        <p:spPr>
          <a:xfrm>
            <a:off x="2255367" y="3685032"/>
            <a:ext cx="7680960" cy="621792"/>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2401671" y="3785616"/>
            <a:ext cx="420624" cy="420624"/>
          </a:xfrm>
          <a:prstGeom prst="ellipse">
            <a:avLst/>
          </a:prstGeom>
          <a:solidFill>
            <a:srgbClr val="08101F"/>
          </a:solidFill>
          <a:ln w="12700">
            <a:solidFill>
              <a:srgbClr val="F7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01671" y="378561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3</a:t>
            </a:r>
          </a:p>
        </p:txBody>
      </p:sp>
      <p:sp>
        <p:nvSpPr>
          <p:cNvPr id="23" name="TextBox 22"/>
          <p:cNvSpPr txBox="1"/>
          <p:nvPr/>
        </p:nvSpPr>
        <p:spPr>
          <a:xfrm>
            <a:off x="2968599" y="3776472"/>
            <a:ext cx="25786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F7F9FC"/>
                </a:solidFill>
                <a:latin typeface="Montserrat"/>
              </a:rPr>
              <a:t>DIRECTION + MAGNITUDE</a:t>
            </a:r>
          </a:p>
        </p:txBody>
      </p:sp>
      <p:sp>
        <p:nvSpPr>
          <p:cNvPr id="24" name="TextBox 23"/>
          <p:cNvSpPr txBox="1"/>
          <p:nvPr/>
        </p:nvSpPr>
        <p:spPr>
          <a:xfrm>
            <a:off x="5382615" y="3776472"/>
            <a:ext cx="4297680" cy="256032"/>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F7F9FC"/>
                </a:solidFill>
                <a:latin typeface="Montserrat"/>
              </a:rPr>
              <a:t>DE signs, confidence rank, calibrated LFC</a:t>
            </a:r>
          </a:p>
        </p:txBody>
      </p:sp>
      <p:sp>
        <p:nvSpPr>
          <p:cNvPr id="25" name="Rounded Rectangle 24"/>
          <p:cNvSpPr/>
          <p:nvPr/>
        </p:nvSpPr>
        <p:spPr>
          <a:xfrm>
            <a:off x="2758287" y="2862072"/>
            <a:ext cx="6675120" cy="62179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904591" y="2962656"/>
            <a:ext cx="420624" cy="420624"/>
          </a:xfrm>
          <a:prstGeom prst="ellipse">
            <a:avLst/>
          </a:prstGeom>
          <a:solidFill>
            <a:srgbClr val="08101F"/>
          </a:solidFill>
          <a:ln w="12700">
            <a:solidFill>
              <a:srgbClr val="F7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04591" y="296265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4</a:t>
            </a:r>
          </a:p>
        </p:txBody>
      </p:sp>
      <p:sp>
        <p:nvSpPr>
          <p:cNvPr id="28" name="TextBox 27"/>
          <p:cNvSpPr txBox="1"/>
          <p:nvPr/>
        </p:nvSpPr>
        <p:spPr>
          <a:xfrm>
            <a:off x="3471519" y="2953512"/>
            <a:ext cx="25786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08101F"/>
                </a:solidFill>
                <a:latin typeface="Montserrat"/>
              </a:rPr>
              <a:t>CELL DISTRIBUTION</a:t>
            </a:r>
          </a:p>
        </p:txBody>
      </p:sp>
      <p:sp>
        <p:nvSpPr>
          <p:cNvPr id="29" name="TextBox 28"/>
          <p:cNvSpPr txBox="1"/>
          <p:nvPr/>
        </p:nvSpPr>
        <p:spPr>
          <a:xfrm>
            <a:off x="5885535" y="2953512"/>
            <a:ext cx="3291839" cy="256032"/>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08101F"/>
                </a:solidFill>
                <a:latin typeface="Montserrat"/>
              </a:rPr>
              <a:t>depth, variance, zeros, responder mixtures</a:t>
            </a:r>
          </a:p>
        </p:txBody>
      </p:sp>
      <p:sp>
        <p:nvSpPr>
          <p:cNvPr id="30" name="Rounded Rectangle 29"/>
          <p:cNvSpPr/>
          <p:nvPr/>
        </p:nvSpPr>
        <p:spPr>
          <a:xfrm>
            <a:off x="3261207" y="2039112"/>
            <a:ext cx="5669280" cy="621792"/>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407511" y="2139696"/>
            <a:ext cx="420624" cy="420624"/>
          </a:xfrm>
          <a:prstGeom prst="ellipse">
            <a:avLst/>
          </a:prstGeom>
          <a:solidFill>
            <a:srgbClr val="08101F"/>
          </a:solidFill>
          <a:ln w="12700">
            <a:solidFill>
              <a:srgbClr val="F7F9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07511" y="213969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5</a:t>
            </a:r>
          </a:p>
        </p:txBody>
      </p:sp>
      <p:sp>
        <p:nvSpPr>
          <p:cNvPr id="33" name="TextBox 32"/>
          <p:cNvSpPr txBox="1"/>
          <p:nvPr/>
        </p:nvSpPr>
        <p:spPr>
          <a:xfrm>
            <a:off x="3974439" y="2130552"/>
            <a:ext cx="2578608" cy="22860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08101F"/>
                </a:solidFill>
                <a:latin typeface="Montserrat"/>
              </a:rPr>
              <a:t>ADVANCED OPTIMIZATION</a:t>
            </a:r>
          </a:p>
        </p:txBody>
      </p:sp>
      <p:sp>
        <p:nvSpPr>
          <p:cNvPr id="34" name="TextBox 33"/>
          <p:cNvSpPr txBox="1"/>
          <p:nvPr/>
        </p:nvSpPr>
        <p:spPr>
          <a:xfrm>
            <a:off x="6388455" y="2130552"/>
            <a:ext cx="2286000" cy="256032"/>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08101F"/>
                </a:solidFill>
                <a:latin typeface="Montserrat"/>
              </a:rPr>
              <a:t>diffusion / flow refinement • optional RL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STRATEGY</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Baselines before deep models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Every rung answers a different question and creates a safe fallback.</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25</a:t>
            </a:r>
          </a:p>
        </p:txBody>
      </p:sp>
      <p:sp>
        <p:nvSpPr>
          <p:cNvPr id="10" name="Rounded Rectangle 9"/>
          <p:cNvSpPr/>
          <p:nvPr/>
        </p:nvSpPr>
        <p:spPr>
          <a:xfrm>
            <a:off x="822960" y="1188720"/>
            <a:ext cx="6903720" cy="438912"/>
          </a:xfrm>
          <a:prstGeom prst="roundRect">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6" y="1261872"/>
            <a:ext cx="512064"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F7F9FC"/>
                </a:solidFill>
                <a:latin typeface="Montserrat"/>
              </a:rPr>
              <a:t>B0</a:t>
            </a:r>
          </a:p>
        </p:txBody>
      </p:sp>
      <p:sp>
        <p:nvSpPr>
          <p:cNvPr id="12" name="TextBox 11"/>
          <p:cNvSpPr txBox="1"/>
          <p:nvPr/>
        </p:nvSpPr>
        <p:spPr>
          <a:xfrm>
            <a:off x="1536192" y="1252728"/>
            <a:ext cx="3063240"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70" b="1" i="0">
                <a:solidFill>
                  <a:srgbClr val="F7F9FC"/>
                </a:solidFill>
                <a:latin typeface="Montserrat"/>
              </a:rPr>
              <a:t>Format-only null</a:t>
            </a:r>
          </a:p>
        </p:txBody>
      </p:sp>
      <p:sp>
        <p:nvSpPr>
          <p:cNvPr id="13" name="TextBox 12"/>
          <p:cNvSpPr txBox="1"/>
          <p:nvPr/>
        </p:nvSpPr>
        <p:spPr>
          <a:xfrm>
            <a:off x="4572000" y="1252728"/>
            <a:ext cx="2971800" cy="237744"/>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F7F9FC"/>
                </a:solidFill>
                <a:latin typeface="Montserrat"/>
              </a:rPr>
              <a:t>Pipeline passes?</a:t>
            </a:r>
          </a:p>
        </p:txBody>
      </p:sp>
      <p:sp>
        <p:nvSpPr>
          <p:cNvPr id="14" name="Rounded Rectangle 13"/>
          <p:cNvSpPr/>
          <p:nvPr/>
        </p:nvSpPr>
        <p:spPr>
          <a:xfrm>
            <a:off x="1216152" y="1737360"/>
            <a:ext cx="6510528" cy="43891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44168" y="1810512"/>
            <a:ext cx="512064"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08101F"/>
                </a:solidFill>
                <a:latin typeface="Montserrat"/>
              </a:rPr>
              <a:t>B1</a:t>
            </a:r>
          </a:p>
        </p:txBody>
      </p:sp>
      <p:sp>
        <p:nvSpPr>
          <p:cNvPr id="16" name="TextBox 15"/>
          <p:cNvSpPr txBox="1"/>
          <p:nvPr/>
        </p:nvSpPr>
        <p:spPr>
          <a:xfrm>
            <a:off x="1929384" y="1801368"/>
            <a:ext cx="3063240"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70" b="1" i="0">
                <a:solidFill>
                  <a:srgbClr val="08101F"/>
                </a:solidFill>
                <a:latin typeface="Montserrat"/>
              </a:rPr>
              <a:t>Control resampling</a:t>
            </a:r>
          </a:p>
        </p:txBody>
      </p:sp>
      <p:sp>
        <p:nvSpPr>
          <p:cNvPr id="17" name="TextBox 16"/>
          <p:cNvSpPr txBox="1"/>
          <p:nvPr/>
        </p:nvSpPr>
        <p:spPr>
          <a:xfrm>
            <a:off x="4965192" y="1801368"/>
            <a:ext cx="2578608" cy="237744"/>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08101F"/>
                </a:solidFill>
                <a:latin typeface="Montserrat"/>
              </a:rPr>
              <a:t>No-response reference?</a:t>
            </a:r>
          </a:p>
        </p:txBody>
      </p:sp>
      <p:sp>
        <p:nvSpPr>
          <p:cNvPr id="18" name="Rounded Rectangle 17"/>
          <p:cNvSpPr/>
          <p:nvPr/>
        </p:nvSpPr>
        <p:spPr>
          <a:xfrm>
            <a:off x="1609344" y="2286000"/>
            <a:ext cx="6117336" cy="43891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37360" y="2359152"/>
            <a:ext cx="512064"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F7F9FC"/>
                </a:solidFill>
                <a:latin typeface="Montserrat"/>
              </a:rPr>
              <a:t>B2</a:t>
            </a:r>
          </a:p>
        </p:txBody>
      </p:sp>
      <p:sp>
        <p:nvSpPr>
          <p:cNvPr id="20" name="TextBox 19"/>
          <p:cNvSpPr txBox="1"/>
          <p:nvPr/>
        </p:nvSpPr>
        <p:spPr>
          <a:xfrm>
            <a:off x="2322576" y="2350008"/>
            <a:ext cx="3063240"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70" b="1" i="0">
                <a:solidFill>
                  <a:srgbClr val="F7F9FC"/>
                </a:solidFill>
                <a:latin typeface="Montserrat"/>
              </a:rPr>
              <a:t>Global mean response</a:t>
            </a:r>
          </a:p>
        </p:txBody>
      </p:sp>
      <p:sp>
        <p:nvSpPr>
          <p:cNvPr id="21" name="TextBox 20"/>
          <p:cNvSpPr txBox="1"/>
          <p:nvPr/>
        </p:nvSpPr>
        <p:spPr>
          <a:xfrm>
            <a:off x="5358383" y="2350008"/>
            <a:ext cx="2185415" cy="237744"/>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F7F9FC"/>
                </a:solidFill>
                <a:latin typeface="Montserrat"/>
              </a:rPr>
              <a:t>Public data beats zero?</a:t>
            </a:r>
          </a:p>
        </p:txBody>
      </p:sp>
      <p:sp>
        <p:nvSpPr>
          <p:cNvPr id="22" name="Rounded Rectangle 21"/>
          <p:cNvSpPr/>
          <p:nvPr/>
        </p:nvSpPr>
        <p:spPr>
          <a:xfrm>
            <a:off x="2002536" y="2834640"/>
            <a:ext cx="5724144" cy="438912"/>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30552" y="2907792"/>
            <a:ext cx="512064"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F7F9FC"/>
                </a:solidFill>
                <a:latin typeface="Montserrat"/>
              </a:rPr>
              <a:t>B3</a:t>
            </a:r>
          </a:p>
        </p:txBody>
      </p:sp>
      <p:sp>
        <p:nvSpPr>
          <p:cNvPr id="24" name="TextBox 23"/>
          <p:cNvSpPr txBox="1"/>
          <p:nvPr/>
        </p:nvSpPr>
        <p:spPr>
          <a:xfrm>
            <a:off x="2715768" y="2898648"/>
            <a:ext cx="3063240"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70" b="1" i="0">
                <a:solidFill>
                  <a:srgbClr val="F7F9FC"/>
                </a:solidFill>
                <a:latin typeface="Montserrat"/>
              </a:rPr>
              <a:t>Target transfer</a:t>
            </a:r>
          </a:p>
        </p:txBody>
      </p:sp>
      <p:sp>
        <p:nvSpPr>
          <p:cNvPr id="25" name="TextBox 24"/>
          <p:cNvSpPr txBox="1"/>
          <p:nvPr/>
        </p:nvSpPr>
        <p:spPr>
          <a:xfrm>
            <a:off x="5751575" y="2898648"/>
            <a:ext cx="1792224" cy="237744"/>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F7F9FC"/>
                </a:solidFill>
                <a:latin typeface="Montserrat"/>
              </a:rPr>
              <a:t>Priors predict target?</a:t>
            </a:r>
          </a:p>
        </p:txBody>
      </p:sp>
      <p:sp>
        <p:nvSpPr>
          <p:cNvPr id="26" name="Rounded Rectangle 25"/>
          <p:cNvSpPr/>
          <p:nvPr/>
        </p:nvSpPr>
        <p:spPr>
          <a:xfrm>
            <a:off x="2395728" y="3383280"/>
            <a:ext cx="5330952" cy="43891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523744" y="3456432"/>
            <a:ext cx="512064"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08101F"/>
                </a:solidFill>
                <a:latin typeface="Montserrat"/>
              </a:rPr>
              <a:t>B4</a:t>
            </a:r>
          </a:p>
        </p:txBody>
      </p:sp>
      <p:sp>
        <p:nvSpPr>
          <p:cNvPr id="28" name="TextBox 27"/>
          <p:cNvSpPr txBox="1"/>
          <p:nvPr/>
        </p:nvSpPr>
        <p:spPr>
          <a:xfrm>
            <a:off x="3108960" y="3447288"/>
            <a:ext cx="3063240"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70" b="1" i="0">
                <a:solidFill>
                  <a:srgbClr val="08101F"/>
                </a:solidFill>
                <a:latin typeface="Montserrat"/>
              </a:rPr>
              <a:t>Context-conditioned low rank</a:t>
            </a:r>
          </a:p>
        </p:txBody>
      </p:sp>
      <p:sp>
        <p:nvSpPr>
          <p:cNvPr id="29" name="TextBox 28"/>
          <p:cNvSpPr txBox="1"/>
          <p:nvPr/>
        </p:nvSpPr>
        <p:spPr>
          <a:xfrm>
            <a:off x="6144768" y="3447288"/>
            <a:ext cx="1399032" cy="237744"/>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08101F"/>
                </a:solidFill>
                <a:latin typeface="Montserrat"/>
              </a:rPr>
              <a:t>Context interaction?</a:t>
            </a:r>
          </a:p>
        </p:txBody>
      </p:sp>
      <p:sp>
        <p:nvSpPr>
          <p:cNvPr id="30" name="Rounded Rectangle 29"/>
          <p:cNvSpPr/>
          <p:nvPr/>
        </p:nvSpPr>
        <p:spPr>
          <a:xfrm>
            <a:off x="2788920" y="3931920"/>
            <a:ext cx="4937760" cy="438912"/>
          </a:xfrm>
          <a:prstGeom prst="round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916936" y="4005072"/>
            <a:ext cx="512064"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50" b="1" i="0">
                <a:solidFill>
                  <a:srgbClr val="08101F"/>
                </a:solidFill>
                <a:latin typeface="Montserrat"/>
              </a:rPr>
              <a:t>B5</a:t>
            </a:r>
          </a:p>
        </p:txBody>
      </p:sp>
      <p:sp>
        <p:nvSpPr>
          <p:cNvPr id="32" name="TextBox 31"/>
          <p:cNvSpPr txBox="1"/>
          <p:nvPr/>
        </p:nvSpPr>
        <p:spPr>
          <a:xfrm>
            <a:off x="3502152" y="3995928"/>
            <a:ext cx="3063240"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70" b="1" i="0">
                <a:solidFill>
                  <a:srgbClr val="08101F"/>
                </a:solidFill>
                <a:latin typeface="Montserrat"/>
              </a:rPr>
              <a:t>Hybrid count generator</a:t>
            </a:r>
          </a:p>
        </p:txBody>
      </p:sp>
      <p:sp>
        <p:nvSpPr>
          <p:cNvPr id="33" name="TextBox 32"/>
          <p:cNvSpPr txBox="1"/>
          <p:nvPr/>
        </p:nvSpPr>
        <p:spPr>
          <a:xfrm>
            <a:off x="6537959" y="3995928"/>
            <a:ext cx="1005840" cy="237744"/>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969" b="0" i="0">
                <a:solidFill>
                  <a:srgbClr val="08101F"/>
                </a:solidFill>
                <a:latin typeface="Montserrat"/>
              </a:rPr>
              <a:t>Calibrated variability?</a:t>
            </a:r>
          </a:p>
        </p:txBody>
      </p:sp>
      <p:sp>
        <p:nvSpPr>
          <p:cNvPr id="34" name="Rounded Rectangle 33"/>
          <p:cNvSpPr/>
          <p:nvPr/>
        </p:nvSpPr>
        <p:spPr>
          <a:xfrm>
            <a:off x="8065008" y="1499616"/>
            <a:ext cx="3236976" cy="2944368"/>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66760" y="1773936"/>
            <a:ext cx="2633472"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500" b="1" i="0">
                <a:solidFill>
                  <a:srgbClr val="C4B5FD"/>
                </a:solidFill>
                <a:latin typeface="Montserrat"/>
              </a:rPr>
              <a:t>Promotion gate</a:t>
            </a:r>
          </a:p>
        </p:txBody>
      </p:sp>
      <p:sp>
        <p:nvSpPr>
          <p:cNvPr id="36" name="TextBox 35"/>
          <p:cNvSpPr txBox="1"/>
          <p:nvPr/>
        </p:nvSpPr>
        <p:spPr>
          <a:xfrm>
            <a:off x="8430768" y="2359152"/>
            <a:ext cx="2505456" cy="151790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Mean held-out gain</a:t>
            </a:r>
            <a:br/>
            <a:r>
              <a:rPr sz="1400" b="1" i="0">
                <a:solidFill>
                  <a:srgbClr val="F7F9FC"/>
                </a:solidFill>
                <a:latin typeface="Montserrat"/>
              </a:rPr>
              <a:t>+</a:t>
            </a:r>
            <a:br/>
            <a:r>
              <a:rPr sz="1400" b="1" i="0">
                <a:solidFill>
                  <a:srgbClr val="F7F9FC"/>
                </a:solidFill>
                <a:latin typeface="Montserrat"/>
              </a:rPr>
              <a:t>worst-context safety</a:t>
            </a:r>
            <a:br/>
            <a:r>
              <a:rPr sz="1400" b="1" i="0">
                <a:solidFill>
                  <a:srgbClr val="F7F9FC"/>
                </a:solidFill>
                <a:latin typeface="Montserrat"/>
              </a:rPr>
              <a:t>+</a:t>
            </a:r>
            <a:br/>
            <a:r>
              <a:rPr sz="1400" b="1" i="0">
                <a:solidFill>
                  <a:srgbClr val="F7F9FC"/>
                </a:solidFill>
                <a:latin typeface="Montserrat"/>
              </a:rPr>
              <a:t>reproducible artifact</a:t>
            </a:r>
          </a:p>
        </p:txBody>
      </p:sp>
      <p:sp>
        <p:nvSpPr>
          <p:cNvPr id="37" name="TextBox 36"/>
          <p:cNvSpPr txBox="1"/>
          <p:nvPr/>
        </p:nvSpPr>
        <p:spPr>
          <a:xfrm>
            <a:off x="1152144" y="5641848"/>
            <a:ext cx="9875520"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B7185"/>
                </a:solidFill>
                <a:latin typeface="Montserrat"/>
              </a:rPr>
              <a:t>Do not compare models on training cell lines or random cell splits.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STRATEGY</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A scientific decomposition of the response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Separate what can transfer from what must adapt to the new control population.</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modeling framework</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26</a:t>
            </a:r>
          </a:p>
        </p:txBody>
      </p:sp>
      <p:sp>
        <p:nvSpPr>
          <p:cNvPr id="10" name="Rounded Rectangle 9"/>
          <p:cNvSpPr/>
          <p:nvPr/>
        </p:nvSpPr>
        <p:spPr>
          <a:xfrm>
            <a:off x="585216" y="1755648"/>
            <a:ext cx="2505456" cy="2240280"/>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2048256"/>
            <a:ext cx="2176272" cy="56692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300" b="1" i="0">
                <a:solidFill>
                  <a:srgbClr val="22D3EE"/>
                </a:solidFill>
                <a:latin typeface="Source Code Pro"/>
              </a:rPr>
              <a:t>x⁰c,i</a:t>
            </a:r>
          </a:p>
        </p:txBody>
      </p:sp>
      <p:sp>
        <p:nvSpPr>
          <p:cNvPr id="12" name="TextBox 11"/>
          <p:cNvSpPr txBox="1"/>
          <p:nvPr/>
        </p:nvSpPr>
        <p:spPr>
          <a:xfrm>
            <a:off x="749808" y="2779776"/>
            <a:ext cx="2176272"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Montserrat"/>
              </a:rPr>
              <a:t>control cell</a:t>
            </a:r>
          </a:p>
        </p:txBody>
      </p:sp>
      <p:sp>
        <p:nvSpPr>
          <p:cNvPr id="13" name="TextBox 12"/>
          <p:cNvSpPr txBox="1"/>
          <p:nvPr/>
        </p:nvSpPr>
        <p:spPr>
          <a:xfrm>
            <a:off x="804672" y="3218688"/>
            <a:ext cx="2066543" cy="43891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observed context state</a:t>
            </a:r>
          </a:p>
        </p:txBody>
      </p:sp>
      <p:sp>
        <p:nvSpPr>
          <p:cNvPr id="14" name="TextBox 13"/>
          <p:cNvSpPr txBox="1"/>
          <p:nvPr/>
        </p:nvSpPr>
        <p:spPr>
          <a:xfrm>
            <a:off x="3145536" y="2578608"/>
            <a:ext cx="274320" cy="41148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200" b="1" i="0">
                <a:solidFill>
                  <a:srgbClr val="F7F9FC"/>
                </a:solidFill>
                <a:latin typeface="Montserrat"/>
              </a:rPr>
              <a:t>+</a:t>
            </a:r>
          </a:p>
        </p:txBody>
      </p:sp>
      <p:sp>
        <p:nvSpPr>
          <p:cNvPr id="15" name="Rounded Rectangle 14"/>
          <p:cNvSpPr/>
          <p:nvPr/>
        </p:nvSpPr>
        <p:spPr>
          <a:xfrm>
            <a:off x="3438144" y="1755648"/>
            <a:ext cx="2505456" cy="2240280"/>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02736" y="2048256"/>
            <a:ext cx="2176272" cy="56692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300" b="1" i="0">
                <a:solidFill>
                  <a:srgbClr val="8B5CF6"/>
                </a:solidFill>
                <a:latin typeface="Source Code Pro"/>
              </a:rPr>
              <a:t>Δglobal(p)</a:t>
            </a:r>
          </a:p>
        </p:txBody>
      </p:sp>
      <p:sp>
        <p:nvSpPr>
          <p:cNvPr id="17" name="TextBox 16"/>
          <p:cNvSpPr txBox="1"/>
          <p:nvPr/>
        </p:nvSpPr>
        <p:spPr>
          <a:xfrm>
            <a:off x="3602736" y="2779776"/>
            <a:ext cx="2176272"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Montserrat"/>
              </a:rPr>
              <a:t>shared target effect</a:t>
            </a:r>
          </a:p>
        </p:txBody>
      </p:sp>
      <p:sp>
        <p:nvSpPr>
          <p:cNvPr id="18" name="TextBox 17"/>
          <p:cNvSpPr txBox="1"/>
          <p:nvPr/>
        </p:nvSpPr>
        <p:spPr>
          <a:xfrm>
            <a:off x="3657600" y="3218688"/>
            <a:ext cx="2066543" cy="43891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learned across public cell lines</a:t>
            </a:r>
          </a:p>
        </p:txBody>
      </p:sp>
      <p:sp>
        <p:nvSpPr>
          <p:cNvPr id="19" name="TextBox 18"/>
          <p:cNvSpPr txBox="1"/>
          <p:nvPr/>
        </p:nvSpPr>
        <p:spPr>
          <a:xfrm>
            <a:off x="5998464" y="2578608"/>
            <a:ext cx="274320" cy="41148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200" b="1" i="0">
                <a:solidFill>
                  <a:srgbClr val="F7F9FC"/>
                </a:solidFill>
                <a:latin typeface="Montserrat"/>
              </a:rPr>
              <a:t>+</a:t>
            </a:r>
          </a:p>
        </p:txBody>
      </p:sp>
      <p:sp>
        <p:nvSpPr>
          <p:cNvPr id="20" name="Rounded Rectangle 19"/>
          <p:cNvSpPr/>
          <p:nvPr/>
        </p:nvSpPr>
        <p:spPr>
          <a:xfrm>
            <a:off x="6291072" y="1755648"/>
            <a:ext cx="2505456" cy="2240280"/>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2048256"/>
            <a:ext cx="2176272" cy="56692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300" b="1" i="0">
                <a:solidFill>
                  <a:srgbClr val="F472B6"/>
                </a:solidFill>
                <a:latin typeface="Source Code Pro"/>
              </a:rPr>
              <a:t>Δint(c,p)</a:t>
            </a:r>
          </a:p>
        </p:txBody>
      </p:sp>
      <p:sp>
        <p:nvSpPr>
          <p:cNvPr id="22" name="TextBox 21"/>
          <p:cNvSpPr txBox="1"/>
          <p:nvPr/>
        </p:nvSpPr>
        <p:spPr>
          <a:xfrm>
            <a:off x="6455664" y="2779776"/>
            <a:ext cx="2176272"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Montserrat"/>
              </a:rPr>
              <a:t>context interaction</a:t>
            </a:r>
          </a:p>
        </p:txBody>
      </p:sp>
      <p:sp>
        <p:nvSpPr>
          <p:cNvPr id="23" name="TextBox 22"/>
          <p:cNvSpPr txBox="1"/>
          <p:nvPr/>
        </p:nvSpPr>
        <p:spPr>
          <a:xfrm>
            <a:off x="6510528" y="3218688"/>
            <a:ext cx="2066543" cy="43891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low-rank, similarity-weighted</a:t>
            </a:r>
          </a:p>
        </p:txBody>
      </p:sp>
      <p:sp>
        <p:nvSpPr>
          <p:cNvPr id="24" name="TextBox 23"/>
          <p:cNvSpPr txBox="1"/>
          <p:nvPr/>
        </p:nvSpPr>
        <p:spPr>
          <a:xfrm>
            <a:off x="8851392" y="2578608"/>
            <a:ext cx="274320" cy="41148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200" b="1" i="0">
                <a:solidFill>
                  <a:srgbClr val="F7F9FC"/>
                </a:solidFill>
                <a:latin typeface="Montserrat"/>
              </a:rPr>
              <a:t>+</a:t>
            </a:r>
          </a:p>
        </p:txBody>
      </p:sp>
      <p:sp>
        <p:nvSpPr>
          <p:cNvPr id="25" name="Rounded Rectangle 24"/>
          <p:cNvSpPr/>
          <p:nvPr/>
        </p:nvSpPr>
        <p:spPr>
          <a:xfrm>
            <a:off x="9144000" y="1755648"/>
            <a:ext cx="2505456" cy="2240280"/>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08592" y="2048256"/>
            <a:ext cx="2176272" cy="56692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300" b="1" i="0">
                <a:solidFill>
                  <a:srgbClr val="34D399"/>
                </a:solidFill>
                <a:latin typeface="Source Code Pro"/>
              </a:rPr>
              <a:t>εc,p,i</a:t>
            </a:r>
          </a:p>
        </p:txBody>
      </p:sp>
      <p:sp>
        <p:nvSpPr>
          <p:cNvPr id="27" name="TextBox 26"/>
          <p:cNvSpPr txBox="1"/>
          <p:nvPr/>
        </p:nvSpPr>
        <p:spPr>
          <a:xfrm>
            <a:off x="9308592" y="2779776"/>
            <a:ext cx="2176272"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7F9FC"/>
                </a:solidFill>
                <a:latin typeface="Montserrat"/>
              </a:rPr>
              <a:t>cell residual</a:t>
            </a:r>
          </a:p>
        </p:txBody>
      </p:sp>
      <p:sp>
        <p:nvSpPr>
          <p:cNvPr id="28" name="TextBox 27"/>
          <p:cNvSpPr txBox="1"/>
          <p:nvPr/>
        </p:nvSpPr>
        <p:spPr>
          <a:xfrm>
            <a:off x="9363456" y="3218688"/>
            <a:ext cx="2066543" cy="43891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depth + dispersion + state</a:t>
            </a:r>
          </a:p>
        </p:txBody>
      </p:sp>
      <p:sp>
        <p:nvSpPr>
          <p:cNvPr id="29" name="Rounded Rectangle 28"/>
          <p:cNvSpPr/>
          <p:nvPr/>
        </p:nvSpPr>
        <p:spPr>
          <a:xfrm>
            <a:off x="1078992" y="4535424"/>
            <a:ext cx="10040112" cy="822960"/>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16736" y="4773168"/>
            <a:ext cx="9564624" cy="32918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800" b="1" i="0">
                <a:solidFill>
                  <a:srgbClr val="C4B5FD"/>
                </a:solidFill>
                <a:latin typeface="Source Code Pro"/>
              </a:rPr>
              <a:t>x̂¹c,p,i  =  x⁰c,i  ⊕  Δglobal(p)  ⊕  Δint(c,p)  ⊕  εc,p,i</a:t>
            </a:r>
          </a:p>
        </p:txBody>
      </p:sp>
      <p:sp>
        <p:nvSpPr>
          <p:cNvPr id="31" name="TextBox 30"/>
          <p:cNvSpPr txBox="1"/>
          <p:nvPr/>
        </p:nvSpPr>
        <p:spPr>
          <a:xfrm>
            <a:off x="1901952" y="5632704"/>
            <a:ext cx="839419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80" b="0" i="0">
                <a:solidFill>
                  <a:srgbClr val="A9B5CC"/>
                </a:solidFill>
                <a:latin typeface="Montserrat"/>
              </a:rPr>
              <a:t>⊕ denotes a count-safe transformation—not unrestricted addition in raw count space.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STRATEGY</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External data are the training set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Use perturbation outcomes for supervision; use challenge controls only for zero-shot context conditioning.</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VCC 2026 Data; VCC Rules; public Perturb-seq literature</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27</a:t>
            </a:r>
          </a:p>
        </p:txBody>
      </p:sp>
      <p:sp>
        <p:nvSpPr>
          <p:cNvPr id="10" name="Oval 9"/>
          <p:cNvSpPr/>
          <p:nvPr/>
        </p:nvSpPr>
        <p:spPr>
          <a:xfrm>
            <a:off x="749808" y="1664207"/>
            <a:ext cx="512064" cy="51206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664207"/>
            <a:ext cx="512064" cy="51206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08101F"/>
                </a:solidFill>
                <a:latin typeface="Montserrat"/>
              </a:rPr>
              <a:t>1</a:t>
            </a:r>
          </a:p>
        </p:txBody>
      </p:sp>
      <p:sp>
        <p:nvSpPr>
          <p:cNvPr id="12" name="TextBox 11"/>
          <p:cNvSpPr txBox="1"/>
          <p:nvPr/>
        </p:nvSpPr>
        <p:spPr>
          <a:xfrm>
            <a:off x="1481328" y="1627632"/>
            <a:ext cx="265176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2025 H1 hESC</a:t>
            </a:r>
          </a:p>
        </p:txBody>
      </p:sp>
      <p:sp>
        <p:nvSpPr>
          <p:cNvPr id="13" name="TextBox 12"/>
          <p:cNvSpPr txBox="1"/>
          <p:nvPr/>
        </p:nvSpPr>
        <p:spPr>
          <a:xfrm>
            <a:off x="4059936" y="1627632"/>
            <a:ext cx="2633472"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same challenge lineage; useful reference</a:t>
            </a:r>
          </a:p>
        </p:txBody>
      </p:sp>
      <p:sp>
        <p:nvSpPr>
          <p:cNvPr id="14" name="Oval 13"/>
          <p:cNvSpPr/>
          <p:nvPr/>
        </p:nvSpPr>
        <p:spPr>
          <a:xfrm>
            <a:off x="749808" y="2633472"/>
            <a:ext cx="512064" cy="512064"/>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2633472"/>
            <a:ext cx="512064" cy="51206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F7F9FC"/>
                </a:solidFill>
                <a:latin typeface="Montserrat"/>
              </a:rPr>
              <a:t>2</a:t>
            </a:r>
          </a:p>
        </p:txBody>
      </p:sp>
      <p:sp>
        <p:nvSpPr>
          <p:cNvPr id="16" name="TextBox 15"/>
          <p:cNvSpPr txBox="1"/>
          <p:nvPr/>
        </p:nvSpPr>
        <p:spPr>
          <a:xfrm>
            <a:off x="1481328" y="2596896"/>
            <a:ext cx="265176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Public CRISPRi Perturb-seq</a:t>
            </a:r>
          </a:p>
        </p:txBody>
      </p:sp>
      <p:sp>
        <p:nvSpPr>
          <p:cNvPr id="17" name="TextBox 16"/>
          <p:cNvSpPr txBox="1"/>
          <p:nvPr/>
        </p:nvSpPr>
        <p:spPr>
          <a:xfrm>
            <a:off x="4059936" y="2596896"/>
            <a:ext cx="2633472"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single-gene response supervision</a:t>
            </a:r>
          </a:p>
        </p:txBody>
      </p:sp>
      <p:sp>
        <p:nvSpPr>
          <p:cNvPr id="18" name="Oval 17"/>
          <p:cNvSpPr/>
          <p:nvPr/>
        </p:nvSpPr>
        <p:spPr>
          <a:xfrm>
            <a:off x="749808" y="3602736"/>
            <a:ext cx="512064" cy="51206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3602736"/>
            <a:ext cx="512064" cy="51206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F7F9FC"/>
                </a:solidFill>
                <a:latin typeface="Montserrat"/>
              </a:rPr>
              <a:t>3</a:t>
            </a:r>
          </a:p>
        </p:txBody>
      </p:sp>
      <p:sp>
        <p:nvSpPr>
          <p:cNvPr id="20" name="TextBox 19"/>
          <p:cNvSpPr txBox="1"/>
          <p:nvPr/>
        </p:nvSpPr>
        <p:spPr>
          <a:xfrm>
            <a:off x="1481328" y="3566160"/>
            <a:ext cx="265176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Genome-scale screens</a:t>
            </a:r>
          </a:p>
        </p:txBody>
      </p:sp>
      <p:sp>
        <p:nvSpPr>
          <p:cNvPr id="21" name="TextBox 20"/>
          <p:cNvSpPr txBox="1"/>
          <p:nvPr/>
        </p:nvSpPr>
        <p:spPr>
          <a:xfrm>
            <a:off x="4059936" y="3566160"/>
            <a:ext cx="2633472"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target coverage and response bases</a:t>
            </a:r>
          </a:p>
        </p:txBody>
      </p:sp>
      <p:sp>
        <p:nvSpPr>
          <p:cNvPr id="22" name="Oval 21"/>
          <p:cNvSpPr/>
          <p:nvPr/>
        </p:nvSpPr>
        <p:spPr>
          <a:xfrm>
            <a:off x="749808" y="4572000"/>
            <a:ext cx="512064" cy="51206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808" y="4572000"/>
            <a:ext cx="512064" cy="51206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200" b="1" i="0">
                <a:solidFill>
                  <a:srgbClr val="08101F"/>
                </a:solidFill>
                <a:latin typeface="Montserrat"/>
              </a:rPr>
              <a:t>4</a:t>
            </a:r>
          </a:p>
        </p:txBody>
      </p:sp>
      <p:sp>
        <p:nvSpPr>
          <p:cNvPr id="24" name="TextBox 23"/>
          <p:cNvSpPr txBox="1"/>
          <p:nvPr/>
        </p:nvSpPr>
        <p:spPr>
          <a:xfrm>
            <a:off x="1481328" y="4535424"/>
            <a:ext cx="265176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Atlas / bulk signatures</a:t>
            </a:r>
          </a:p>
        </p:txBody>
      </p:sp>
      <p:sp>
        <p:nvSpPr>
          <p:cNvPr id="25" name="TextBox 24"/>
          <p:cNvSpPr txBox="1"/>
          <p:nvPr/>
        </p:nvSpPr>
        <p:spPr>
          <a:xfrm>
            <a:off x="4059936" y="4535424"/>
            <a:ext cx="2633472"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context and pathway priors</a:t>
            </a:r>
          </a:p>
        </p:txBody>
      </p:sp>
      <p:cxnSp>
        <p:nvCxnSpPr>
          <p:cNvPr id="26" name="Connector 25"/>
          <p:cNvCxnSpPr/>
          <p:nvPr/>
        </p:nvCxnSpPr>
        <p:spPr>
          <a:xfrm>
            <a:off x="6858000" y="3063240"/>
            <a:ext cx="621792"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7424927" y="3008376"/>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589520" y="1554480"/>
            <a:ext cx="3785615" cy="3749039"/>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82127" y="1828800"/>
            <a:ext cx="320040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500" b="1" i="0">
                <a:solidFill>
                  <a:srgbClr val="A5F3FC"/>
                </a:solidFill>
                <a:latin typeface="Montserrat"/>
              </a:rPr>
              <a:t>Harmonization gates</a:t>
            </a:r>
          </a:p>
        </p:txBody>
      </p:sp>
      <p:sp>
        <p:nvSpPr>
          <p:cNvPr id="30" name="TextBox 29"/>
          <p:cNvSpPr txBox="1"/>
          <p:nvPr/>
        </p:nvSpPr>
        <p:spPr>
          <a:xfrm>
            <a:off x="7882127" y="2304288"/>
            <a:ext cx="3108960" cy="2340864"/>
          </a:xfrm>
          <a:prstGeom prst="rect">
            <a:avLst/>
          </a:prstGeom>
          <a:noFill/>
        </p:spPr>
        <p:txBody>
          <a:bodyPr wrap="square" lIns="18288" rIns="18288" tIns="18288" bIns="18288">
            <a:spAutoFit/>
          </a:bodyPr>
          <a:lstStyle/>
          <a:p>
            <a:pPr>
              <a:lnSpc>
                <a:spcPct val="108000"/>
              </a:lnSpc>
              <a:spcBef>
                <a:spcPts val="0"/>
              </a:spcBef>
              <a:spcAft>
                <a:spcPts val="300"/>
              </a:spcAft>
            </a:pPr>
            <a:r>
              <a:rPr sz="1120" b="1">
                <a:solidFill>
                  <a:srgbClr val="C4B5FD"/>
                </a:solidFill>
                <a:latin typeface="Montserrat"/>
              </a:rPr>
              <a:t>•  </a:t>
            </a:r>
            <a:r>
              <a:rPr sz="1120">
                <a:solidFill>
                  <a:srgbClr val="F7F9FC"/>
                </a:solidFill>
                <a:latin typeface="Montserrat"/>
              </a:rPr>
              <a:t>gene symbol and 18,533-axis mapping</a:t>
            </a:r>
          </a:p>
          <a:p>
            <a:pPr>
              <a:lnSpc>
                <a:spcPct val="108000"/>
              </a:lnSpc>
              <a:spcBef>
                <a:spcPts val="0"/>
              </a:spcBef>
              <a:spcAft>
                <a:spcPts val="300"/>
              </a:spcAft>
            </a:pPr>
            <a:r>
              <a:rPr sz="1120" b="1">
                <a:solidFill>
                  <a:srgbClr val="C4B5FD"/>
                </a:solidFill>
                <a:latin typeface="Montserrat"/>
              </a:rPr>
              <a:t>•  </a:t>
            </a:r>
            <a:r>
              <a:rPr sz="1120">
                <a:solidFill>
                  <a:srgbClr val="F7F9FC"/>
                </a:solidFill>
                <a:latin typeface="Montserrat"/>
              </a:rPr>
              <a:t>CRISPRi versus knockout / activation</a:t>
            </a:r>
          </a:p>
          <a:p>
            <a:pPr>
              <a:lnSpc>
                <a:spcPct val="108000"/>
              </a:lnSpc>
              <a:spcBef>
                <a:spcPts val="0"/>
              </a:spcBef>
              <a:spcAft>
                <a:spcPts val="300"/>
              </a:spcAft>
            </a:pPr>
            <a:r>
              <a:rPr sz="1120" b="1">
                <a:solidFill>
                  <a:srgbClr val="C4B5FD"/>
                </a:solidFill>
                <a:latin typeface="Montserrat"/>
              </a:rPr>
              <a:t>•  </a:t>
            </a:r>
            <a:r>
              <a:rPr sz="1120">
                <a:solidFill>
                  <a:srgbClr val="F7F9FC"/>
                </a:solidFill>
                <a:latin typeface="Montserrat"/>
              </a:rPr>
              <a:t>time point and knockdown strength</a:t>
            </a:r>
          </a:p>
          <a:p>
            <a:pPr>
              <a:lnSpc>
                <a:spcPct val="108000"/>
              </a:lnSpc>
              <a:spcBef>
                <a:spcPts val="0"/>
              </a:spcBef>
              <a:spcAft>
                <a:spcPts val="300"/>
              </a:spcAft>
            </a:pPr>
            <a:r>
              <a:rPr sz="1120" b="1">
                <a:solidFill>
                  <a:srgbClr val="C4B5FD"/>
                </a:solidFill>
                <a:latin typeface="Montserrat"/>
              </a:rPr>
              <a:t>•  </a:t>
            </a:r>
            <a:r>
              <a:rPr sz="1120">
                <a:solidFill>
                  <a:srgbClr val="F7F9FC"/>
                </a:solidFill>
                <a:latin typeface="Montserrat"/>
              </a:rPr>
              <a:t>library depth and count technology</a:t>
            </a:r>
          </a:p>
          <a:p>
            <a:pPr>
              <a:lnSpc>
                <a:spcPct val="108000"/>
              </a:lnSpc>
              <a:spcBef>
                <a:spcPts val="0"/>
              </a:spcBef>
              <a:spcAft>
                <a:spcPts val="300"/>
              </a:spcAft>
            </a:pPr>
            <a:r>
              <a:rPr sz="1120" b="1">
                <a:solidFill>
                  <a:srgbClr val="C4B5FD"/>
                </a:solidFill>
                <a:latin typeface="Montserrat"/>
              </a:rPr>
              <a:t>•  </a:t>
            </a:r>
            <a:r>
              <a:rPr sz="1120">
                <a:solidFill>
                  <a:srgbClr val="F7F9FC"/>
                </a:solidFill>
                <a:latin typeface="Montserrat"/>
              </a:rPr>
              <a:t>cell-line similarity and source ablation</a:t>
            </a:r>
          </a:p>
          <a:p>
            <a:pPr>
              <a:lnSpc>
                <a:spcPct val="108000"/>
              </a:lnSpc>
              <a:spcBef>
                <a:spcPts val="0"/>
              </a:spcBef>
              <a:spcAft>
                <a:spcPts val="300"/>
              </a:spcAft>
            </a:pPr>
            <a:r>
              <a:rPr sz="1120" b="1">
                <a:solidFill>
                  <a:srgbClr val="C4B5FD"/>
                </a:solidFill>
                <a:latin typeface="Montserrat"/>
              </a:rPr>
              <a:t>•  </a:t>
            </a:r>
            <a:r>
              <a:rPr sz="1120">
                <a:solidFill>
                  <a:srgbClr val="F7F9FC"/>
                </a:solidFill>
                <a:latin typeface="Montserrat"/>
              </a:rPr>
              <a:t>license and provenance record</a:t>
            </a:r>
          </a:p>
        </p:txBody>
      </p:sp>
      <p:sp>
        <p:nvSpPr>
          <p:cNvPr id="31" name="Rounded Rectangle 30"/>
          <p:cNvSpPr/>
          <p:nvPr/>
        </p:nvSpPr>
        <p:spPr>
          <a:xfrm>
            <a:off x="932688" y="5596128"/>
            <a:ext cx="10314432" cy="384048"/>
          </a:xfrm>
          <a:prstGeom prst="roundRect">
            <a:avLst/>
          </a:prstGeom>
          <a:solidFill>
            <a:srgbClr val="0D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43000" y="5678424"/>
            <a:ext cx="9893808" cy="20116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B7185"/>
                </a:solidFill>
                <a:latin typeface="Montserrat"/>
              </a:rPr>
              <a:t>Never paste measured final outcomes; all final predictions must be model-generated under the competition rules.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STRATEGY</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Recommended hybrid system</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Make the deterministic mean effect the spine; make generative modeling a calibrated distribution layer.</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28</a:t>
            </a:r>
          </a:p>
        </p:txBody>
      </p:sp>
      <p:sp>
        <p:nvSpPr>
          <p:cNvPr id="10" name="Rounded Rectangle 9"/>
          <p:cNvSpPr/>
          <p:nvPr/>
        </p:nvSpPr>
        <p:spPr>
          <a:xfrm>
            <a:off x="502920" y="1719072"/>
            <a:ext cx="1828800" cy="1325880"/>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 y="1975104"/>
            <a:ext cx="1572768"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F7F9FC"/>
                </a:solidFill>
                <a:latin typeface="Montserrat"/>
              </a:rPr>
              <a:t>NTC controls</a:t>
            </a:r>
          </a:p>
        </p:txBody>
      </p:sp>
      <p:sp>
        <p:nvSpPr>
          <p:cNvPr id="12" name="TextBox 11"/>
          <p:cNvSpPr txBox="1"/>
          <p:nvPr/>
        </p:nvSpPr>
        <p:spPr>
          <a:xfrm>
            <a:off x="630936" y="2487168"/>
            <a:ext cx="1572768"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context distribution</a:t>
            </a:r>
          </a:p>
        </p:txBody>
      </p:sp>
      <p:sp>
        <p:nvSpPr>
          <p:cNvPr id="13" name="Rounded Rectangle 12"/>
          <p:cNvSpPr/>
          <p:nvPr/>
        </p:nvSpPr>
        <p:spPr>
          <a:xfrm>
            <a:off x="502920" y="3822191"/>
            <a:ext cx="1828800" cy="1325880"/>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 y="4078224"/>
            <a:ext cx="1572768"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F7F9FC"/>
                </a:solidFill>
                <a:latin typeface="Montserrat"/>
              </a:rPr>
              <a:t>Target gene</a:t>
            </a:r>
          </a:p>
        </p:txBody>
      </p:sp>
      <p:sp>
        <p:nvSpPr>
          <p:cNvPr id="15" name="TextBox 14"/>
          <p:cNvSpPr txBox="1"/>
          <p:nvPr/>
        </p:nvSpPr>
        <p:spPr>
          <a:xfrm>
            <a:off x="630936" y="4590288"/>
            <a:ext cx="1572768"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sequence • graph • text</a:t>
            </a:r>
          </a:p>
        </p:txBody>
      </p:sp>
      <p:sp>
        <p:nvSpPr>
          <p:cNvPr id="16" name="Rounded Rectangle 15"/>
          <p:cNvSpPr/>
          <p:nvPr/>
        </p:nvSpPr>
        <p:spPr>
          <a:xfrm>
            <a:off x="2770632" y="1719072"/>
            <a:ext cx="1874519" cy="1325880"/>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98648" y="1975104"/>
            <a:ext cx="1618487"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F7F9FC"/>
                </a:solidFill>
                <a:latin typeface="Montserrat"/>
              </a:rPr>
              <a:t>Context encoder</a:t>
            </a:r>
          </a:p>
        </p:txBody>
      </p:sp>
      <p:sp>
        <p:nvSpPr>
          <p:cNvPr id="18" name="TextBox 17"/>
          <p:cNvSpPr txBox="1"/>
          <p:nvPr/>
        </p:nvSpPr>
        <p:spPr>
          <a:xfrm>
            <a:off x="2898648" y="2487168"/>
            <a:ext cx="1618487"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set / pseudobulk / modules</a:t>
            </a:r>
          </a:p>
        </p:txBody>
      </p:sp>
      <p:sp>
        <p:nvSpPr>
          <p:cNvPr id="19" name="Rounded Rectangle 18"/>
          <p:cNvSpPr/>
          <p:nvPr/>
        </p:nvSpPr>
        <p:spPr>
          <a:xfrm>
            <a:off x="2770632" y="3822191"/>
            <a:ext cx="1874519" cy="1325880"/>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98648" y="4078224"/>
            <a:ext cx="1618487"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F7F9FC"/>
                </a:solidFill>
                <a:latin typeface="Montserrat"/>
              </a:rPr>
              <a:t>Perturbation encoder</a:t>
            </a:r>
          </a:p>
        </p:txBody>
      </p:sp>
      <p:sp>
        <p:nvSpPr>
          <p:cNvPr id="21" name="TextBox 20"/>
          <p:cNvSpPr txBox="1"/>
          <p:nvPr/>
        </p:nvSpPr>
        <p:spPr>
          <a:xfrm>
            <a:off x="2898648" y="4590288"/>
            <a:ext cx="1618487"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multi-view gene embedding</a:t>
            </a:r>
          </a:p>
        </p:txBody>
      </p:sp>
      <p:sp>
        <p:nvSpPr>
          <p:cNvPr id="22" name="Rounded Rectangle 21"/>
          <p:cNvSpPr/>
          <p:nvPr/>
        </p:nvSpPr>
        <p:spPr>
          <a:xfrm>
            <a:off x="5084064" y="2523744"/>
            <a:ext cx="2084831" cy="1600200"/>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79" y="2779776"/>
            <a:ext cx="1828799"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F7F9FC"/>
                </a:solidFill>
                <a:latin typeface="Montserrat"/>
              </a:rPr>
              <a:t>Mean-effect predictor</a:t>
            </a:r>
          </a:p>
        </p:txBody>
      </p:sp>
      <p:sp>
        <p:nvSpPr>
          <p:cNvPr id="24" name="TextBox 23"/>
          <p:cNvSpPr txBox="1"/>
          <p:nvPr/>
        </p:nvSpPr>
        <p:spPr>
          <a:xfrm>
            <a:off x="5212079" y="3291839"/>
            <a:ext cx="1828799"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Δglobal + Δinteraction</a:t>
            </a:r>
          </a:p>
        </p:txBody>
      </p:sp>
      <p:sp>
        <p:nvSpPr>
          <p:cNvPr id="25" name="Rounded Rectangle 24"/>
          <p:cNvSpPr/>
          <p:nvPr/>
        </p:nvSpPr>
        <p:spPr>
          <a:xfrm>
            <a:off x="7626096" y="2523744"/>
            <a:ext cx="1847088" cy="1600200"/>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54112" y="2779776"/>
            <a:ext cx="1591056"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F7F9FC"/>
                </a:solidFill>
                <a:latin typeface="Montserrat"/>
              </a:rPr>
              <a:t>Count generator</a:t>
            </a:r>
          </a:p>
        </p:txBody>
      </p:sp>
      <p:sp>
        <p:nvSpPr>
          <p:cNvPr id="27" name="TextBox 26"/>
          <p:cNvSpPr txBox="1"/>
          <p:nvPr/>
        </p:nvSpPr>
        <p:spPr>
          <a:xfrm>
            <a:off x="7754112" y="3291839"/>
            <a:ext cx="1591056"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NB/DM or residual flow</a:t>
            </a:r>
          </a:p>
        </p:txBody>
      </p:sp>
      <p:sp>
        <p:nvSpPr>
          <p:cNvPr id="28" name="Rounded Rectangle 27"/>
          <p:cNvSpPr/>
          <p:nvPr/>
        </p:nvSpPr>
        <p:spPr>
          <a:xfrm>
            <a:off x="9912096" y="2523744"/>
            <a:ext cx="1773936" cy="1600200"/>
          </a:xfrm>
          <a:prstGeom prst="roundRect">
            <a:avLst/>
          </a:prstGeom>
          <a:solidFill>
            <a:srgbClr val="111C31"/>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40112" y="2779776"/>
            <a:ext cx="1517904"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F7F9FC"/>
                </a:solidFill>
                <a:latin typeface="Montserrat"/>
              </a:rPr>
              <a:t>400 cells</a:t>
            </a:r>
          </a:p>
        </p:txBody>
      </p:sp>
      <p:sp>
        <p:nvSpPr>
          <p:cNvPr id="30" name="TextBox 29"/>
          <p:cNvSpPr txBox="1"/>
          <p:nvPr/>
        </p:nvSpPr>
        <p:spPr>
          <a:xfrm>
            <a:off x="10040112" y="3291839"/>
            <a:ext cx="1517904" cy="34747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raw sparse counts</a:t>
            </a:r>
          </a:p>
        </p:txBody>
      </p:sp>
      <p:cxnSp>
        <p:nvCxnSpPr>
          <p:cNvPr id="31" name="Connector 30"/>
          <p:cNvCxnSpPr/>
          <p:nvPr/>
        </p:nvCxnSpPr>
        <p:spPr>
          <a:xfrm>
            <a:off x="2432304" y="2386584"/>
            <a:ext cx="256032" cy="0"/>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5400000">
            <a:off x="2633472" y="2331720"/>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432304" y="4489704"/>
            <a:ext cx="256032" cy="0"/>
          </a:xfrm>
          <a:prstGeom prst="line">
            <a:avLst/>
          </a:prstGeom>
          <a:ln w="25400">
            <a:solidFill>
              <a:srgbClr val="8B5CF6"/>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5400000">
            <a:off x="2633472" y="4434840"/>
            <a:ext cx="109728" cy="109728"/>
          </a:xfrm>
          <a:prstGeom prs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4736592" y="2386584"/>
            <a:ext cx="274320" cy="585216"/>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36" name="Isosceles Triangle 35"/>
          <p:cNvSpPr/>
          <p:nvPr/>
        </p:nvSpPr>
        <p:spPr>
          <a:xfrm rot="9293110">
            <a:off x="4956048" y="2916936"/>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flipV="1">
            <a:off x="4736592" y="3685032"/>
            <a:ext cx="274320" cy="804672"/>
          </a:xfrm>
          <a:prstGeom prst="line">
            <a:avLst/>
          </a:prstGeom>
          <a:ln w="25400">
            <a:solidFill>
              <a:srgbClr val="8B5CF6"/>
            </a:solidFill>
          </a:ln>
        </p:spPr>
        <p:style>
          <a:lnRef idx="2">
            <a:schemeClr val="accent1"/>
          </a:lnRef>
          <a:fillRef idx="0">
            <a:schemeClr val="accent1"/>
          </a:fillRef>
          <a:effectRef idx="1">
            <a:schemeClr val="accent1"/>
          </a:effectRef>
          <a:fontRef idx="minor">
            <a:schemeClr val="tx1"/>
          </a:fontRef>
        </p:style>
      </p:cxnSp>
      <p:sp>
        <p:nvSpPr>
          <p:cNvPr id="38" name="Isosceles Triangle 37"/>
          <p:cNvSpPr/>
          <p:nvPr/>
        </p:nvSpPr>
        <p:spPr>
          <a:xfrm rot="1129483">
            <a:off x="4956048" y="3630168"/>
            <a:ext cx="109728" cy="109728"/>
          </a:xfrm>
          <a:prstGeom prs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7251192" y="3319272"/>
            <a:ext cx="274320" cy="0"/>
          </a:xfrm>
          <a:prstGeom prst="line">
            <a:avLst/>
          </a:prstGeom>
          <a:ln w="25400">
            <a:solidFill>
              <a:srgbClr val="F472B6"/>
            </a:solidFill>
          </a:ln>
        </p:spPr>
        <p:style>
          <a:lnRef idx="2">
            <a:schemeClr val="accent1"/>
          </a:lnRef>
          <a:fillRef idx="0">
            <a:schemeClr val="accent1"/>
          </a:fillRef>
          <a:effectRef idx="1">
            <a:schemeClr val="accent1"/>
          </a:effectRef>
          <a:fontRef idx="minor">
            <a:schemeClr val="tx1"/>
          </a:fontRef>
        </p:style>
      </p:cxnSp>
      <p:sp>
        <p:nvSpPr>
          <p:cNvPr id="40" name="Isosceles Triangle 39"/>
          <p:cNvSpPr/>
          <p:nvPr/>
        </p:nvSpPr>
        <p:spPr>
          <a:xfrm rot="5400000">
            <a:off x="7470648" y="3264408"/>
            <a:ext cx="109728" cy="109728"/>
          </a:xfrm>
          <a:prstGeom prst="triangl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a:off x="9564624" y="3319272"/>
            <a:ext cx="265176" cy="0"/>
          </a:xfrm>
          <a:prstGeom prst="line">
            <a:avLst/>
          </a:prstGeom>
          <a:ln w="25400">
            <a:solidFill>
              <a:srgbClr val="34D399"/>
            </a:solidFill>
          </a:ln>
        </p:spPr>
        <p:style>
          <a:lnRef idx="2">
            <a:schemeClr val="accent1"/>
          </a:lnRef>
          <a:fillRef idx="0">
            <a:schemeClr val="accent1"/>
          </a:fillRef>
          <a:effectRef idx="1">
            <a:schemeClr val="accent1"/>
          </a:effectRef>
          <a:fontRef idx="minor">
            <a:schemeClr val="tx1"/>
          </a:fontRef>
        </p:style>
      </p:cxnSp>
      <p:sp>
        <p:nvSpPr>
          <p:cNvPr id="42" name="Isosceles Triangle 41"/>
          <p:cNvSpPr/>
          <p:nvPr/>
        </p:nvSpPr>
        <p:spPr>
          <a:xfrm rot="5400000">
            <a:off x="9774936" y="3264408"/>
            <a:ext cx="109728" cy="109728"/>
          </a:xfrm>
          <a:prstGeom prst="triangl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767328" y="5431536"/>
            <a:ext cx="4700016" cy="475488"/>
          </a:xfrm>
          <a:prstGeom prst="roundRect">
            <a:avLst/>
          </a:prstGeom>
          <a:solidFill>
            <a:srgbClr val="0D172A"/>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68496" y="5550408"/>
            <a:ext cx="4297680" cy="22860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A5F3FC"/>
                </a:solidFill>
                <a:latin typeface="Source Code Pro"/>
              </a:rPr>
              <a:t>exact metric emulator  →  calibration  →  ensemble</a:t>
            </a:r>
          </a:p>
        </p:txBody>
      </p:sp>
      <p:cxnSp>
        <p:nvCxnSpPr>
          <p:cNvPr id="45" name="Connector 44"/>
          <p:cNvCxnSpPr/>
          <p:nvPr/>
        </p:nvCxnSpPr>
        <p:spPr>
          <a:xfrm>
            <a:off x="6108192" y="4261104"/>
            <a:ext cx="0" cy="1078992"/>
          </a:xfrm>
          <a:prstGeom prst="line">
            <a:avLst/>
          </a:prstGeom>
          <a:ln w="19050">
            <a:solidFill>
              <a:srgbClr val="71809B"/>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COMPONENTS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Context encoder: summarize a population</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robust distributional representation is safer than a context-ID embedding.</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29</a:t>
            </a:r>
          </a:p>
        </p:txBody>
      </p:sp>
      <p:sp>
        <p:nvSpPr>
          <p:cNvPr id="10" name="Rounded Rectangle 9"/>
          <p:cNvSpPr/>
          <p:nvPr/>
        </p:nvSpPr>
        <p:spPr>
          <a:xfrm>
            <a:off x="621792" y="1572768"/>
            <a:ext cx="3456432" cy="1225296"/>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1783080"/>
            <a:ext cx="438912" cy="43891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1783080"/>
            <a:ext cx="438912" cy="43891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1</a:t>
            </a:r>
          </a:p>
        </p:txBody>
      </p:sp>
      <p:sp>
        <p:nvSpPr>
          <p:cNvPr id="13" name="TextBox 12"/>
          <p:cNvSpPr txBox="1"/>
          <p:nvPr/>
        </p:nvSpPr>
        <p:spPr>
          <a:xfrm>
            <a:off x="1389888" y="1773936"/>
            <a:ext cx="2395728" cy="28346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Basal state</a:t>
            </a:r>
          </a:p>
        </p:txBody>
      </p:sp>
      <p:sp>
        <p:nvSpPr>
          <p:cNvPr id="14" name="TextBox 13"/>
          <p:cNvSpPr txBox="1"/>
          <p:nvPr/>
        </p:nvSpPr>
        <p:spPr>
          <a:xfrm>
            <a:off x="1389888" y="2167128"/>
            <a:ext cx="2395728" cy="36576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30" b="0" i="0">
                <a:solidFill>
                  <a:srgbClr val="A9B5CC"/>
                </a:solidFill>
                <a:latin typeface="Montserrat"/>
              </a:rPr>
              <a:t>log-normalized pseudobulk</a:t>
            </a:r>
          </a:p>
        </p:txBody>
      </p:sp>
      <p:sp>
        <p:nvSpPr>
          <p:cNvPr id="15" name="Rounded Rectangle 14"/>
          <p:cNvSpPr/>
          <p:nvPr/>
        </p:nvSpPr>
        <p:spPr>
          <a:xfrm>
            <a:off x="4389120" y="1572768"/>
            <a:ext cx="3456432" cy="1225296"/>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572000" y="1783080"/>
            <a:ext cx="438912" cy="43891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1783080"/>
            <a:ext cx="438912" cy="43891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2</a:t>
            </a:r>
          </a:p>
        </p:txBody>
      </p:sp>
      <p:sp>
        <p:nvSpPr>
          <p:cNvPr id="18" name="TextBox 17"/>
          <p:cNvSpPr txBox="1"/>
          <p:nvPr/>
        </p:nvSpPr>
        <p:spPr>
          <a:xfrm>
            <a:off x="5157216" y="1773936"/>
            <a:ext cx="2395728" cy="28346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Cell states</a:t>
            </a:r>
          </a:p>
        </p:txBody>
      </p:sp>
      <p:sp>
        <p:nvSpPr>
          <p:cNvPr id="19" name="TextBox 18"/>
          <p:cNvSpPr txBox="1"/>
          <p:nvPr/>
        </p:nvSpPr>
        <p:spPr>
          <a:xfrm>
            <a:off x="5157216" y="2167128"/>
            <a:ext cx="2395728" cy="36576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30" b="0" i="0">
                <a:solidFill>
                  <a:srgbClr val="A9B5CC"/>
                </a:solidFill>
                <a:latin typeface="Montserrat"/>
              </a:rPr>
              <a:t>mixture proportions / latent clusters</a:t>
            </a:r>
          </a:p>
        </p:txBody>
      </p:sp>
      <p:sp>
        <p:nvSpPr>
          <p:cNvPr id="20" name="Rounded Rectangle 19"/>
          <p:cNvSpPr/>
          <p:nvPr/>
        </p:nvSpPr>
        <p:spPr>
          <a:xfrm>
            <a:off x="8156448" y="1572768"/>
            <a:ext cx="3456432" cy="1225296"/>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339327" y="1783080"/>
            <a:ext cx="438912" cy="438912"/>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1783080"/>
            <a:ext cx="438912" cy="43891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3</a:t>
            </a:r>
          </a:p>
        </p:txBody>
      </p:sp>
      <p:sp>
        <p:nvSpPr>
          <p:cNvPr id="23" name="TextBox 22"/>
          <p:cNvSpPr txBox="1"/>
          <p:nvPr/>
        </p:nvSpPr>
        <p:spPr>
          <a:xfrm>
            <a:off x="8924544" y="1773936"/>
            <a:ext cx="2395728" cy="28346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Gene programs</a:t>
            </a:r>
          </a:p>
        </p:txBody>
      </p:sp>
      <p:sp>
        <p:nvSpPr>
          <p:cNvPr id="24" name="TextBox 23"/>
          <p:cNvSpPr txBox="1"/>
          <p:nvPr/>
        </p:nvSpPr>
        <p:spPr>
          <a:xfrm>
            <a:off x="8924544" y="2167128"/>
            <a:ext cx="2395728" cy="36576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30" b="0" i="0">
                <a:solidFill>
                  <a:srgbClr val="A9B5CC"/>
                </a:solidFill>
                <a:latin typeface="Montserrat"/>
              </a:rPr>
              <a:t>pathway and module activities</a:t>
            </a:r>
          </a:p>
        </p:txBody>
      </p:sp>
      <p:sp>
        <p:nvSpPr>
          <p:cNvPr id="25" name="Rounded Rectangle 24"/>
          <p:cNvSpPr/>
          <p:nvPr/>
        </p:nvSpPr>
        <p:spPr>
          <a:xfrm>
            <a:off x="621792" y="3090672"/>
            <a:ext cx="3456432" cy="1225296"/>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04672" y="3300984"/>
            <a:ext cx="438912" cy="438912"/>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 y="3300984"/>
            <a:ext cx="438912" cy="43891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4</a:t>
            </a:r>
          </a:p>
        </p:txBody>
      </p:sp>
      <p:sp>
        <p:nvSpPr>
          <p:cNvPr id="28" name="TextBox 27"/>
          <p:cNvSpPr txBox="1"/>
          <p:nvPr/>
        </p:nvSpPr>
        <p:spPr>
          <a:xfrm>
            <a:off x="1389888" y="3291840"/>
            <a:ext cx="2395728" cy="28346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Covariance</a:t>
            </a:r>
          </a:p>
        </p:txBody>
      </p:sp>
      <p:sp>
        <p:nvSpPr>
          <p:cNvPr id="29" name="TextBox 28"/>
          <p:cNvSpPr txBox="1"/>
          <p:nvPr/>
        </p:nvSpPr>
        <p:spPr>
          <a:xfrm>
            <a:off x="1389888" y="3685032"/>
            <a:ext cx="2395728" cy="36576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30" b="0" i="0">
                <a:solidFill>
                  <a:srgbClr val="A9B5CC"/>
                </a:solidFill>
                <a:latin typeface="Montserrat"/>
              </a:rPr>
              <a:t>low-rank co-expression structure</a:t>
            </a:r>
          </a:p>
        </p:txBody>
      </p:sp>
      <p:sp>
        <p:nvSpPr>
          <p:cNvPr id="30" name="Rounded Rectangle 29"/>
          <p:cNvSpPr/>
          <p:nvPr/>
        </p:nvSpPr>
        <p:spPr>
          <a:xfrm>
            <a:off x="4389120" y="3090672"/>
            <a:ext cx="3456432" cy="1225296"/>
          </a:xfrm>
          <a:prstGeom prst="roundRect">
            <a:avLst/>
          </a:prstGeom>
          <a:solidFill>
            <a:srgbClr val="111C31"/>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572000" y="3300984"/>
            <a:ext cx="438912" cy="438912"/>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0" y="3300984"/>
            <a:ext cx="438912" cy="43891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5</a:t>
            </a:r>
          </a:p>
        </p:txBody>
      </p:sp>
      <p:sp>
        <p:nvSpPr>
          <p:cNvPr id="33" name="TextBox 32"/>
          <p:cNvSpPr txBox="1"/>
          <p:nvPr/>
        </p:nvSpPr>
        <p:spPr>
          <a:xfrm>
            <a:off x="5157216" y="3291840"/>
            <a:ext cx="2395728" cy="28346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Technical state</a:t>
            </a:r>
          </a:p>
        </p:txBody>
      </p:sp>
      <p:sp>
        <p:nvSpPr>
          <p:cNvPr id="34" name="TextBox 33"/>
          <p:cNvSpPr txBox="1"/>
          <p:nvPr/>
        </p:nvSpPr>
        <p:spPr>
          <a:xfrm>
            <a:off x="5157216" y="3685032"/>
            <a:ext cx="2395728" cy="36576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30" b="0" i="0">
                <a:solidFill>
                  <a:srgbClr val="A9B5CC"/>
                </a:solidFill>
                <a:latin typeface="Montserrat"/>
              </a:rPr>
              <a:t>depth, detected genes, zero fraction</a:t>
            </a:r>
          </a:p>
        </p:txBody>
      </p:sp>
      <p:sp>
        <p:nvSpPr>
          <p:cNvPr id="35" name="Rounded Rectangle 34"/>
          <p:cNvSpPr/>
          <p:nvPr/>
        </p:nvSpPr>
        <p:spPr>
          <a:xfrm>
            <a:off x="8156448" y="3090672"/>
            <a:ext cx="3456432" cy="1225296"/>
          </a:xfrm>
          <a:prstGeom prst="roundRect">
            <a:avLst/>
          </a:prstGeom>
          <a:solidFill>
            <a:srgbClr val="111C31"/>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339327" y="3300984"/>
            <a:ext cx="438912" cy="438912"/>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9327" y="3300984"/>
            <a:ext cx="438912" cy="43891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6</a:t>
            </a:r>
          </a:p>
        </p:txBody>
      </p:sp>
      <p:sp>
        <p:nvSpPr>
          <p:cNvPr id="38" name="TextBox 37"/>
          <p:cNvSpPr txBox="1"/>
          <p:nvPr/>
        </p:nvSpPr>
        <p:spPr>
          <a:xfrm>
            <a:off x="8924544" y="3291840"/>
            <a:ext cx="2395728" cy="28346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00" b="1" i="0">
                <a:solidFill>
                  <a:srgbClr val="F7F9FC"/>
                </a:solidFill>
                <a:latin typeface="Montserrat"/>
              </a:rPr>
              <a:t>Uncertainty</a:t>
            </a:r>
          </a:p>
        </p:txBody>
      </p:sp>
      <p:sp>
        <p:nvSpPr>
          <p:cNvPr id="39" name="TextBox 38"/>
          <p:cNvSpPr txBox="1"/>
          <p:nvPr/>
        </p:nvSpPr>
        <p:spPr>
          <a:xfrm>
            <a:off x="8924544" y="3685032"/>
            <a:ext cx="2395728" cy="36576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30" b="0" i="0">
                <a:solidFill>
                  <a:srgbClr val="A9B5CC"/>
                </a:solidFill>
                <a:latin typeface="Montserrat"/>
              </a:rPr>
              <a:t>bootstrap variability across NTC cells</a:t>
            </a:r>
          </a:p>
        </p:txBody>
      </p:sp>
      <p:sp>
        <p:nvSpPr>
          <p:cNvPr id="40" name="Rounded Rectangle 39"/>
          <p:cNvSpPr/>
          <p:nvPr/>
        </p:nvSpPr>
        <p:spPr>
          <a:xfrm>
            <a:off x="932688" y="4864608"/>
            <a:ext cx="10296144" cy="841248"/>
          </a:xfrm>
          <a:prstGeom prst="roundRect">
            <a:avLst/>
          </a:prstGeom>
          <a:solidFill>
            <a:srgbClr val="0D172A"/>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88720" y="5065776"/>
            <a:ext cx="1975104"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00" b="1" i="0">
                <a:solidFill>
                  <a:srgbClr val="C4B5FD"/>
                </a:solidFill>
                <a:latin typeface="Montserrat"/>
              </a:rPr>
              <a:t>Recommended ablation order</a:t>
            </a:r>
          </a:p>
        </p:txBody>
      </p:sp>
      <p:sp>
        <p:nvSpPr>
          <p:cNvPr id="42" name="TextBox 41"/>
          <p:cNvSpPr txBox="1"/>
          <p:nvPr/>
        </p:nvSpPr>
        <p:spPr>
          <a:xfrm>
            <a:off x="3364992" y="5010912"/>
            <a:ext cx="7479792"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20" b="1" i="0">
                <a:solidFill>
                  <a:srgbClr val="F7F9FC"/>
                </a:solidFill>
                <a:latin typeface="Source Code Pro"/>
              </a:rPr>
              <a:t>pseudobulk only  →  + modules  →  + state mixture  →  + learned set encoder</a:t>
            </a:r>
          </a:p>
        </p:txBody>
      </p:sp>
      <p:sp>
        <p:nvSpPr>
          <p:cNvPr id="43" name="TextBox 42"/>
          <p:cNvSpPr txBox="1"/>
          <p:nvPr/>
        </p:nvSpPr>
        <p:spPr>
          <a:xfrm>
            <a:off x="3364992" y="5413248"/>
            <a:ext cx="7479792"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0" i="0">
                <a:solidFill>
                  <a:srgbClr val="A9B5CC"/>
                </a:solidFill>
                <a:latin typeface="Montserrat"/>
              </a:rPr>
              <a:t>Promotion criterion: gain on unseen cell lines, not reconstruction of the training context label.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COMPONENTS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Perturbation encoder: represent an unseen gene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Target IDs should be endpoints into biological structure—not free lookup tokens.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Sources: GEARS; CPA; 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30</a:t>
            </a:r>
          </a:p>
        </p:txBody>
      </p:sp>
      <p:sp>
        <p:nvSpPr>
          <p:cNvPr id="10" name="Rounded Rectangle 9"/>
          <p:cNvSpPr/>
          <p:nvPr/>
        </p:nvSpPr>
        <p:spPr>
          <a:xfrm>
            <a:off x="2212848" y="1307592"/>
            <a:ext cx="1609344" cy="731520"/>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22576" y="1444752"/>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80" b="1" i="0">
                <a:solidFill>
                  <a:srgbClr val="F7F9FC"/>
                </a:solidFill>
                <a:latin typeface="Montserrat"/>
              </a:rPr>
              <a:t>Functional text</a:t>
            </a:r>
          </a:p>
        </p:txBody>
      </p:sp>
      <p:sp>
        <p:nvSpPr>
          <p:cNvPr id="12" name="TextBox 11"/>
          <p:cNvSpPr txBox="1"/>
          <p:nvPr/>
        </p:nvSpPr>
        <p:spPr>
          <a:xfrm>
            <a:off x="2322576" y="1700784"/>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780" b="0" i="0">
                <a:solidFill>
                  <a:srgbClr val="A9B5CC"/>
                </a:solidFill>
                <a:latin typeface="Montserrat"/>
              </a:rPr>
              <a:t>gene / protein embedding</a:t>
            </a:r>
          </a:p>
        </p:txBody>
      </p:sp>
      <p:cxnSp>
        <p:nvCxnSpPr>
          <p:cNvPr id="13" name="Connector 12"/>
          <p:cNvCxnSpPr/>
          <p:nvPr/>
        </p:nvCxnSpPr>
        <p:spPr>
          <a:xfrm>
            <a:off x="3017520" y="1673352"/>
            <a:ext cx="0" cy="1600200"/>
          </a:xfrm>
          <a:prstGeom prst="line">
            <a:avLst/>
          </a:prstGeom>
          <a:ln w="12700">
            <a:solidFill>
              <a:srgbClr val="71809B"/>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915419" y="2107692"/>
            <a:ext cx="1609344" cy="731520"/>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5147" y="2244852"/>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80" b="1" i="0">
                <a:solidFill>
                  <a:srgbClr val="F7F9FC"/>
                </a:solidFill>
                <a:latin typeface="Montserrat"/>
              </a:rPr>
              <a:t>Pathways</a:t>
            </a:r>
          </a:p>
        </p:txBody>
      </p:sp>
      <p:sp>
        <p:nvSpPr>
          <p:cNvPr id="16" name="TextBox 15"/>
          <p:cNvSpPr txBox="1"/>
          <p:nvPr/>
        </p:nvSpPr>
        <p:spPr>
          <a:xfrm>
            <a:off x="4025147" y="2500884"/>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780" b="0" i="0">
                <a:solidFill>
                  <a:srgbClr val="A9B5CC"/>
                </a:solidFill>
                <a:latin typeface="Montserrat"/>
              </a:rPr>
              <a:t>GO and curated gene sets</a:t>
            </a:r>
          </a:p>
        </p:txBody>
      </p:sp>
      <p:cxnSp>
        <p:nvCxnSpPr>
          <p:cNvPr id="17" name="Connector 16"/>
          <p:cNvCxnSpPr/>
          <p:nvPr/>
        </p:nvCxnSpPr>
        <p:spPr>
          <a:xfrm flipH="1">
            <a:off x="3017520" y="2473452"/>
            <a:ext cx="1702571" cy="800100"/>
          </a:xfrm>
          <a:prstGeom prst="line">
            <a:avLst/>
          </a:prstGeom>
          <a:ln w="12700">
            <a:solidFill>
              <a:srgbClr val="71809B"/>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915419" y="3707891"/>
            <a:ext cx="1609344" cy="731520"/>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25147" y="3845052"/>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80" b="1" i="0">
                <a:solidFill>
                  <a:srgbClr val="F7F9FC"/>
                </a:solidFill>
                <a:latin typeface="Montserrat"/>
              </a:rPr>
              <a:t>Regulatory graph</a:t>
            </a:r>
          </a:p>
        </p:txBody>
      </p:sp>
      <p:sp>
        <p:nvSpPr>
          <p:cNvPr id="20" name="TextBox 19"/>
          <p:cNvSpPr txBox="1"/>
          <p:nvPr/>
        </p:nvSpPr>
        <p:spPr>
          <a:xfrm>
            <a:off x="4025147" y="4101084"/>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780" b="0" i="0">
                <a:solidFill>
                  <a:srgbClr val="A9B5CC"/>
                </a:solidFill>
                <a:latin typeface="Montserrat"/>
              </a:rPr>
              <a:t>TF, PPI, co-expression edges</a:t>
            </a:r>
          </a:p>
        </p:txBody>
      </p:sp>
      <p:cxnSp>
        <p:nvCxnSpPr>
          <p:cNvPr id="21" name="Connector 20"/>
          <p:cNvCxnSpPr/>
          <p:nvPr/>
        </p:nvCxnSpPr>
        <p:spPr>
          <a:xfrm flipH="1" flipV="1">
            <a:off x="3017520" y="3273552"/>
            <a:ext cx="1702571" cy="800100"/>
          </a:xfrm>
          <a:prstGeom prst="line">
            <a:avLst/>
          </a:prstGeom>
          <a:ln w="12700">
            <a:solidFill>
              <a:srgbClr val="71809B"/>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212848" y="4507992"/>
            <a:ext cx="1609344" cy="731520"/>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322576" y="4645152"/>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80" b="1" i="0">
                <a:solidFill>
                  <a:srgbClr val="F7F9FC"/>
                </a:solidFill>
                <a:latin typeface="Montserrat"/>
              </a:rPr>
              <a:t>Sequence / protein</a:t>
            </a:r>
          </a:p>
        </p:txBody>
      </p:sp>
      <p:sp>
        <p:nvSpPr>
          <p:cNvPr id="24" name="TextBox 23"/>
          <p:cNvSpPr txBox="1"/>
          <p:nvPr/>
        </p:nvSpPr>
        <p:spPr>
          <a:xfrm>
            <a:off x="2322576" y="4901184"/>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780" b="0" i="0">
                <a:solidFill>
                  <a:srgbClr val="A9B5CC"/>
                </a:solidFill>
                <a:latin typeface="Montserrat"/>
              </a:rPr>
              <a:t>domain and family similarity</a:t>
            </a:r>
          </a:p>
        </p:txBody>
      </p:sp>
      <p:cxnSp>
        <p:nvCxnSpPr>
          <p:cNvPr id="25" name="Connector 24"/>
          <p:cNvCxnSpPr/>
          <p:nvPr/>
        </p:nvCxnSpPr>
        <p:spPr>
          <a:xfrm flipV="1">
            <a:off x="3017520" y="3273552"/>
            <a:ext cx="0" cy="1600200"/>
          </a:xfrm>
          <a:prstGeom prst="line">
            <a:avLst/>
          </a:prstGeom>
          <a:ln w="12700">
            <a:solidFill>
              <a:srgbClr val="71809B"/>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10276" y="3707892"/>
            <a:ext cx="1609344" cy="731520"/>
          </a:xfrm>
          <a:prstGeom prst="roundRect">
            <a:avLst/>
          </a:prstGeom>
          <a:solidFill>
            <a:srgbClr val="111C31"/>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0004" y="3845052"/>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80" b="1" i="0">
                <a:solidFill>
                  <a:srgbClr val="F7F9FC"/>
                </a:solidFill>
                <a:latin typeface="Montserrat"/>
              </a:rPr>
              <a:t>Perturbation data</a:t>
            </a:r>
          </a:p>
        </p:txBody>
      </p:sp>
      <p:sp>
        <p:nvSpPr>
          <p:cNvPr id="28" name="TextBox 27"/>
          <p:cNvSpPr txBox="1"/>
          <p:nvPr/>
        </p:nvSpPr>
        <p:spPr>
          <a:xfrm>
            <a:off x="620004" y="4101084"/>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780" b="0" i="0">
                <a:solidFill>
                  <a:srgbClr val="A9B5CC"/>
                </a:solidFill>
                <a:latin typeface="Montserrat"/>
              </a:rPr>
              <a:t>learned response signature</a:t>
            </a:r>
          </a:p>
        </p:txBody>
      </p:sp>
      <p:cxnSp>
        <p:nvCxnSpPr>
          <p:cNvPr id="29" name="Connector 28"/>
          <p:cNvCxnSpPr/>
          <p:nvPr/>
        </p:nvCxnSpPr>
        <p:spPr>
          <a:xfrm flipV="1">
            <a:off x="1314948" y="3273552"/>
            <a:ext cx="1702572" cy="800100"/>
          </a:xfrm>
          <a:prstGeom prst="line">
            <a:avLst/>
          </a:prstGeom>
          <a:ln w="12700">
            <a:solidFill>
              <a:srgbClr val="71809B"/>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10276" y="2107692"/>
            <a:ext cx="1609344" cy="731520"/>
          </a:xfrm>
          <a:prstGeom prst="roundRect">
            <a:avLst/>
          </a:prstGeom>
          <a:solidFill>
            <a:srgbClr val="111C31"/>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0004" y="2244852"/>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80" b="1" i="0">
                <a:solidFill>
                  <a:srgbClr val="F7F9FC"/>
                </a:solidFill>
                <a:latin typeface="Montserrat"/>
              </a:rPr>
              <a:t>Target context</a:t>
            </a:r>
          </a:p>
        </p:txBody>
      </p:sp>
      <p:sp>
        <p:nvSpPr>
          <p:cNvPr id="32" name="TextBox 31"/>
          <p:cNvSpPr txBox="1"/>
          <p:nvPr/>
        </p:nvSpPr>
        <p:spPr>
          <a:xfrm>
            <a:off x="620004" y="2500884"/>
            <a:ext cx="1389888"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780" b="0" i="0">
                <a:solidFill>
                  <a:srgbClr val="A9B5CC"/>
                </a:solidFill>
                <a:latin typeface="Montserrat"/>
              </a:rPr>
              <a:t>basal expression + accessibility proxy</a:t>
            </a:r>
          </a:p>
        </p:txBody>
      </p:sp>
      <p:cxnSp>
        <p:nvCxnSpPr>
          <p:cNvPr id="33" name="Connector 32"/>
          <p:cNvCxnSpPr/>
          <p:nvPr/>
        </p:nvCxnSpPr>
        <p:spPr>
          <a:xfrm>
            <a:off x="1314948" y="2473452"/>
            <a:ext cx="1702572" cy="800100"/>
          </a:xfrm>
          <a:prstGeom prst="line">
            <a:avLst/>
          </a:prstGeom>
          <a:ln w="12700">
            <a:solidFill>
              <a:srgbClr val="71809B"/>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2350008" y="2606040"/>
            <a:ext cx="1335024" cy="1335024"/>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50008" y="2606040"/>
            <a:ext cx="1335024" cy="13350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2800" b="1" i="0">
                <a:solidFill>
                  <a:srgbClr val="F7F9FC"/>
                </a:solidFill>
                <a:latin typeface="Source Code Pro"/>
              </a:rPr>
              <a:t>zp</a:t>
            </a:r>
          </a:p>
        </p:txBody>
      </p:sp>
      <p:sp>
        <p:nvSpPr>
          <p:cNvPr id="36" name="Rounded Rectangle 35"/>
          <p:cNvSpPr/>
          <p:nvPr/>
        </p:nvSpPr>
        <p:spPr>
          <a:xfrm>
            <a:off x="6446520" y="1627632"/>
            <a:ext cx="4864608" cy="3566160"/>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48272" y="1901952"/>
            <a:ext cx="4261104"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500" b="1" i="0">
                <a:solidFill>
                  <a:srgbClr val="C4B5FD"/>
                </a:solidFill>
                <a:latin typeface="Montserrat"/>
              </a:rPr>
              <a:t>Fusion rules</a:t>
            </a:r>
          </a:p>
        </p:txBody>
      </p:sp>
      <p:sp>
        <p:nvSpPr>
          <p:cNvPr id="38" name="TextBox 37"/>
          <p:cNvSpPr txBox="1"/>
          <p:nvPr/>
        </p:nvSpPr>
        <p:spPr>
          <a:xfrm>
            <a:off x="6748272" y="2377440"/>
            <a:ext cx="4096512" cy="2139696"/>
          </a:xfrm>
          <a:prstGeom prst="rect">
            <a:avLst/>
          </a:prstGeom>
          <a:noFill/>
        </p:spPr>
        <p:txBody>
          <a:bodyPr wrap="square" lIns="18288" rIns="18288" tIns="18288" bIns="18288">
            <a:spAutoFit/>
          </a:bodyPr>
          <a:lstStyle/>
          <a:p>
            <a:pPr>
              <a:lnSpc>
                <a:spcPct val="108000"/>
              </a:lnSpc>
              <a:spcBef>
                <a:spcPts val="0"/>
              </a:spcBef>
              <a:spcAft>
                <a:spcPts val="400"/>
              </a:spcAft>
            </a:pPr>
            <a:r>
              <a:rPr sz="1150" b="1">
                <a:solidFill>
                  <a:srgbClr val="22D3EE"/>
                </a:solidFill>
                <a:latin typeface="Montserrat"/>
              </a:rPr>
              <a:t>•  </a:t>
            </a:r>
            <a:r>
              <a:rPr sz="1150">
                <a:solidFill>
                  <a:srgbClr val="F7F9FC"/>
                </a:solidFill>
                <a:latin typeface="Montserrat"/>
              </a:rPr>
              <a:t>freeze or regularize general-purpose embeddings</a:t>
            </a:r>
          </a:p>
          <a:p>
            <a:pPr>
              <a:lnSpc>
                <a:spcPct val="108000"/>
              </a:lnSpc>
              <a:spcBef>
                <a:spcPts val="0"/>
              </a:spcBef>
              <a:spcAft>
                <a:spcPts val="400"/>
              </a:spcAft>
            </a:pPr>
            <a:r>
              <a:rPr sz="1150" b="1">
                <a:solidFill>
                  <a:srgbClr val="22D3EE"/>
                </a:solidFill>
                <a:latin typeface="Montserrat"/>
              </a:rPr>
              <a:t>•  </a:t>
            </a:r>
            <a:r>
              <a:rPr sz="1150">
                <a:solidFill>
                  <a:srgbClr val="F7F9FC"/>
                </a:solidFill>
                <a:latin typeface="Montserrat"/>
              </a:rPr>
              <a:t>learn small modality-specific adapters</a:t>
            </a:r>
          </a:p>
          <a:p>
            <a:pPr>
              <a:lnSpc>
                <a:spcPct val="108000"/>
              </a:lnSpc>
              <a:spcBef>
                <a:spcPts val="0"/>
              </a:spcBef>
              <a:spcAft>
                <a:spcPts val="400"/>
              </a:spcAft>
            </a:pPr>
            <a:r>
              <a:rPr sz="1150" b="1">
                <a:solidFill>
                  <a:srgbClr val="22D3EE"/>
                </a:solidFill>
                <a:latin typeface="Montserrat"/>
              </a:rPr>
              <a:t>•  </a:t>
            </a:r>
            <a:r>
              <a:rPr sz="1150">
                <a:solidFill>
                  <a:srgbClr val="F7F9FC"/>
                </a:solidFill>
                <a:latin typeface="Montserrat"/>
              </a:rPr>
              <a:t>mask target identity during some training batches</a:t>
            </a:r>
          </a:p>
          <a:p>
            <a:pPr>
              <a:lnSpc>
                <a:spcPct val="108000"/>
              </a:lnSpc>
              <a:spcBef>
                <a:spcPts val="0"/>
              </a:spcBef>
              <a:spcAft>
                <a:spcPts val="400"/>
              </a:spcAft>
            </a:pPr>
            <a:r>
              <a:rPr sz="1150" b="1">
                <a:solidFill>
                  <a:srgbClr val="22D3EE"/>
                </a:solidFill>
                <a:latin typeface="Montserrat"/>
              </a:rPr>
              <a:t>•  </a:t>
            </a:r>
            <a:r>
              <a:rPr sz="1150">
                <a:solidFill>
                  <a:srgbClr val="F7F9FC"/>
                </a:solidFill>
                <a:latin typeface="Montserrat"/>
              </a:rPr>
              <a:t>evaluate targets held out by gene family / pathway</a:t>
            </a:r>
          </a:p>
          <a:p>
            <a:pPr>
              <a:lnSpc>
                <a:spcPct val="108000"/>
              </a:lnSpc>
              <a:spcBef>
                <a:spcPts val="0"/>
              </a:spcBef>
              <a:spcAft>
                <a:spcPts val="400"/>
              </a:spcAft>
            </a:pPr>
            <a:r>
              <a:rPr sz="1150" b="1">
                <a:solidFill>
                  <a:srgbClr val="22D3EE"/>
                </a:solidFill>
                <a:latin typeface="Montserrat"/>
              </a:rPr>
              <a:t>•  </a:t>
            </a:r>
            <a:r>
              <a:rPr sz="1150">
                <a:solidFill>
                  <a:srgbClr val="F7F9FC"/>
                </a:solidFill>
                <a:latin typeface="Montserrat"/>
              </a:rPr>
              <a:t>emit uncertainty when priors disagree or coverage is low</a:t>
            </a:r>
          </a:p>
        </p:txBody>
      </p:sp>
      <p:sp>
        <p:nvSpPr>
          <p:cNvPr id="39" name="TextBox 38"/>
          <p:cNvSpPr txBox="1"/>
          <p:nvPr/>
        </p:nvSpPr>
        <p:spPr>
          <a:xfrm>
            <a:off x="6748272" y="4700016"/>
            <a:ext cx="4096512"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80" b="1" i="0">
                <a:solidFill>
                  <a:srgbClr val="FDE68A"/>
                </a:solidFill>
                <a:latin typeface="Montserrat"/>
              </a:rPr>
              <a:t>Key test: entirely unseen target genes in entirely unseen cell lines.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COMPONENTS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Mean-effect predictor: optimize the signal first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low-rank response basis reduces 18,533 outputs to a transferable biological coordinate system.</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 related ideas: CPA and GEARS</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31</a:t>
            </a:r>
          </a:p>
        </p:txBody>
      </p:sp>
      <p:sp>
        <p:nvSpPr>
          <p:cNvPr id="10" name="Rounded Rectangle 9"/>
          <p:cNvSpPr/>
          <p:nvPr/>
        </p:nvSpPr>
        <p:spPr>
          <a:xfrm>
            <a:off x="658368" y="1664208"/>
            <a:ext cx="2066543" cy="1316736"/>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78992" y="1984248"/>
            <a:ext cx="1225296" cy="43891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400" b="1" i="0">
                <a:solidFill>
                  <a:srgbClr val="A5F3FC"/>
                </a:solidFill>
                <a:latin typeface="Source Code Pro"/>
              </a:rPr>
              <a:t>zc</a:t>
            </a:r>
          </a:p>
        </p:txBody>
      </p:sp>
      <p:sp>
        <p:nvSpPr>
          <p:cNvPr id="12" name="TextBox 11"/>
          <p:cNvSpPr txBox="1"/>
          <p:nvPr/>
        </p:nvSpPr>
        <p:spPr>
          <a:xfrm>
            <a:off x="896112" y="2523744"/>
            <a:ext cx="1591056"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context embedding</a:t>
            </a:r>
          </a:p>
        </p:txBody>
      </p:sp>
      <p:sp>
        <p:nvSpPr>
          <p:cNvPr id="13" name="Rounded Rectangle 12"/>
          <p:cNvSpPr/>
          <p:nvPr/>
        </p:nvSpPr>
        <p:spPr>
          <a:xfrm>
            <a:off x="658368" y="3803904"/>
            <a:ext cx="2066543" cy="1316736"/>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123944"/>
            <a:ext cx="1225296" cy="43891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2400" b="1" i="0">
                <a:solidFill>
                  <a:srgbClr val="C4B5FD"/>
                </a:solidFill>
                <a:latin typeface="Source Code Pro"/>
              </a:rPr>
              <a:t>zp</a:t>
            </a:r>
          </a:p>
        </p:txBody>
      </p:sp>
      <p:sp>
        <p:nvSpPr>
          <p:cNvPr id="15" name="TextBox 14"/>
          <p:cNvSpPr txBox="1"/>
          <p:nvPr/>
        </p:nvSpPr>
        <p:spPr>
          <a:xfrm>
            <a:off x="896112" y="4663440"/>
            <a:ext cx="1591056"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50" b="0" i="0">
                <a:solidFill>
                  <a:srgbClr val="A9B5CC"/>
                </a:solidFill>
                <a:latin typeface="Montserrat"/>
              </a:rPr>
              <a:t>target embedding</a:t>
            </a:r>
          </a:p>
        </p:txBody>
      </p:sp>
      <p:cxnSp>
        <p:nvCxnSpPr>
          <p:cNvPr id="16" name="Connector 15"/>
          <p:cNvCxnSpPr/>
          <p:nvPr/>
        </p:nvCxnSpPr>
        <p:spPr>
          <a:xfrm>
            <a:off x="2834640" y="2340864"/>
            <a:ext cx="914399" cy="786384"/>
          </a:xfrm>
          <a:prstGeom prst="line">
            <a:avLst/>
          </a:prstGeom>
          <a:ln w="25400">
            <a:solidFill>
              <a:srgbClr val="22D3EE"/>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7841732">
            <a:off x="3694176" y="3072384"/>
            <a:ext cx="109728" cy="109728"/>
          </a:xfrm>
          <a:prstGeom prst="triangl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V="1">
            <a:off x="2834640" y="3675887"/>
            <a:ext cx="914399" cy="786385"/>
          </a:xfrm>
          <a:prstGeom prst="line">
            <a:avLst/>
          </a:prstGeom>
          <a:ln w="25400">
            <a:solidFill>
              <a:srgbClr val="8B5CF6"/>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2958268">
            <a:off x="3694176" y="3621023"/>
            <a:ext cx="109728" cy="109728"/>
          </a:xfrm>
          <a:prstGeom prst="triangl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840480" y="2487168"/>
            <a:ext cx="2176272" cy="1755648"/>
          </a:xfrm>
          <a:prstGeom prst="roundRect">
            <a:avLst/>
          </a:prstGeom>
          <a:solidFill>
            <a:srgbClr val="0D172A"/>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0" y="2898648"/>
            <a:ext cx="1627632" cy="69494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800" b="1" i="0">
                <a:solidFill>
                  <a:srgbClr val="FBCFE8"/>
                </a:solidFill>
                <a:latin typeface="Montserrat"/>
              </a:rPr>
              <a:t>interaction</a:t>
            </a:r>
            <a:br/>
            <a:r>
              <a:rPr sz="1800" b="1" i="0">
                <a:solidFill>
                  <a:srgbClr val="FBCFE8"/>
                </a:solidFill>
                <a:latin typeface="Montserrat"/>
              </a:rPr>
              <a:t>network</a:t>
            </a:r>
          </a:p>
        </p:txBody>
      </p:sp>
      <p:cxnSp>
        <p:nvCxnSpPr>
          <p:cNvPr id="22" name="Connector 21"/>
          <p:cNvCxnSpPr/>
          <p:nvPr/>
        </p:nvCxnSpPr>
        <p:spPr>
          <a:xfrm>
            <a:off x="6126480" y="3364992"/>
            <a:ext cx="658368" cy="0"/>
          </a:xfrm>
          <a:prstGeom prst="line">
            <a:avLst/>
          </a:prstGeom>
          <a:ln w="25400">
            <a:solidFill>
              <a:srgbClr val="F472B6"/>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6729984" y="3310128"/>
            <a:ext cx="109728" cy="109728"/>
          </a:xfrm>
          <a:prstGeom prst="triangl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894576" y="2487168"/>
            <a:ext cx="1975104" cy="1755648"/>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50608" y="2889504"/>
            <a:ext cx="1463040" cy="7132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600" b="1" i="0">
                <a:solidFill>
                  <a:srgbClr val="A7F3D0"/>
                </a:solidFill>
                <a:latin typeface="Montserrat"/>
              </a:rPr>
              <a:t>K-dimensional</a:t>
            </a:r>
            <a:br/>
            <a:r>
              <a:rPr sz="1600" b="1" i="0">
                <a:solidFill>
                  <a:srgbClr val="A7F3D0"/>
                </a:solidFill>
                <a:latin typeface="Montserrat"/>
              </a:rPr>
              <a:t>response basis</a:t>
            </a:r>
          </a:p>
        </p:txBody>
      </p:sp>
      <p:cxnSp>
        <p:nvCxnSpPr>
          <p:cNvPr id="26" name="Connector 25"/>
          <p:cNvCxnSpPr/>
          <p:nvPr/>
        </p:nvCxnSpPr>
        <p:spPr>
          <a:xfrm>
            <a:off x="8979408" y="3364992"/>
            <a:ext cx="585216" cy="0"/>
          </a:xfrm>
          <a:prstGeom prst="line">
            <a:avLst/>
          </a:prstGeom>
          <a:ln w="25400">
            <a:solidFill>
              <a:srgbClr val="34D399"/>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9509760" y="3310128"/>
            <a:ext cx="109728" cy="109728"/>
          </a:xfrm>
          <a:prstGeom prst="triangl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56064" y="2487168"/>
            <a:ext cx="1865376" cy="1755648"/>
          </a:xfrm>
          <a:prstGeom prst="roundRect">
            <a:avLst/>
          </a:prstGeom>
          <a:solidFill>
            <a:srgbClr val="111C31"/>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880360"/>
            <a:ext cx="1426464" cy="7315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600" b="1" i="0">
                <a:solidFill>
                  <a:srgbClr val="FDE68A"/>
                </a:solidFill>
                <a:latin typeface="Montserrat"/>
              </a:rPr>
              <a:t>Δ̂c,p</a:t>
            </a:r>
            <a:br/>
            <a:r>
              <a:rPr sz="1600" b="1" i="0">
                <a:solidFill>
                  <a:srgbClr val="FDE68A"/>
                </a:solidFill>
                <a:latin typeface="Montserrat"/>
              </a:rPr>
              <a:t>18,533 genes</a:t>
            </a:r>
          </a:p>
        </p:txBody>
      </p:sp>
      <p:sp>
        <p:nvSpPr>
          <p:cNvPr id="30" name="Rounded Rectangle 29"/>
          <p:cNvSpPr/>
          <p:nvPr/>
        </p:nvSpPr>
        <p:spPr>
          <a:xfrm>
            <a:off x="2084831" y="5431536"/>
            <a:ext cx="8010144" cy="438912"/>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304288" y="5541264"/>
            <a:ext cx="7571231"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30" b="1" i="0">
                <a:solidFill>
                  <a:srgbClr val="A5F3FC"/>
                </a:solidFill>
                <a:latin typeface="Source Code Pro"/>
              </a:rPr>
              <a:t>Loss = centroid + direction/rank + LFC calibration + low-rank/shrinkage regularization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COMPONENTS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Generate raw counts without losing the mean</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count-safe reconstruction layer bridges normalized modeling space and the submission contract.</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32</a:t>
            </a:r>
          </a:p>
        </p:txBody>
      </p:sp>
      <p:sp>
        <p:nvSpPr>
          <p:cNvPr id="10" name="Oval 9"/>
          <p:cNvSpPr/>
          <p:nvPr/>
        </p:nvSpPr>
        <p:spPr>
          <a:xfrm>
            <a:off x="1207007" y="1664208"/>
            <a:ext cx="658368" cy="6583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7" y="1664208"/>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08101F"/>
                </a:solidFill>
                <a:latin typeface="Montserrat"/>
              </a:rPr>
              <a:t>1</a:t>
            </a:r>
          </a:p>
        </p:txBody>
      </p:sp>
      <p:sp>
        <p:nvSpPr>
          <p:cNvPr id="12" name="TextBox 11"/>
          <p:cNvSpPr txBox="1"/>
          <p:nvPr/>
        </p:nvSpPr>
        <p:spPr>
          <a:xfrm>
            <a:off x="530352" y="2542032"/>
            <a:ext cx="20116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Sample</a:t>
            </a:r>
          </a:p>
        </p:txBody>
      </p:sp>
      <p:sp>
        <p:nvSpPr>
          <p:cNvPr id="13" name="TextBox 12"/>
          <p:cNvSpPr txBox="1"/>
          <p:nvPr/>
        </p:nvSpPr>
        <p:spPr>
          <a:xfrm>
            <a:off x="530352" y="2962656"/>
            <a:ext cx="2011680" cy="58521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a real NTC cell or latent state</a:t>
            </a:r>
          </a:p>
        </p:txBody>
      </p:sp>
      <p:cxnSp>
        <p:nvCxnSpPr>
          <p:cNvPr id="14" name="Connector 13"/>
          <p:cNvCxnSpPr/>
          <p:nvPr/>
        </p:nvCxnSpPr>
        <p:spPr>
          <a:xfrm>
            <a:off x="2286000" y="1993392"/>
            <a:ext cx="38404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2615184" y="1938528"/>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20439" y="1664208"/>
            <a:ext cx="658368" cy="65836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0439" y="1664208"/>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F7F9FC"/>
                </a:solidFill>
                <a:latin typeface="Montserrat"/>
              </a:rPr>
              <a:t>2</a:t>
            </a:r>
          </a:p>
        </p:txBody>
      </p:sp>
      <p:sp>
        <p:nvSpPr>
          <p:cNvPr id="18" name="TextBox 17"/>
          <p:cNvSpPr txBox="1"/>
          <p:nvPr/>
        </p:nvSpPr>
        <p:spPr>
          <a:xfrm>
            <a:off x="2843784" y="2542032"/>
            <a:ext cx="20116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Transform</a:t>
            </a:r>
          </a:p>
        </p:txBody>
      </p:sp>
      <p:sp>
        <p:nvSpPr>
          <p:cNvPr id="19" name="TextBox 18"/>
          <p:cNvSpPr txBox="1"/>
          <p:nvPr/>
        </p:nvSpPr>
        <p:spPr>
          <a:xfrm>
            <a:off x="2843784" y="2962656"/>
            <a:ext cx="2011680" cy="58521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apply positive target-specific mean shift</a:t>
            </a:r>
          </a:p>
        </p:txBody>
      </p:sp>
      <p:cxnSp>
        <p:nvCxnSpPr>
          <p:cNvPr id="20" name="Connector 19"/>
          <p:cNvCxnSpPr/>
          <p:nvPr/>
        </p:nvCxnSpPr>
        <p:spPr>
          <a:xfrm>
            <a:off x="4599431" y="1993392"/>
            <a:ext cx="38404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5400000">
            <a:off x="4928616" y="1938528"/>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33872" y="1664208"/>
            <a:ext cx="658368" cy="658368"/>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33872" y="1664208"/>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F7F9FC"/>
                </a:solidFill>
                <a:latin typeface="Montserrat"/>
              </a:rPr>
              <a:t>3</a:t>
            </a:r>
          </a:p>
        </p:txBody>
      </p:sp>
      <p:sp>
        <p:nvSpPr>
          <p:cNvPr id="24" name="TextBox 23"/>
          <p:cNvSpPr txBox="1"/>
          <p:nvPr/>
        </p:nvSpPr>
        <p:spPr>
          <a:xfrm>
            <a:off x="5157216" y="2542032"/>
            <a:ext cx="20116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Calibrate</a:t>
            </a:r>
          </a:p>
        </p:txBody>
      </p:sp>
      <p:sp>
        <p:nvSpPr>
          <p:cNvPr id="25" name="TextBox 24"/>
          <p:cNvSpPr txBox="1"/>
          <p:nvPr/>
        </p:nvSpPr>
        <p:spPr>
          <a:xfrm>
            <a:off x="5157216" y="2962656"/>
            <a:ext cx="2011680" cy="58521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library size, dispersion, zero rate</a:t>
            </a:r>
          </a:p>
        </p:txBody>
      </p:sp>
      <p:cxnSp>
        <p:nvCxnSpPr>
          <p:cNvPr id="26" name="Connector 25"/>
          <p:cNvCxnSpPr/>
          <p:nvPr/>
        </p:nvCxnSpPr>
        <p:spPr>
          <a:xfrm>
            <a:off x="6912864" y="1993392"/>
            <a:ext cx="38404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7" name="Isosceles Triangle 26"/>
          <p:cNvSpPr/>
          <p:nvPr/>
        </p:nvSpPr>
        <p:spPr>
          <a:xfrm rot="5400000">
            <a:off x="7242048" y="1938528"/>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147304" y="1664208"/>
            <a:ext cx="658368" cy="65836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47304" y="1664208"/>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08101F"/>
                </a:solidFill>
                <a:latin typeface="Montserrat"/>
              </a:rPr>
              <a:t>4</a:t>
            </a:r>
          </a:p>
        </p:txBody>
      </p:sp>
      <p:sp>
        <p:nvSpPr>
          <p:cNvPr id="30" name="TextBox 29"/>
          <p:cNvSpPr txBox="1"/>
          <p:nvPr/>
        </p:nvSpPr>
        <p:spPr>
          <a:xfrm>
            <a:off x="7470648" y="2542032"/>
            <a:ext cx="20116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Draw</a:t>
            </a:r>
          </a:p>
        </p:txBody>
      </p:sp>
      <p:sp>
        <p:nvSpPr>
          <p:cNvPr id="31" name="TextBox 30"/>
          <p:cNvSpPr txBox="1"/>
          <p:nvPr/>
        </p:nvSpPr>
        <p:spPr>
          <a:xfrm>
            <a:off x="7470648" y="2962656"/>
            <a:ext cx="2011680" cy="58521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NB / DM counts or residual-flow sample</a:t>
            </a:r>
          </a:p>
        </p:txBody>
      </p:sp>
      <p:cxnSp>
        <p:nvCxnSpPr>
          <p:cNvPr id="32" name="Connector 31"/>
          <p:cNvCxnSpPr/>
          <p:nvPr/>
        </p:nvCxnSpPr>
        <p:spPr>
          <a:xfrm>
            <a:off x="9226296" y="1993392"/>
            <a:ext cx="38404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33" name="Isosceles Triangle 32"/>
          <p:cNvSpPr/>
          <p:nvPr/>
        </p:nvSpPr>
        <p:spPr>
          <a:xfrm rot="5400000">
            <a:off x="9555480" y="1938528"/>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460736" y="1664208"/>
            <a:ext cx="658368" cy="65836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460736" y="1664208"/>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08101F"/>
                </a:solidFill>
                <a:latin typeface="Montserrat"/>
              </a:rPr>
              <a:t>5</a:t>
            </a:r>
          </a:p>
        </p:txBody>
      </p:sp>
      <p:sp>
        <p:nvSpPr>
          <p:cNvPr id="36" name="TextBox 35"/>
          <p:cNvSpPr txBox="1"/>
          <p:nvPr/>
        </p:nvSpPr>
        <p:spPr>
          <a:xfrm>
            <a:off x="9784080" y="2542032"/>
            <a:ext cx="2011680"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Validate</a:t>
            </a:r>
          </a:p>
        </p:txBody>
      </p:sp>
      <p:sp>
        <p:nvSpPr>
          <p:cNvPr id="37" name="TextBox 36"/>
          <p:cNvSpPr txBox="1"/>
          <p:nvPr/>
        </p:nvSpPr>
        <p:spPr>
          <a:xfrm>
            <a:off x="9784080" y="2962656"/>
            <a:ext cx="2011680" cy="58521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0" i="0">
                <a:solidFill>
                  <a:srgbClr val="A9B5CC"/>
                </a:solidFill>
                <a:latin typeface="Montserrat"/>
              </a:rPr>
              <a:t>integer • sparse • 400 cells</a:t>
            </a:r>
          </a:p>
        </p:txBody>
      </p:sp>
      <p:sp>
        <p:nvSpPr>
          <p:cNvPr id="38" name="Rounded Rectangle 37"/>
          <p:cNvSpPr/>
          <p:nvPr/>
        </p:nvSpPr>
        <p:spPr>
          <a:xfrm>
            <a:off x="877824" y="4133087"/>
            <a:ext cx="10442448" cy="987552"/>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3856" y="4370832"/>
            <a:ext cx="2560320"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00" b="1" i="0">
                <a:solidFill>
                  <a:srgbClr val="C4B5FD"/>
                </a:solidFill>
                <a:latin typeface="Montserrat"/>
              </a:rPr>
              <a:t>Recommended first implementation</a:t>
            </a:r>
          </a:p>
        </p:txBody>
      </p:sp>
      <p:sp>
        <p:nvSpPr>
          <p:cNvPr id="40" name="TextBox 39"/>
          <p:cNvSpPr txBox="1"/>
          <p:nvPr/>
        </p:nvSpPr>
        <p:spPr>
          <a:xfrm>
            <a:off x="3749039" y="4297680"/>
            <a:ext cx="7205472" cy="38404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20" b="1" i="0">
                <a:solidFill>
                  <a:srgbClr val="F7F9FC"/>
                </a:solidFill>
                <a:latin typeface="Source Code Pro"/>
              </a:rPr>
              <a:t>control-anchored mean transform  +  gene-wise NB dispersion  +  empirical library-size sampling</a:t>
            </a:r>
          </a:p>
        </p:txBody>
      </p:sp>
      <p:sp>
        <p:nvSpPr>
          <p:cNvPr id="41" name="TextBox 40"/>
          <p:cNvSpPr txBox="1"/>
          <p:nvPr/>
        </p:nvSpPr>
        <p:spPr>
          <a:xfrm>
            <a:off x="3749039" y="4709160"/>
            <a:ext cx="7205472"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40" b="0" i="0">
                <a:solidFill>
                  <a:srgbClr val="A9B5CC"/>
                </a:solidFill>
                <a:latin typeface="Montserrat"/>
              </a:rPr>
              <a:t>Upgrade to residual flow/diffusion only if held-out DE calibration improves.</a:t>
            </a:r>
          </a:p>
        </p:txBody>
      </p:sp>
      <p:sp>
        <p:nvSpPr>
          <p:cNvPr id="42" name="Rounded Rectangle 41"/>
          <p:cNvSpPr/>
          <p:nvPr/>
        </p:nvSpPr>
        <p:spPr>
          <a:xfrm>
            <a:off x="1901952" y="5486400"/>
            <a:ext cx="8375904" cy="384048"/>
          </a:xfrm>
          <a:prstGeom prst="roundRect">
            <a:avLst/>
          </a:prstGeom>
          <a:solidFill>
            <a:srgbClr val="0D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121408" y="5577840"/>
            <a:ext cx="7936992" cy="20116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20" b="1" i="0">
                <a:solidFill>
                  <a:srgbClr val="FB7185"/>
                </a:solidFill>
                <a:latin typeface="Montserrat"/>
              </a:rPr>
              <a:t>Never round early: preserve expected means, then draw or round only at the final count layer.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CHOICES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Where diffusion or flow matching helps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Use it to model residual heterogeneity—not to discover the mean effect from hidden challenge labels.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33</a:t>
            </a:r>
          </a:p>
        </p:txBody>
      </p:sp>
      <p:sp>
        <p:nvSpPr>
          <p:cNvPr id="10" name="Rounded Rectangle 9"/>
          <p:cNvSpPr/>
          <p:nvPr/>
        </p:nvSpPr>
        <p:spPr>
          <a:xfrm>
            <a:off x="658368" y="1609344"/>
            <a:ext cx="6565392" cy="3639312"/>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65376"/>
            <a:ext cx="3438144"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C4B5FD"/>
                </a:solidFill>
                <a:latin typeface="Montserrat"/>
              </a:rPr>
              <a:t>Conditional residual generator</a:t>
            </a:r>
          </a:p>
        </p:txBody>
      </p:sp>
      <p:sp>
        <p:nvSpPr>
          <p:cNvPr id="12" name="Oval 11"/>
          <p:cNvSpPr/>
          <p:nvPr/>
        </p:nvSpPr>
        <p:spPr>
          <a:xfrm>
            <a:off x="1078992" y="2642616"/>
            <a:ext cx="548640" cy="548640"/>
          </a:xfrm>
          <a:prstGeom prst="ellips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673351" y="2926080"/>
            <a:ext cx="45721"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4" name="Isosceles Triangle 13"/>
          <p:cNvSpPr/>
          <p:nvPr/>
        </p:nvSpPr>
        <p:spPr>
          <a:xfrm rot="5400000">
            <a:off x="1664207" y="287121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792224" y="2807208"/>
            <a:ext cx="493776" cy="493776"/>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2331720" y="2926080"/>
            <a:ext cx="100584"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2377440" y="287121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505456" y="2642616"/>
            <a:ext cx="438912" cy="43891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2990088" y="2926080"/>
            <a:ext cx="15544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3090672" y="287121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218687" y="2807208"/>
            <a:ext cx="384048" cy="384048"/>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3648455" y="2926080"/>
            <a:ext cx="210313"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3803904" y="287121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3931920" y="2642616"/>
            <a:ext cx="329184" cy="32918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4306824" y="2926080"/>
            <a:ext cx="265176"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4517136" y="2871216"/>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645152" y="2807208"/>
            <a:ext cx="274320" cy="274320"/>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3511296"/>
            <a:ext cx="1481328"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00" b="0" i="0">
                <a:solidFill>
                  <a:srgbClr val="A9B5CC"/>
                </a:solidFill>
                <a:latin typeface="Montserrat"/>
              </a:rPr>
              <a:t>noise / residual</a:t>
            </a:r>
          </a:p>
        </p:txBody>
      </p:sp>
      <p:sp>
        <p:nvSpPr>
          <p:cNvPr id="29" name="TextBox 28"/>
          <p:cNvSpPr txBox="1"/>
          <p:nvPr/>
        </p:nvSpPr>
        <p:spPr>
          <a:xfrm>
            <a:off x="2862072" y="3511296"/>
            <a:ext cx="2487168"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00" b="0" i="0">
                <a:solidFill>
                  <a:srgbClr val="A9B5CC"/>
                </a:solidFill>
                <a:latin typeface="Montserrat"/>
              </a:rPr>
              <a:t>context + target guided trajectory</a:t>
            </a:r>
          </a:p>
        </p:txBody>
      </p:sp>
      <p:sp>
        <p:nvSpPr>
          <p:cNvPr id="30" name="TextBox 29"/>
          <p:cNvSpPr txBox="1"/>
          <p:nvPr/>
        </p:nvSpPr>
        <p:spPr>
          <a:xfrm>
            <a:off x="5577840" y="3511296"/>
            <a:ext cx="1225296" cy="256032"/>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1000" b="0" i="0">
                <a:solidFill>
                  <a:srgbClr val="A9B5CC"/>
                </a:solidFill>
                <a:latin typeface="Montserrat"/>
              </a:rPr>
              <a:t>cell residual</a:t>
            </a:r>
          </a:p>
        </p:txBody>
      </p:sp>
      <p:sp>
        <p:nvSpPr>
          <p:cNvPr id="31" name="TextBox 30"/>
          <p:cNvSpPr txBox="1"/>
          <p:nvPr/>
        </p:nvSpPr>
        <p:spPr>
          <a:xfrm>
            <a:off x="1499616" y="4187952"/>
            <a:ext cx="4937760"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900" b="1" i="0">
                <a:solidFill>
                  <a:srgbClr val="A5F3FC"/>
                </a:solidFill>
                <a:latin typeface="Source Code Pro"/>
              </a:rPr>
              <a:t>εθ(z, t | zc, zp, Δ̂c,p)</a:t>
            </a:r>
          </a:p>
        </p:txBody>
      </p:sp>
      <p:sp>
        <p:nvSpPr>
          <p:cNvPr id="32" name="Rounded Rectangle 31"/>
          <p:cNvSpPr/>
          <p:nvPr/>
        </p:nvSpPr>
        <p:spPr>
          <a:xfrm>
            <a:off x="7552944" y="1609344"/>
            <a:ext cx="3785615" cy="1572768"/>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827264" y="1865376"/>
            <a:ext cx="1225296"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00" b="1" i="0">
                <a:solidFill>
                  <a:srgbClr val="34D399"/>
                </a:solidFill>
                <a:latin typeface="Montserrat"/>
              </a:rPr>
              <a:t>Use when</a:t>
            </a:r>
          </a:p>
        </p:txBody>
      </p:sp>
      <p:sp>
        <p:nvSpPr>
          <p:cNvPr id="34" name="TextBox 33"/>
          <p:cNvSpPr txBox="1"/>
          <p:nvPr/>
        </p:nvSpPr>
        <p:spPr>
          <a:xfrm>
            <a:off x="7827264" y="2267712"/>
            <a:ext cx="3054096" cy="713232"/>
          </a:xfrm>
          <a:prstGeom prst="rect">
            <a:avLst/>
          </a:prstGeom>
          <a:noFill/>
        </p:spPr>
        <p:txBody>
          <a:bodyPr wrap="square" lIns="18288" rIns="18288" tIns="18288" bIns="18288">
            <a:spAutoFit/>
          </a:bodyPr>
          <a:lstStyle/>
          <a:p>
            <a:pPr>
              <a:lnSpc>
                <a:spcPct val="108000"/>
              </a:lnSpc>
              <a:spcBef>
                <a:spcPts val="0"/>
              </a:spcBef>
              <a:spcAft>
                <a:spcPts val="200"/>
              </a:spcAft>
            </a:pPr>
            <a:r>
              <a:rPr sz="1080" b="1">
                <a:solidFill>
                  <a:srgbClr val="34D399"/>
                </a:solidFill>
                <a:latin typeface="Montserrat"/>
              </a:rPr>
              <a:t>•  </a:t>
            </a:r>
            <a:r>
              <a:rPr sz="1080">
                <a:solidFill>
                  <a:srgbClr val="F7F9FC"/>
                </a:solidFill>
                <a:latin typeface="Montserrat"/>
              </a:rPr>
              <a:t>NB/DM underfits covariance</a:t>
            </a:r>
          </a:p>
          <a:p>
            <a:pPr>
              <a:lnSpc>
                <a:spcPct val="108000"/>
              </a:lnSpc>
              <a:spcBef>
                <a:spcPts val="0"/>
              </a:spcBef>
              <a:spcAft>
                <a:spcPts val="200"/>
              </a:spcAft>
            </a:pPr>
            <a:r>
              <a:rPr sz="1080" b="1">
                <a:solidFill>
                  <a:srgbClr val="34D399"/>
                </a:solidFill>
                <a:latin typeface="Montserrat"/>
              </a:rPr>
              <a:t>•  </a:t>
            </a:r>
            <a:r>
              <a:rPr sz="1080">
                <a:solidFill>
                  <a:srgbClr val="F7F9FC"/>
                </a:solidFill>
                <a:latin typeface="Montserrat"/>
              </a:rPr>
              <a:t>held-out Jaccard improves</a:t>
            </a:r>
          </a:p>
          <a:p>
            <a:pPr>
              <a:lnSpc>
                <a:spcPct val="108000"/>
              </a:lnSpc>
              <a:spcBef>
                <a:spcPts val="0"/>
              </a:spcBef>
              <a:spcAft>
                <a:spcPts val="200"/>
              </a:spcAft>
            </a:pPr>
            <a:r>
              <a:rPr sz="1080" b="1">
                <a:solidFill>
                  <a:srgbClr val="34D399"/>
                </a:solidFill>
                <a:latin typeface="Montserrat"/>
              </a:rPr>
              <a:t>•  </a:t>
            </a:r>
            <a:r>
              <a:rPr sz="1080">
                <a:solidFill>
                  <a:srgbClr val="F7F9FC"/>
                </a:solidFill>
                <a:latin typeface="Montserrat"/>
              </a:rPr>
              <a:t>diversity remains calibrated</a:t>
            </a:r>
          </a:p>
        </p:txBody>
      </p:sp>
      <p:sp>
        <p:nvSpPr>
          <p:cNvPr id="35" name="Rounded Rectangle 34"/>
          <p:cNvSpPr/>
          <p:nvPr/>
        </p:nvSpPr>
        <p:spPr>
          <a:xfrm>
            <a:off x="7552944" y="3438144"/>
            <a:ext cx="3785615" cy="1810512"/>
          </a:xfrm>
          <a:prstGeom prst="roundRect">
            <a:avLst/>
          </a:prstGeom>
          <a:solidFill>
            <a:srgbClr val="111C31"/>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27264" y="3694176"/>
            <a:ext cx="1225296"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00" b="1" i="0">
                <a:solidFill>
                  <a:srgbClr val="FB7185"/>
                </a:solidFill>
                <a:latin typeface="Montserrat"/>
              </a:rPr>
              <a:t>Stop when</a:t>
            </a:r>
          </a:p>
        </p:txBody>
      </p:sp>
      <p:sp>
        <p:nvSpPr>
          <p:cNvPr id="37" name="TextBox 36"/>
          <p:cNvSpPr txBox="1"/>
          <p:nvPr/>
        </p:nvSpPr>
        <p:spPr>
          <a:xfrm>
            <a:off x="7827264" y="4096512"/>
            <a:ext cx="3054096" cy="786384"/>
          </a:xfrm>
          <a:prstGeom prst="rect">
            <a:avLst/>
          </a:prstGeom>
          <a:noFill/>
        </p:spPr>
        <p:txBody>
          <a:bodyPr wrap="square" lIns="18288" rIns="18288" tIns="18288" bIns="18288">
            <a:spAutoFit/>
          </a:bodyPr>
          <a:lstStyle/>
          <a:p>
            <a:pPr>
              <a:lnSpc>
                <a:spcPct val="108000"/>
              </a:lnSpc>
              <a:spcBef>
                <a:spcPts val="0"/>
              </a:spcBef>
              <a:spcAft>
                <a:spcPts val="200"/>
              </a:spcAft>
            </a:pPr>
            <a:r>
              <a:rPr sz="1080" b="1">
                <a:solidFill>
                  <a:srgbClr val="FB7185"/>
                </a:solidFill>
                <a:latin typeface="Montserrat"/>
              </a:rPr>
              <a:t>•  </a:t>
            </a:r>
            <a:r>
              <a:rPr sz="1080">
                <a:solidFill>
                  <a:srgbClr val="F7F9FC"/>
                </a:solidFill>
                <a:latin typeface="Montserrat"/>
              </a:rPr>
              <a:t>centroid drifts</a:t>
            </a:r>
          </a:p>
          <a:p>
            <a:pPr>
              <a:lnSpc>
                <a:spcPct val="108000"/>
              </a:lnSpc>
              <a:spcBef>
                <a:spcPts val="0"/>
              </a:spcBef>
              <a:spcAft>
                <a:spcPts val="200"/>
              </a:spcAft>
            </a:pPr>
            <a:r>
              <a:rPr sz="1080" b="1">
                <a:solidFill>
                  <a:srgbClr val="FB7185"/>
                </a:solidFill>
                <a:latin typeface="Montserrat"/>
              </a:rPr>
              <a:t>•  </a:t>
            </a:r>
            <a:r>
              <a:rPr sz="1080">
                <a:solidFill>
                  <a:srgbClr val="F7F9FC"/>
                </a:solidFill>
                <a:latin typeface="Montserrat"/>
              </a:rPr>
              <a:t>mode diversity hurts DE power</a:t>
            </a:r>
          </a:p>
          <a:p>
            <a:pPr>
              <a:lnSpc>
                <a:spcPct val="108000"/>
              </a:lnSpc>
              <a:spcBef>
                <a:spcPts val="0"/>
              </a:spcBef>
              <a:spcAft>
                <a:spcPts val="200"/>
              </a:spcAft>
            </a:pPr>
            <a:r>
              <a:rPr sz="1080" b="1">
                <a:solidFill>
                  <a:srgbClr val="FB7185"/>
                </a:solidFill>
                <a:latin typeface="Montserrat"/>
              </a:rPr>
              <a:t>•  </a:t>
            </a:r>
            <a:r>
              <a:rPr sz="1080">
                <a:solidFill>
                  <a:srgbClr val="F7F9FC"/>
                </a:solidFill>
                <a:latin typeface="Montserrat"/>
              </a:rPr>
              <a:t>no LOCO gain versus count sampler</a:t>
            </a:r>
          </a:p>
        </p:txBody>
      </p:sp>
      <p:sp>
        <p:nvSpPr>
          <p:cNvPr id="38" name="TextBox 37"/>
          <p:cNvSpPr txBox="1"/>
          <p:nvPr/>
        </p:nvSpPr>
        <p:spPr>
          <a:xfrm>
            <a:off x="1133856" y="5632704"/>
            <a:ext cx="9912096"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DE68A"/>
                </a:solidFill>
                <a:latin typeface="Montserrat"/>
              </a:rPr>
              <a:t>Diffusion is a distributional upgrade, not a prerequisite.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MODEL CHOICES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Where reinforcement learning helps—and why it is optional</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The problem is supervised conditional distribution estimation, not sequential control.</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34</a:t>
            </a:r>
          </a:p>
        </p:txBody>
      </p:sp>
      <p:sp>
        <p:nvSpPr>
          <p:cNvPr id="10" name="Rounded Rectangle 9"/>
          <p:cNvSpPr/>
          <p:nvPr/>
        </p:nvSpPr>
        <p:spPr>
          <a:xfrm>
            <a:off x="658368" y="1572768"/>
            <a:ext cx="5084064" cy="3730752"/>
          </a:xfrm>
          <a:prstGeom prst="roundRect">
            <a:avLst/>
          </a:prstGeom>
          <a:solidFill>
            <a:srgbClr val="111C31"/>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2688" y="1828800"/>
            <a:ext cx="1143000" cy="256032"/>
          </a:xfrm>
          <a:prstGeom prst="round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1833372"/>
            <a:ext cx="1143000"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WHY NOT CORE</a:t>
            </a:r>
          </a:p>
        </p:txBody>
      </p:sp>
      <p:sp>
        <p:nvSpPr>
          <p:cNvPr id="13" name="TextBox 12"/>
          <p:cNvSpPr txBox="1"/>
          <p:nvPr/>
        </p:nvSpPr>
        <p:spPr>
          <a:xfrm>
            <a:off x="950976" y="2340864"/>
            <a:ext cx="4334256" cy="2487168"/>
          </a:xfrm>
          <a:prstGeom prst="rect">
            <a:avLst/>
          </a:prstGeom>
          <a:noFill/>
        </p:spPr>
        <p:txBody>
          <a:bodyPr wrap="square" lIns="18288" rIns="18288" tIns="18288" bIns="18288">
            <a:spAutoFit/>
          </a:bodyPr>
          <a:lstStyle/>
          <a:p>
            <a:pPr>
              <a:lnSpc>
                <a:spcPct val="108000"/>
              </a:lnSpc>
              <a:spcBef>
                <a:spcPts val="0"/>
              </a:spcBef>
              <a:spcAft>
                <a:spcPts val="300"/>
              </a:spcAft>
            </a:pPr>
            <a:r>
              <a:rPr sz="1140" b="1">
                <a:solidFill>
                  <a:srgbClr val="FB7185"/>
                </a:solidFill>
                <a:latin typeface="Montserrat"/>
              </a:rPr>
              <a:t>•  </a:t>
            </a:r>
            <a:r>
              <a:rPr sz="1140">
                <a:solidFill>
                  <a:srgbClr val="F7F9FC"/>
                </a:solidFill>
                <a:latin typeface="Montserrat"/>
              </a:rPr>
              <a:t>The target is given; the model chooses no intervention.</a:t>
            </a:r>
          </a:p>
          <a:p>
            <a:pPr>
              <a:lnSpc>
                <a:spcPct val="108000"/>
              </a:lnSpc>
              <a:spcBef>
                <a:spcPts val="0"/>
              </a:spcBef>
              <a:spcAft>
                <a:spcPts val="300"/>
              </a:spcAft>
            </a:pPr>
            <a:r>
              <a:rPr sz="1140" b="1">
                <a:solidFill>
                  <a:srgbClr val="FB7185"/>
                </a:solidFill>
                <a:latin typeface="Montserrat"/>
              </a:rPr>
              <a:t>•  </a:t>
            </a:r>
            <a:r>
              <a:rPr sz="1140">
                <a:solidFill>
                  <a:srgbClr val="F7F9FC"/>
                </a:solidFill>
                <a:latin typeface="Montserrat"/>
              </a:rPr>
              <a:t>There is no natural action–state trajectory.</a:t>
            </a:r>
          </a:p>
          <a:p>
            <a:pPr>
              <a:lnSpc>
                <a:spcPct val="108000"/>
              </a:lnSpc>
              <a:spcBef>
                <a:spcPts val="0"/>
              </a:spcBef>
              <a:spcAft>
                <a:spcPts val="300"/>
              </a:spcAft>
            </a:pPr>
            <a:r>
              <a:rPr sz="1140" b="1">
                <a:solidFill>
                  <a:srgbClr val="FB7185"/>
                </a:solidFill>
                <a:latin typeface="Montserrat"/>
              </a:rPr>
              <a:t>•  </a:t>
            </a:r>
            <a:r>
              <a:rPr sz="1140">
                <a:solidFill>
                  <a:srgbClr val="F7F9FC"/>
                </a:solidFill>
                <a:latin typeface="Montserrat"/>
              </a:rPr>
              <a:t>A–F perturbation truth is unavailable during training.</a:t>
            </a:r>
          </a:p>
          <a:p>
            <a:pPr>
              <a:lnSpc>
                <a:spcPct val="108000"/>
              </a:lnSpc>
              <a:spcBef>
                <a:spcPts val="0"/>
              </a:spcBef>
              <a:spcAft>
                <a:spcPts val="300"/>
              </a:spcAft>
            </a:pPr>
            <a:r>
              <a:rPr sz="1140" b="1">
                <a:solidFill>
                  <a:srgbClr val="FB7185"/>
                </a:solidFill>
                <a:latin typeface="Montserrat"/>
              </a:rPr>
              <a:t>•  </a:t>
            </a:r>
            <a:r>
              <a:rPr sz="1140">
                <a:solidFill>
                  <a:srgbClr val="F7F9FC"/>
                </a:solidFill>
                <a:latin typeface="Montserrat"/>
              </a:rPr>
              <a:t>Millions of count outputs receive six scalar rewards.</a:t>
            </a:r>
          </a:p>
          <a:p>
            <a:pPr>
              <a:lnSpc>
                <a:spcPct val="108000"/>
              </a:lnSpc>
              <a:spcBef>
                <a:spcPts val="0"/>
              </a:spcBef>
              <a:spcAft>
                <a:spcPts val="300"/>
              </a:spcAft>
            </a:pPr>
            <a:r>
              <a:rPr sz="1140" b="1">
                <a:solidFill>
                  <a:srgbClr val="FB7185"/>
                </a:solidFill>
                <a:latin typeface="Montserrat"/>
              </a:rPr>
              <a:t>•  </a:t>
            </a:r>
            <a:r>
              <a:rPr sz="1140">
                <a:solidFill>
                  <a:srgbClr val="F7F9FC"/>
                </a:solidFill>
                <a:latin typeface="Montserrat"/>
              </a:rPr>
              <a:t>PDS and DE metrics are panel-coupled and partly discontinuous.</a:t>
            </a:r>
          </a:p>
          <a:p>
            <a:pPr>
              <a:lnSpc>
                <a:spcPct val="108000"/>
              </a:lnSpc>
              <a:spcBef>
                <a:spcPts val="0"/>
              </a:spcBef>
              <a:spcAft>
                <a:spcPts val="300"/>
              </a:spcAft>
            </a:pPr>
            <a:r>
              <a:rPr sz="1140" b="1">
                <a:solidFill>
                  <a:srgbClr val="FB7185"/>
                </a:solidFill>
                <a:latin typeface="Montserrat"/>
              </a:rPr>
              <a:t>•  </a:t>
            </a:r>
            <a:r>
              <a:rPr sz="1140">
                <a:solidFill>
                  <a:srgbClr val="F7F9FC"/>
                </a:solidFill>
                <a:latin typeface="Montserrat"/>
              </a:rPr>
              <a:t>Imperfect verifiers invite reward hacking and mode collapse.</a:t>
            </a:r>
          </a:p>
        </p:txBody>
      </p:sp>
      <p:sp>
        <p:nvSpPr>
          <p:cNvPr id="14" name="Rounded Rectangle 13"/>
          <p:cNvSpPr/>
          <p:nvPr/>
        </p:nvSpPr>
        <p:spPr>
          <a:xfrm>
            <a:off x="6089904" y="1572768"/>
            <a:ext cx="5212080" cy="3730752"/>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64224" y="1828800"/>
            <a:ext cx="1097280"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1833372"/>
            <a:ext cx="1097280"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OPTIONAL LANE</a:t>
            </a:r>
          </a:p>
        </p:txBody>
      </p:sp>
      <p:sp>
        <p:nvSpPr>
          <p:cNvPr id="17" name="TextBox 16"/>
          <p:cNvSpPr txBox="1"/>
          <p:nvPr/>
        </p:nvSpPr>
        <p:spPr>
          <a:xfrm>
            <a:off x="6382512" y="2340864"/>
            <a:ext cx="4425696" cy="2487168"/>
          </a:xfrm>
          <a:prstGeom prst="rect">
            <a:avLst/>
          </a:prstGeom>
          <a:noFill/>
        </p:spPr>
        <p:txBody>
          <a:bodyPr wrap="square" lIns="18288" rIns="18288" tIns="18288" bIns="18288">
            <a:spAutoFit/>
          </a:bodyPr>
          <a:lstStyle/>
          <a:p>
            <a:pPr>
              <a:lnSpc>
                <a:spcPct val="108000"/>
              </a:lnSpc>
              <a:spcBef>
                <a:spcPts val="0"/>
              </a:spcBef>
              <a:spcAft>
                <a:spcPts val="300"/>
              </a:spcAft>
            </a:pPr>
            <a:r>
              <a:rPr sz="1140" b="1">
                <a:solidFill>
                  <a:srgbClr val="34D399"/>
                </a:solidFill>
                <a:latin typeface="Montserrat"/>
              </a:rPr>
              <a:t>•  </a:t>
            </a:r>
            <a:r>
              <a:rPr sz="1140">
                <a:solidFill>
                  <a:srgbClr val="F7F9FC"/>
                </a:solidFill>
                <a:latin typeface="Montserrat"/>
              </a:rPr>
              <a:t>Freeze a supervised generator first.</a:t>
            </a:r>
          </a:p>
          <a:p>
            <a:pPr>
              <a:lnSpc>
                <a:spcPct val="108000"/>
              </a:lnSpc>
              <a:spcBef>
                <a:spcPts val="0"/>
              </a:spcBef>
              <a:spcAft>
                <a:spcPts val="300"/>
              </a:spcAft>
            </a:pPr>
            <a:r>
              <a:rPr sz="1140" b="1">
                <a:solidFill>
                  <a:srgbClr val="34D399"/>
                </a:solidFill>
                <a:latin typeface="Montserrat"/>
              </a:rPr>
              <a:t>•  </a:t>
            </a:r>
            <a:r>
              <a:rPr sz="1140">
                <a:solidFill>
                  <a:srgbClr val="F7F9FC"/>
                </a:solidFill>
                <a:latin typeface="Montserrat"/>
              </a:rPr>
              <a:t>Train a surrogate/exact metric verifier on public folds.</a:t>
            </a:r>
          </a:p>
          <a:p>
            <a:pPr>
              <a:lnSpc>
                <a:spcPct val="108000"/>
              </a:lnSpc>
              <a:spcBef>
                <a:spcPts val="0"/>
              </a:spcBef>
              <a:spcAft>
                <a:spcPts val="300"/>
              </a:spcAft>
            </a:pPr>
            <a:r>
              <a:rPr sz="1140" b="1">
                <a:solidFill>
                  <a:srgbClr val="34D399"/>
                </a:solidFill>
                <a:latin typeface="Montserrat"/>
              </a:rPr>
              <a:t>•  </a:t>
            </a:r>
            <a:r>
              <a:rPr sz="1140">
                <a:solidFill>
                  <a:srgbClr val="F7F9FC"/>
                </a:solidFill>
                <a:latin typeface="Montserrat"/>
              </a:rPr>
              <a:t>Update only a small adapter or guidance policy.</a:t>
            </a:r>
          </a:p>
          <a:p>
            <a:pPr>
              <a:lnSpc>
                <a:spcPct val="108000"/>
              </a:lnSpc>
              <a:spcBef>
                <a:spcPts val="0"/>
              </a:spcBef>
              <a:spcAft>
                <a:spcPts val="300"/>
              </a:spcAft>
            </a:pPr>
            <a:r>
              <a:rPr sz="1140" b="1">
                <a:solidFill>
                  <a:srgbClr val="34D399"/>
                </a:solidFill>
                <a:latin typeface="Montserrat"/>
              </a:rPr>
              <a:t>•  </a:t>
            </a:r>
            <a:r>
              <a:rPr sz="1140">
                <a:solidFill>
                  <a:srgbClr val="F7F9FC"/>
                </a:solidFill>
                <a:latin typeface="Montserrat"/>
              </a:rPr>
              <a:t>Constrain KL, count moments, and diversity.</a:t>
            </a:r>
          </a:p>
          <a:p>
            <a:pPr>
              <a:lnSpc>
                <a:spcPct val="108000"/>
              </a:lnSpc>
              <a:spcBef>
                <a:spcPts val="0"/>
              </a:spcBef>
              <a:spcAft>
                <a:spcPts val="300"/>
              </a:spcAft>
            </a:pPr>
            <a:r>
              <a:rPr sz="1140" b="1">
                <a:solidFill>
                  <a:srgbClr val="34D399"/>
                </a:solidFill>
                <a:latin typeface="Montserrat"/>
              </a:rPr>
              <a:t>•  </a:t>
            </a:r>
            <a:r>
              <a:rPr sz="1140">
                <a:solidFill>
                  <a:srgbClr val="F7F9FC"/>
                </a:solidFill>
                <a:latin typeface="Montserrat"/>
              </a:rPr>
              <a:t>Evaluate on untouched cell lines and three seeds.</a:t>
            </a:r>
          </a:p>
          <a:p>
            <a:pPr>
              <a:lnSpc>
                <a:spcPct val="108000"/>
              </a:lnSpc>
              <a:spcBef>
                <a:spcPts val="0"/>
              </a:spcBef>
              <a:spcAft>
                <a:spcPts val="300"/>
              </a:spcAft>
            </a:pPr>
            <a:r>
              <a:rPr sz="1140" b="1">
                <a:solidFill>
                  <a:srgbClr val="34D399"/>
                </a:solidFill>
                <a:latin typeface="Montserrat"/>
              </a:rPr>
              <a:t>•  </a:t>
            </a:r>
            <a:r>
              <a:rPr sz="1140">
                <a:solidFill>
                  <a:srgbClr val="F7F9FC"/>
                </a:solidFill>
                <a:latin typeface="Montserrat"/>
              </a:rPr>
              <a:t>Terminate if any metric or worst context collapses.</a:t>
            </a:r>
          </a:p>
        </p:txBody>
      </p:sp>
      <p:sp>
        <p:nvSpPr>
          <p:cNvPr id="18" name="Rounded Rectangle 17"/>
          <p:cNvSpPr/>
          <p:nvPr/>
        </p:nvSpPr>
        <p:spPr>
          <a:xfrm>
            <a:off x="1389888" y="5614416"/>
            <a:ext cx="9400032" cy="384048"/>
          </a:xfrm>
          <a:prstGeom prst="roundRect">
            <a:avLst/>
          </a:prstGeom>
          <a:solidFill>
            <a:srgbClr val="0D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645920" y="5705856"/>
            <a:ext cx="8887968" cy="20116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DE68A"/>
                </a:solidFill>
                <a:latin typeface="Montserrat"/>
              </a:rPr>
              <a:t>Compute budget cap: ≤10% for RL until the supervised entry gate is passed.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VALIDATION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LOCO validation is the scientific backbone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Hold out entire cell contexts; never validate by random cells from a known line.</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35</a:t>
            </a:r>
          </a:p>
        </p:txBody>
      </p:sp>
      <p:sp>
        <p:nvSpPr>
          <p:cNvPr id="10" name="Rounded Rectangle 9"/>
          <p:cNvSpPr/>
          <p:nvPr/>
        </p:nvSpPr>
        <p:spPr>
          <a:xfrm>
            <a:off x="731520" y="1682496"/>
            <a:ext cx="3401568" cy="1920240"/>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50976" y="1901952"/>
            <a:ext cx="749808"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1906524"/>
            <a:ext cx="74980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FOLD 1</a:t>
            </a:r>
          </a:p>
        </p:txBody>
      </p:sp>
      <p:sp>
        <p:nvSpPr>
          <p:cNvPr id="13" name="TextBox 12"/>
          <p:cNvSpPr txBox="1"/>
          <p:nvPr/>
        </p:nvSpPr>
        <p:spPr>
          <a:xfrm>
            <a:off x="969264" y="2468880"/>
            <a:ext cx="292608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1" i="0">
                <a:solidFill>
                  <a:srgbClr val="F7F9FC"/>
                </a:solidFill>
                <a:latin typeface="Source Code Pro"/>
              </a:rPr>
              <a:t>Train: B C D …</a:t>
            </a:r>
          </a:p>
        </p:txBody>
      </p:sp>
      <p:sp>
        <p:nvSpPr>
          <p:cNvPr id="14" name="TextBox 13"/>
          <p:cNvSpPr txBox="1"/>
          <p:nvPr/>
        </p:nvSpPr>
        <p:spPr>
          <a:xfrm>
            <a:off x="969264" y="2926080"/>
            <a:ext cx="292608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50" b="1" i="0">
                <a:solidFill>
                  <a:srgbClr val="22D3EE"/>
                </a:solidFill>
                <a:latin typeface="Source Code Pro"/>
              </a:rPr>
              <a:t>Test: A</a:t>
            </a:r>
          </a:p>
        </p:txBody>
      </p:sp>
      <p:sp>
        <p:nvSpPr>
          <p:cNvPr id="15" name="Rounded Rectangle 14"/>
          <p:cNvSpPr/>
          <p:nvPr/>
        </p:nvSpPr>
        <p:spPr>
          <a:xfrm>
            <a:off x="4480559" y="1682496"/>
            <a:ext cx="3401568" cy="1920240"/>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700016" y="1901952"/>
            <a:ext cx="749808"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0016" y="1906524"/>
            <a:ext cx="74980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FOLD 2</a:t>
            </a:r>
          </a:p>
        </p:txBody>
      </p:sp>
      <p:sp>
        <p:nvSpPr>
          <p:cNvPr id="18" name="TextBox 17"/>
          <p:cNvSpPr txBox="1"/>
          <p:nvPr/>
        </p:nvSpPr>
        <p:spPr>
          <a:xfrm>
            <a:off x="4718303" y="2468880"/>
            <a:ext cx="292608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1" i="0">
                <a:solidFill>
                  <a:srgbClr val="F7F9FC"/>
                </a:solidFill>
                <a:latin typeface="Source Code Pro"/>
              </a:rPr>
              <a:t>Train: A C D …</a:t>
            </a:r>
          </a:p>
        </p:txBody>
      </p:sp>
      <p:sp>
        <p:nvSpPr>
          <p:cNvPr id="19" name="TextBox 18"/>
          <p:cNvSpPr txBox="1"/>
          <p:nvPr/>
        </p:nvSpPr>
        <p:spPr>
          <a:xfrm>
            <a:off x="4718303" y="2926080"/>
            <a:ext cx="292608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50" b="1" i="0">
                <a:solidFill>
                  <a:srgbClr val="8B5CF6"/>
                </a:solidFill>
                <a:latin typeface="Source Code Pro"/>
              </a:rPr>
              <a:t>Test: B</a:t>
            </a:r>
          </a:p>
        </p:txBody>
      </p:sp>
      <p:sp>
        <p:nvSpPr>
          <p:cNvPr id="20" name="Rounded Rectangle 19"/>
          <p:cNvSpPr/>
          <p:nvPr/>
        </p:nvSpPr>
        <p:spPr>
          <a:xfrm>
            <a:off x="8229600" y="1682496"/>
            <a:ext cx="3401568" cy="1920240"/>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449056" y="1901952"/>
            <a:ext cx="749808" cy="256032"/>
          </a:xfrm>
          <a:prstGeom prst="roundRect">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49056" y="1906524"/>
            <a:ext cx="74980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FOLD 3</a:t>
            </a:r>
          </a:p>
        </p:txBody>
      </p:sp>
      <p:sp>
        <p:nvSpPr>
          <p:cNvPr id="23" name="TextBox 22"/>
          <p:cNvSpPr txBox="1"/>
          <p:nvPr/>
        </p:nvSpPr>
        <p:spPr>
          <a:xfrm>
            <a:off x="8467344" y="2468880"/>
            <a:ext cx="292608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1" i="0">
                <a:solidFill>
                  <a:srgbClr val="F7F9FC"/>
                </a:solidFill>
                <a:latin typeface="Source Code Pro"/>
              </a:rPr>
              <a:t>Train: A B D …</a:t>
            </a:r>
          </a:p>
        </p:txBody>
      </p:sp>
      <p:sp>
        <p:nvSpPr>
          <p:cNvPr id="24" name="TextBox 23"/>
          <p:cNvSpPr txBox="1"/>
          <p:nvPr/>
        </p:nvSpPr>
        <p:spPr>
          <a:xfrm>
            <a:off x="8467344" y="2926080"/>
            <a:ext cx="2926080"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350" b="1" i="0">
                <a:solidFill>
                  <a:srgbClr val="F472B6"/>
                </a:solidFill>
                <a:latin typeface="Source Code Pro"/>
              </a:rPr>
              <a:t>Test: C</a:t>
            </a:r>
          </a:p>
        </p:txBody>
      </p:sp>
      <p:sp>
        <p:nvSpPr>
          <p:cNvPr id="25" name="Rounded Rectangle 24"/>
          <p:cNvSpPr/>
          <p:nvPr/>
        </p:nvSpPr>
        <p:spPr>
          <a:xfrm>
            <a:off x="731520" y="3977639"/>
            <a:ext cx="10899648" cy="1225296"/>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261104"/>
            <a:ext cx="228600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22D3EE"/>
                </a:solidFill>
                <a:latin typeface="Montserrat"/>
              </a:rPr>
              <a:t>Outer split</a:t>
            </a:r>
          </a:p>
        </p:txBody>
      </p:sp>
      <p:sp>
        <p:nvSpPr>
          <p:cNvPr id="27" name="TextBox 26"/>
          <p:cNvSpPr txBox="1"/>
          <p:nvPr/>
        </p:nvSpPr>
        <p:spPr>
          <a:xfrm>
            <a:off x="960120" y="4645152"/>
            <a:ext cx="228600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30" b="1" i="0">
                <a:solidFill>
                  <a:srgbClr val="F7F9FC"/>
                </a:solidFill>
                <a:latin typeface="Montserrat"/>
              </a:rPr>
              <a:t>unseen cell line</a:t>
            </a:r>
          </a:p>
        </p:txBody>
      </p:sp>
      <p:sp>
        <p:nvSpPr>
          <p:cNvPr id="28" name="TextBox 27"/>
          <p:cNvSpPr txBox="1"/>
          <p:nvPr/>
        </p:nvSpPr>
        <p:spPr>
          <a:xfrm>
            <a:off x="3639312" y="4261104"/>
            <a:ext cx="228600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8B5CF6"/>
                </a:solidFill>
                <a:latin typeface="Montserrat"/>
              </a:rPr>
              <a:t>Inner split</a:t>
            </a:r>
          </a:p>
        </p:txBody>
      </p:sp>
      <p:sp>
        <p:nvSpPr>
          <p:cNvPr id="29" name="TextBox 28"/>
          <p:cNvSpPr txBox="1"/>
          <p:nvPr/>
        </p:nvSpPr>
        <p:spPr>
          <a:xfrm>
            <a:off x="3639312" y="4645152"/>
            <a:ext cx="228600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30" b="1" i="0">
                <a:solidFill>
                  <a:srgbClr val="F7F9FC"/>
                </a:solidFill>
                <a:latin typeface="Montserrat"/>
              </a:rPr>
              <a:t>unseen targets / families</a:t>
            </a:r>
          </a:p>
        </p:txBody>
      </p:sp>
      <p:sp>
        <p:nvSpPr>
          <p:cNvPr id="30" name="TextBox 29"/>
          <p:cNvSpPr txBox="1"/>
          <p:nvPr/>
        </p:nvSpPr>
        <p:spPr>
          <a:xfrm>
            <a:off x="6318504" y="4261104"/>
            <a:ext cx="228600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F472B6"/>
                </a:solidFill>
                <a:latin typeface="Montserrat"/>
              </a:rPr>
              <a:t>Scoring</a:t>
            </a:r>
          </a:p>
        </p:txBody>
      </p:sp>
      <p:sp>
        <p:nvSpPr>
          <p:cNvPr id="31" name="TextBox 30"/>
          <p:cNvSpPr txBox="1"/>
          <p:nvPr/>
        </p:nvSpPr>
        <p:spPr>
          <a:xfrm>
            <a:off x="6318504" y="4645152"/>
            <a:ext cx="228600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30" b="1" i="0">
                <a:solidFill>
                  <a:srgbClr val="F7F9FC"/>
                </a:solidFill>
                <a:latin typeface="Montserrat"/>
              </a:rPr>
              <a:t>exact six-metric emulator</a:t>
            </a:r>
          </a:p>
        </p:txBody>
      </p:sp>
      <p:sp>
        <p:nvSpPr>
          <p:cNvPr id="32" name="TextBox 31"/>
          <p:cNvSpPr txBox="1"/>
          <p:nvPr/>
        </p:nvSpPr>
        <p:spPr>
          <a:xfrm>
            <a:off x="8997696" y="4261104"/>
            <a:ext cx="228600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34D399"/>
                </a:solidFill>
                <a:latin typeface="Montserrat"/>
              </a:rPr>
              <a:t>Report</a:t>
            </a:r>
          </a:p>
        </p:txBody>
      </p:sp>
      <p:sp>
        <p:nvSpPr>
          <p:cNvPr id="33" name="TextBox 32"/>
          <p:cNvSpPr txBox="1"/>
          <p:nvPr/>
        </p:nvSpPr>
        <p:spPr>
          <a:xfrm>
            <a:off x="8997696" y="4645152"/>
            <a:ext cx="2286000"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30" b="1" i="0">
                <a:solidFill>
                  <a:srgbClr val="F7F9FC"/>
                </a:solidFill>
                <a:latin typeface="Montserrat"/>
              </a:rPr>
              <a:t>mean + worst context + seeds</a:t>
            </a:r>
          </a:p>
        </p:txBody>
      </p:sp>
      <p:sp>
        <p:nvSpPr>
          <p:cNvPr id="34" name="TextBox 33"/>
          <p:cNvSpPr txBox="1"/>
          <p:nvPr/>
        </p:nvSpPr>
        <p:spPr>
          <a:xfrm>
            <a:off x="1463040" y="5632704"/>
            <a:ext cx="9235440"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50" b="1" i="0">
                <a:solidFill>
                  <a:srgbClr val="FB7185"/>
                </a:solidFill>
                <a:latin typeface="Montserrat"/>
              </a:rPr>
              <a:t>Leaderboard feedback is a sparse external check—not the training reward.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VALIDATION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Ablations and decision gates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Change one mechanism at a time; attach every run to an expected metric effect.</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experiment policy</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36</a:t>
            </a:r>
          </a:p>
        </p:txBody>
      </p:sp>
      <p:sp>
        <p:nvSpPr>
          <p:cNvPr id="10" name="Rectangle 9"/>
          <p:cNvSpPr/>
          <p:nvPr/>
        </p:nvSpPr>
        <p:spPr>
          <a:xfrm>
            <a:off x="621792" y="1536192"/>
            <a:ext cx="1207008" cy="54864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1563624"/>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A5F3FC"/>
                </a:solidFill>
                <a:latin typeface="Montserrat"/>
              </a:rPr>
              <a:t>ID</a:t>
            </a:r>
          </a:p>
        </p:txBody>
      </p:sp>
      <p:sp>
        <p:nvSpPr>
          <p:cNvPr id="12" name="Rectangle 11"/>
          <p:cNvSpPr/>
          <p:nvPr/>
        </p:nvSpPr>
        <p:spPr>
          <a:xfrm>
            <a:off x="1828800" y="1536192"/>
            <a:ext cx="2240280" cy="54864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01952" y="1563624"/>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A5F3FC"/>
                </a:solidFill>
                <a:latin typeface="Montserrat"/>
              </a:rPr>
              <a:t>Change</a:t>
            </a:r>
          </a:p>
        </p:txBody>
      </p:sp>
      <p:sp>
        <p:nvSpPr>
          <p:cNvPr id="14" name="Rectangle 13"/>
          <p:cNvSpPr/>
          <p:nvPr/>
        </p:nvSpPr>
        <p:spPr>
          <a:xfrm>
            <a:off x="4069080" y="1536192"/>
            <a:ext cx="2331720" cy="54864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42232" y="156362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A5F3FC"/>
                </a:solidFill>
                <a:latin typeface="Montserrat"/>
              </a:rPr>
              <a:t>Primary hypothesis</a:t>
            </a:r>
          </a:p>
        </p:txBody>
      </p:sp>
      <p:sp>
        <p:nvSpPr>
          <p:cNvPr id="16" name="Rectangle 15"/>
          <p:cNvSpPr/>
          <p:nvPr/>
        </p:nvSpPr>
        <p:spPr>
          <a:xfrm>
            <a:off x="6400800" y="1536192"/>
            <a:ext cx="2468880" cy="54864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1563624"/>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A5F3FC"/>
                </a:solidFill>
                <a:latin typeface="Montserrat"/>
              </a:rPr>
              <a:t>Expected metric movement</a:t>
            </a:r>
          </a:p>
        </p:txBody>
      </p:sp>
      <p:sp>
        <p:nvSpPr>
          <p:cNvPr id="18" name="Rectangle 17"/>
          <p:cNvSpPr/>
          <p:nvPr/>
        </p:nvSpPr>
        <p:spPr>
          <a:xfrm>
            <a:off x="8869680" y="1536192"/>
            <a:ext cx="2331720" cy="548640"/>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42832" y="156362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A5F3FC"/>
                </a:solidFill>
                <a:latin typeface="Montserrat"/>
              </a:rPr>
              <a:t>Stop rule</a:t>
            </a:r>
          </a:p>
        </p:txBody>
      </p:sp>
      <p:sp>
        <p:nvSpPr>
          <p:cNvPr id="20" name="Rectangle 19"/>
          <p:cNvSpPr/>
          <p:nvPr/>
        </p:nvSpPr>
        <p:spPr>
          <a:xfrm>
            <a:off x="621792" y="2084831"/>
            <a:ext cx="1207008"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2112263"/>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22D3EE"/>
                </a:solidFill>
                <a:latin typeface="Montserrat"/>
              </a:rPr>
              <a:t>A1</a:t>
            </a:r>
          </a:p>
        </p:txBody>
      </p:sp>
      <p:sp>
        <p:nvSpPr>
          <p:cNvPr id="22" name="Rectangle 21"/>
          <p:cNvSpPr/>
          <p:nvPr/>
        </p:nvSpPr>
        <p:spPr>
          <a:xfrm>
            <a:off x="1828800" y="2084831"/>
            <a:ext cx="22402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01952" y="2112263"/>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 target priors</a:t>
            </a:r>
          </a:p>
        </p:txBody>
      </p:sp>
      <p:sp>
        <p:nvSpPr>
          <p:cNvPr id="24" name="Rectangle 23"/>
          <p:cNvSpPr/>
          <p:nvPr/>
        </p:nvSpPr>
        <p:spPr>
          <a:xfrm>
            <a:off x="4069080" y="2084831"/>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42232" y="2112263"/>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unseen target geometry</a:t>
            </a:r>
          </a:p>
        </p:txBody>
      </p:sp>
      <p:sp>
        <p:nvSpPr>
          <p:cNvPr id="26" name="Rectangle 25"/>
          <p:cNvSpPr/>
          <p:nvPr/>
        </p:nvSpPr>
        <p:spPr>
          <a:xfrm>
            <a:off x="6400800" y="2084831"/>
            <a:ext cx="24688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3952" y="2112263"/>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PDS ↑ • reach ↑</a:t>
            </a:r>
          </a:p>
        </p:txBody>
      </p:sp>
      <p:sp>
        <p:nvSpPr>
          <p:cNvPr id="28" name="Rectangle 27"/>
          <p:cNvSpPr/>
          <p:nvPr/>
        </p:nvSpPr>
        <p:spPr>
          <a:xfrm>
            <a:off x="8869680" y="2084831"/>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942832" y="2112263"/>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no LOCO gain</a:t>
            </a:r>
          </a:p>
        </p:txBody>
      </p:sp>
      <p:sp>
        <p:nvSpPr>
          <p:cNvPr id="30" name="Rectangle 29"/>
          <p:cNvSpPr/>
          <p:nvPr/>
        </p:nvSpPr>
        <p:spPr>
          <a:xfrm>
            <a:off x="621792" y="2633472"/>
            <a:ext cx="1207008"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4944" y="2660903"/>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8B5CF6"/>
                </a:solidFill>
                <a:latin typeface="Montserrat"/>
              </a:rPr>
              <a:t>A2</a:t>
            </a:r>
          </a:p>
        </p:txBody>
      </p:sp>
      <p:sp>
        <p:nvSpPr>
          <p:cNvPr id="32" name="Rectangle 31"/>
          <p:cNvSpPr/>
          <p:nvPr/>
        </p:nvSpPr>
        <p:spPr>
          <a:xfrm>
            <a:off x="1828800" y="2633472"/>
            <a:ext cx="224028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901952" y="2660903"/>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 context interaction</a:t>
            </a:r>
          </a:p>
        </p:txBody>
      </p:sp>
      <p:sp>
        <p:nvSpPr>
          <p:cNvPr id="34" name="Rectangle 33"/>
          <p:cNvSpPr/>
          <p:nvPr/>
        </p:nvSpPr>
        <p:spPr>
          <a:xfrm>
            <a:off x="4069080" y="2633472"/>
            <a:ext cx="233172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42232" y="2660903"/>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cell-line modulation</a:t>
            </a:r>
          </a:p>
        </p:txBody>
      </p:sp>
      <p:sp>
        <p:nvSpPr>
          <p:cNvPr id="36" name="Rectangle 35"/>
          <p:cNvSpPr/>
          <p:nvPr/>
        </p:nvSpPr>
        <p:spPr>
          <a:xfrm>
            <a:off x="6400800" y="2633472"/>
            <a:ext cx="246888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73952" y="2660903"/>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worst context ↑</a:t>
            </a:r>
          </a:p>
        </p:txBody>
      </p:sp>
      <p:sp>
        <p:nvSpPr>
          <p:cNvPr id="38" name="Rectangle 37"/>
          <p:cNvSpPr/>
          <p:nvPr/>
        </p:nvSpPr>
        <p:spPr>
          <a:xfrm>
            <a:off x="8869680" y="2633472"/>
            <a:ext cx="233172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42832" y="2660903"/>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variance increases</a:t>
            </a:r>
          </a:p>
        </p:txBody>
      </p:sp>
      <p:sp>
        <p:nvSpPr>
          <p:cNvPr id="40" name="Rectangle 39"/>
          <p:cNvSpPr/>
          <p:nvPr/>
        </p:nvSpPr>
        <p:spPr>
          <a:xfrm>
            <a:off x="621792" y="3182111"/>
            <a:ext cx="1207008"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94944" y="3209543"/>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F472B6"/>
                </a:solidFill>
                <a:latin typeface="Montserrat"/>
              </a:rPr>
              <a:t>A3</a:t>
            </a:r>
          </a:p>
        </p:txBody>
      </p:sp>
      <p:sp>
        <p:nvSpPr>
          <p:cNvPr id="42" name="Rectangle 41"/>
          <p:cNvSpPr/>
          <p:nvPr/>
        </p:nvSpPr>
        <p:spPr>
          <a:xfrm>
            <a:off x="1828800" y="3182111"/>
            <a:ext cx="22402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901952" y="3209543"/>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 effect calibration</a:t>
            </a:r>
          </a:p>
        </p:txBody>
      </p:sp>
      <p:sp>
        <p:nvSpPr>
          <p:cNvPr id="44" name="Rectangle 43"/>
          <p:cNvSpPr/>
          <p:nvPr/>
        </p:nvSpPr>
        <p:spPr>
          <a:xfrm>
            <a:off x="4069080" y="3182111"/>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42232" y="3209543"/>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correct magnitude</a:t>
            </a:r>
          </a:p>
        </p:txBody>
      </p:sp>
      <p:sp>
        <p:nvSpPr>
          <p:cNvPr id="46" name="Rectangle 45"/>
          <p:cNvSpPr/>
          <p:nvPr/>
        </p:nvSpPr>
        <p:spPr>
          <a:xfrm>
            <a:off x="6400800" y="3182111"/>
            <a:ext cx="24688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73952" y="3209543"/>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MSE ↑ • NMAE ↑</a:t>
            </a:r>
          </a:p>
        </p:txBody>
      </p:sp>
      <p:sp>
        <p:nvSpPr>
          <p:cNvPr id="48" name="Rectangle 47"/>
          <p:cNvSpPr/>
          <p:nvPr/>
        </p:nvSpPr>
        <p:spPr>
          <a:xfrm>
            <a:off x="8869680" y="3182111"/>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942832" y="3209543"/>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PDS collapses</a:t>
            </a:r>
          </a:p>
        </p:txBody>
      </p:sp>
      <p:sp>
        <p:nvSpPr>
          <p:cNvPr id="50" name="Rectangle 49"/>
          <p:cNvSpPr/>
          <p:nvPr/>
        </p:nvSpPr>
        <p:spPr>
          <a:xfrm>
            <a:off x="621792" y="3730752"/>
            <a:ext cx="1207008"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94944" y="3758184"/>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34D399"/>
                </a:solidFill>
                <a:latin typeface="Montserrat"/>
              </a:rPr>
              <a:t>A4</a:t>
            </a:r>
          </a:p>
        </p:txBody>
      </p:sp>
      <p:sp>
        <p:nvSpPr>
          <p:cNvPr id="52" name="Rectangle 51"/>
          <p:cNvSpPr/>
          <p:nvPr/>
        </p:nvSpPr>
        <p:spPr>
          <a:xfrm>
            <a:off x="1828800" y="3730752"/>
            <a:ext cx="224028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901952" y="3758184"/>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 NB dispersion</a:t>
            </a:r>
          </a:p>
        </p:txBody>
      </p:sp>
      <p:sp>
        <p:nvSpPr>
          <p:cNvPr id="54" name="Rectangle 53"/>
          <p:cNvSpPr/>
          <p:nvPr/>
        </p:nvSpPr>
        <p:spPr>
          <a:xfrm>
            <a:off x="4069080" y="3730752"/>
            <a:ext cx="233172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142232" y="375818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DE call calibration</a:t>
            </a:r>
          </a:p>
        </p:txBody>
      </p:sp>
      <p:sp>
        <p:nvSpPr>
          <p:cNvPr id="56" name="Rectangle 55"/>
          <p:cNvSpPr/>
          <p:nvPr/>
        </p:nvSpPr>
        <p:spPr>
          <a:xfrm>
            <a:off x="6400800" y="3730752"/>
            <a:ext cx="246888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73952" y="3758184"/>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JAC ↑ • FID stable</a:t>
            </a:r>
          </a:p>
        </p:txBody>
      </p:sp>
      <p:sp>
        <p:nvSpPr>
          <p:cNvPr id="58" name="Rectangle 57"/>
          <p:cNvSpPr/>
          <p:nvPr/>
        </p:nvSpPr>
        <p:spPr>
          <a:xfrm>
            <a:off x="8869680" y="3730752"/>
            <a:ext cx="233172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942832" y="375818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centroid drifts</a:t>
            </a:r>
          </a:p>
        </p:txBody>
      </p:sp>
      <p:sp>
        <p:nvSpPr>
          <p:cNvPr id="60" name="Rectangle 59"/>
          <p:cNvSpPr/>
          <p:nvPr/>
        </p:nvSpPr>
        <p:spPr>
          <a:xfrm>
            <a:off x="621792" y="4279392"/>
            <a:ext cx="1207008"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94944" y="4306824"/>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FBBF24"/>
                </a:solidFill>
                <a:latin typeface="Montserrat"/>
              </a:rPr>
              <a:t>A5</a:t>
            </a:r>
          </a:p>
        </p:txBody>
      </p:sp>
      <p:sp>
        <p:nvSpPr>
          <p:cNvPr id="62" name="Rectangle 61"/>
          <p:cNvSpPr/>
          <p:nvPr/>
        </p:nvSpPr>
        <p:spPr>
          <a:xfrm>
            <a:off x="1828800" y="4279392"/>
            <a:ext cx="22402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901952" y="4306824"/>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 residual flow</a:t>
            </a:r>
          </a:p>
        </p:txBody>
      </p:sp>
      <p:sp>
        <p:nvSpPr>
          <p:cNvPr id="64" name="Rectangle 63"/>
          <p:cNvSpPr/>
          <p:nvPr/>
        </p:nvSpPr>
        <p:spPr>
          <a:xfrm>
            <a:off x="4069080" y="4279392"/>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142232" y="430682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covariance / mixtures</a:t>
            </a:r>
          </a:p>
        </p:txBody>
      </p:sp>
      <p:sp>
        <p:nvSpPr>
          <p:cNvPr id="66" name="Rectangle 65"/>
          <p:cNvSpPr/>
          <p:nvPr/>
        </p:nvSpPr>
        <p:spPr>
          <a:xfrm>
            <a:off x="6400800" y="4279392"/>
            <a:ext cx="24688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73952" y="4306824"/>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JAC or reach ↑</a:t>
            </a:r>
          </a:p>
        </p:txBody>
      </p:sp>
      <p:sp>
        <p:nvSpPr>
          <p:cNvPr id="68" name="Rectangle 67"/>
          <p:cNvSpPr/>
          <p:nvPr/>
        </p:nvSpPr>
        <p:spPr>
          <a:xfrm>
            <a:off x="8869680" y="4279392"/>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942832" y="430682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no count-model gain</a:t>
            </a:r>
          </a:p>
        </p:txBody>
      </p:sp>
      <p:sp>
        <p:nvSpPr>
          <p:cNvPr id="70" name="Rectangle 69"/>
          <p:cNvSpPr/>
          <p:nvPr/>
        </p:nvSpPr>
        <p:spPr>
          <a:xfrm>
            <a:off x="621792" y="4828031"/>
            <a:ext cx="1207008"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94944" y="4855464"/>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60A5FA"/>
                </a:solidFill>
                <a:latin typeface="Montserrat"/>
              </a:rPr>
              <a:t>A6</a:t>
            </a:r>
          </a:p>
        </p:txBody>
      </p:sp>
      <p:sp>
        <p:nvSpPr>
          <p:cNvPr id="72" name="Rectangle 71"/>
          <p:cNvSpPr/>
          <p:nvPr/>
        </p:nvSpPr>
        <p:spPr>
          <a:xfrm>
            <a:off x="1828800" y="4828031"/>
            <a:ext cx="224028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901952" y="4855464"/>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 ensemble</a:t>
            </a:r>
          </a:p>
        </p:txBody>
      </p:sp>
      <p:sp>
        <p:nvSpPr>
          <p:cNvPr id="74" name="Rectangle 73"/>
          <p:cNvSpPr/>
          <p:nvPr/>
        </p:nvSpPr>
        <p:spPr>
          <a:xfrm>
            <a:off x="4069080" y="4828031"/>
            <a:ext cx="233172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142232" y="485546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error diversification</a:t>
            </a:r>
          </a:p>
        </p:txBody>
      </p:sp>
      <p:sp>
        <p:nvSpPr>
          <p:cNvPr id="76" name="Rectangle 75"/>
          <p:cNvSpPr/>
          <p:nvPr/>
        </p:nvSpPr>
        <p:spPr>
          <a:xfrm>
            <a:off x="6400800" y="4828031"/>
            <a:ext cx="246888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473952" y="4855464"/>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mean + worst ↑</a:t>
            </a:r>
          </a:p>
        </p:txBody>
      </p:sp>
      <p:sp>
        <p:nvSpPr>
          <p:cNvPr id="78" name="Rectangle 77"/>
          <p:cNvSpPr/>
          <p:nvPr/>
        </p:nvSpPr>
        <p:spPr>
          <a:xfrm>
            <a:off x="8869680" y="4828031"/>
            <a:ext cx="2331720" cy="548640"/>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942832" y="485546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one fold declines badly</a:t>
            </a:r>
          </a:p>
        </p:txBody>
      </p:sp>
      <p:sp>
        <p:nvSpPr>
          <p:cNvPr id="80" name="Rectangle 79"/>
          <p:cNvSpPr/>
          <p:nvPr/>
        </p:nvSpPr>
        <p:spPr>
          <a:xfrm>
            <a:off x="621792" y="5376672"/>
            <a:ext cx="1207008"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94944" y="5404104"/>
            <a:ext cx="1060704"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1" i="0">
                <a:solidFill>
                  <a:srgbClr val="FB7185"/>
                </a:solidFill>
                <a:latin typeface="Montserrat"/>
              </a:rPr>
              <a:t>A7</a:t>
            </a:r>
          </a:p>
        </p:txBody>
      </p:sp>
      <p:sp>
        <p:nvSpPr>
          <p:cNvPr id="82" name="Rectangle 81"/>
          <p:cNvSpPr/>
          <p:nvPr/>
        </p:nvSpPr>
        <p:spPr>
          <a:xfrm>
            <a:off x="1828800" y="5376672"/>
            <a:ext cx="22402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901952" y="5404104"/>
            <a:ext cx="20939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 RL adapter</a:t>
            </a:r>
          </a:p>
        </p:txBody>
      </p:sp>
      <p:sp>
        <p:nvSpPr>
          <p:cNvPr id="84" name="Rectangle 83"/>
          <p:cNvSpPr/>
          <p:nvPr/>
        </p:nvSpPr>
        <p:spPr>
          <a:xfrm>
            <a:off x="4069080" y="5376672"/>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142232" y="540410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non-diff metric tuning</a:t>
            </a:r>
          </a:p>
        </p:txBody>
      </p:sp>
      <p:sp>
        <p:nvSpPr>
          <p:cNvPr id="86" name="Rectangle 85"/>
          <p:cNvSpPr/>
          <p:nvPr/>
        </p:nvSpPr>
        <p:spPr>
          <a:xfrm>
            <a:off x="6400800" y="5376672"/>
            <a:ext cx="246888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473952" y="5404104"/>
            <a:ext cx="2322576"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multi-metric ↑</a:t>
            </a:r>
          </a:p>
        </p:txBody>
      </p:sp>
      <p:sp>
        <p:nvSpPr>
          <p:cNvPr id="88" name="Rectangle 87"/>
          <p:cNvSpPr/>
          <p:nvPr/>
        </p:nvSpPr>
        <p:spPr>
          <a:xfrm>
            <a:off x="8869680" y="5376672"/>
            <a:ext cx="2331720" cy="548640"/>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942832" y="5404104"/>
            <a:ext cx="2185415" cy="493776"/>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80" b="0" i="0">
                <a:solidFill>
                  <a:srgbClr val="A9B5CC"/>
                </a:solidFill>
                <a:latin typeface="Montserrat"/>
              </a:rPr>
              <a:t>reward hacking</a:t>
            </a:r>
          </a:p>
        </p:txBody>
      </p:sp>
      <p:sp>
        <p:nvSpPr>
          <p:cNvPr id="90" name="TextBox 89"/>
          <p:cNvSpPr txBox="1"/>
          <p:nvPr/>
        </p:nvSpPr>
        <p:spPr>
          <a:xfrm>
            <a:off x="932688" y="5961888"/>
            <a:ext cx="1033272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30" b="1" i="0">
                <a:solidFill>
                  <a:srgbClr val="A5F3FC"/>
                </a:solidFill>
                <a:latin typeface="Montserrat"/>
              </a:rPr>
              <a:t>Promotion = mean gain + worst-context safety + three-seed stability + valid 360k artifact.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THREE-PERSON TEAM</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Three owners, one integrated system</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Clear decision rights reduce duplicated work and prevent silent pipeline failures.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operating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37</a:t>
            </a:r>
          </a:p>
        </p:txBody>
      </p:sp>
      <p:sp>
        <p:nvSpPr>
          <p:cNvPr id="10" name="Rounded Rectangle 9"/>
          <p:cNvSpPr/>
          <p:nvPr/>
        </p:nvSpPr>
        <p:spPr>
          <a:xfrm>
            <a:off x="621792" y="1572768"/>
            <a:ext cx="3456432" cy="3639312"/>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874520" y="1810512"/>
            <a:ext cx="950976" cy="950976"/>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74520" y="1810512"/>
            <a:ext cx="950976" cy="950976"/>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900" b="1" i="0">
                <a:solidFill>
                  <a:srgbClr val="08101F"/>
                </a:solidFill>
                <a:latin typeface="Montserrat"/>
              </a:rPr>
              <a:t>P1</a:t>
            </a:r>
          </a:p>
        </p:txBody>
      </p:sp>
      <p:sp>
        <p:nvSpPr>
          <p:cNvPr id="13" name="TextBox 12"/>
          <p:cNvSpPr txBox="1"/>
          <p:nvPr/>
        </p:nvSpPr>
        <p:spPr>
          <a:xfrm>
            <a:off x="914400" y="2944368"/>
            <a:ext cx="2871216" cy="51206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Biological Modeling Lead</a:t>
            </a:r>
          </a:p>
        </p:txBody>
      </p:sp>
      <p:sp>
        <p:nvSpPr>
          <p:cNvPr id="14" name="TextBox 13"/>
          <p:cNvSpPr txBox="1"/>
          <p:nvPr/>
        </p:nvSpPr>
        <p:spPr>
          <a:xfrm>
            <a:off x="950976" y="3675887"/>
            <a:ext cx="2798064" cy="1207008"/>
          </a:xfrm>
          <a:prstGeom prst="rect">
            <a:avLst/>
          </a:prstGeom>
          <a:noFill/>
        </p:spPr>
        <p:txBody>
          <a:bodyPr wrap="square" lIns="18288" rIns="18288" tIns="18288" bIns="18288">
            <a:spAutoFit/>
          </a:bodyPr>
          <a:lstStyle/>
          <a:p>
            <a:pPr>
              <a:lnSpc>
                <a:spcPct val="108000"/>
              </a:lnSpc>
              <a:spcBef>
                <a:spcPts val="0"/>
              </a:spcBef>
              <a:spcAft>
                <a:spcPts val="200"/>
              </a:spcAft>
            </a:pPr>
            <a:r>
              <a:rPr sz="1070" b="1">
                <a:solidFill>
                  <a:srgbClr val="22D3EE"/>
                </a:solidFill>
                <a:latin typeface="Montserrat"/>
              </a:rPr>
              <a:t>•  </a:t>
            </a:r>
            <a:r>
              <a:rPr sz="1070">
                <a:solidFill>
                  <a:srgbClr val="F7F9FC"/>
                </a:solidFill>
                <a:latin typeface="Montserrat"/>
              </a:rPr>
              <a:t>public data + provenance</a:t>
            </a:r>
          </a:p>
          <a:p>
            <a:pPr>
              <a:lnSpc>
                <a:spcPct val="108000"/>
              </a:lnSpc>
              <a:spcBef>
                <a:spcPts val="0"/>
              </a:spcBef>
              <a:spcAft>
                <a:spcPts val="200"/>
              </a:spcAft>
            </a:pPr>
            <a:r>
              <a:rPr sz="1070" b="1">
                <a:solidFill>
                  <a:srgbClr val="22D3EE"/>
                </a:solidFill>
                <a:latin typeface="Montserrat"/>
              </a:rPr>
              <a:t>•  </a:t>
            </a:r>
            <a:r>
              <a:rPr sz="1070">
                <a:solidFill>
                  <a:srgbClr val="F7F9FC"/>
                </a:solidFill>
                <a:latin typeface="Montserrat"/>
              </a:rPr>
              <a:t>statistical / low-rank baselines</a:t>
            </a:r>
          </a:p>
          <a:p>
            <a:pPr>
              <a:lnSpc>
                <a:spcPct val="108000"/>
              </a:lnSpc>
              <a:spcBef>
                <a:spcPts val="0"/>
              </a:spcBef>
              <a:spcAft>
                <a:spcPts val="200"/>
              </a:spcAft>
            </a:pPr>
            <a:r>
              <a:rPr sz="1070" b="1">
                <a:solidFill>
                  <a:srgbClr val="22D3EE"/>
                </a:solidFill>
                <a:latin typeface="Montserrat"/>
              </a:rPr>
              <a:t>•  </a:t>
            </a:r>
            <a:r>
              <a:rPr sz="1070">
                <a:solidFill>
                  <a:srgbClr val="F7F9FC"/>
                </a:solidFill>
                <a:latin typeface="Montserrat"/>
              </a:rPr>
              <a:t>context and target priors</a:t>
            </a:r>
          </a:p>
          <a:p>
            <a:pPr>
              <a:lnSpc>
                <a:spcPct val="108000"/>
              </a:lnSpc>
              <a:spcBef>
                <a:spcPts val="0"/>
              </a:spcBef>
              <a:spcAft>
                <a:spcPts val="200"/>
              </a:spcAft>
            </a:pPr>
            <a:r>
              <a:rPr sz="1070" b="1">
                <a:solidFill>
                  <a:srgbClr val="22D3EE"/>
                </a:solidFill>
                <a:latin typeface="Montserrat"/>
              </a:rPr>
              <a:t>•  </a:t>
            </a:r>
            <a:r>
              <a:rPr sz="1070">
                <a:solidFill>
                  <a:srgbClr val="F7F9FC"/>
                </a:solidFill>
                <a:latin typeface="Montserrat"/>
              </a:rPr>
              <a:t>scientific model selection</a:t>
            </a:r>
          </a:p>
        </p:txBody>
      </p:sp>
      <p:sp>
        <p:nvSpPr>
          <p:cNvPr id="15" name="Rounded Rectangle 14"/>
          <p:cNvSpPr/>
          <p:nvPr/>
        </p:nvSpPr>
        <p:spPr>
          <a:xfrm>
            <a:off x="4389120" y="1572768"/>
            <a:ext cx="3456432" cy="3639312"/>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41848" y="1810512"/>
            <a:ext cx="950976" cy="950976"/>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41848" y="1810512"/>
            <a:ext cx="950976" cy="950976"/>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900" b="1" i="0">
                <a:solidFill>
                  <a:srgbClr val="F7F9FC"/>
                </a:solidFill>
                <a:latin typeface="Montserrat"/>
              </a:rPr>
              <a:t>P2</a:t>
            </a:r>
          </a:p>
        </p:txBody>
      </p:sp>
      <p:sp>
        <p:nvSpPr>
          <p:cNvPr id="18" name="TextBox 17"/>
          <p:cNvSpPr txBox="1"/>
          <p:nvPr/>
        </p:nvSpPr>
        <p:spPr>
          <a:xfrm>
            <a:off x="4681728" y="2944368"/>
            <a:ext cx="2871216" cy="51206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Generative &amp; Optimization Lead</a:t>
            </a:r>
          </a:p>
        </p:txBody>
      </p:sp>
      <p:sp>
        <p:nvSpPr>
          <p:cNvPr id="19" name="TextBox 18"/>
          <p:cNvSpPr txBox="1"/>
          <p:nvPr/>
        </p:nvSpPr>
        <p:spPr>
          <a:xfrm>
            <a:off x="4718304" y="3675887"/>
            <a:ext cx="2798064" cy="1207008"/>
          </a:xfrm>
          <a:prstGeom prst="rect">
            <a:avLst/>
          </a:prstGeom>
          <a:noFill/>
        </p:spPr>
        <p:txBody>
          <a:bodyPr wrap="square" lIns="18288" rIns="18288" tIns="18288" bIns="18288">
            <a:spAutoFit/>
          </a:bodyPr>
          <a:lstStyle/>
          <a:p>
            <a:pPr>
              <a:lnSpc>
                <a:spcPct val="108000"/>
              </a:lnSpc>
              <a:spcBef>
                <a:spcPts val="0"/>
              </a:spcBef>
              <a:spcAft>
                <a:spcPts val="200"/>
              </a:spcAft>
            </a:pPr>
            <a:r>
              <a:rPr sz="1070" b="1">
                <a:solidFill>
                  <a:srgbClr val="8B5CF6"/>
                </a:solidFill>
                <a:latin typeface="Montserrat"/>
              </a:rPr>
              <a:t>•  </a:t>
            </a:r>
            <a:r>
              <a:rPr sz="1070">
                <a:solidFill>
                  <a:srgbClr val="F7F9FC"/>
                </a:solidFill>
                <a:latin typeface="Montserrat"/>
              </a:rPr>
              <a:t>flow / diffusion architecture</a:t>
            </a:r>
          </a:p>
          <a:p>
            <a:pPr>
              <a:lnSpc>
                <a:spcPct val="108000"/>
              </a:lnSpc>
              <a:spcBef>
                <a:spcPts val="0"/>
              </a:spcBef>
              <a:spcAft>
                <a:spcPts val="200"/>
              </a:spcAft>
            </a:pPr>
            <a:r>
              <a:rPr sz="1070" b="1">
                <a:solidFill>
                  <a:srgbClr val="8B5CF6"/>
                </a:solidFill>
                <a:latin typeface="Montserrat"/>
              </a:rPr>
              <a:t>•  </a:t>
            </a:r>
            <a:r>
              <a:rPr sz="1070">
                <a:solidFill>
                  <a:srgbClr val="F7F9FC"/>
                </a:solidFill>
                <a:latin typeface="Montserrat"/>
              </a:rPr>
              <a:t>count reconstruction + dispersion</a:t>
            </a:r>
          </a:p>
          <a:p>
            <a:pPr>
              <a:lnSpc>
                <a:spcPct val="108000"/>
              </a:lnSpc>
              <a:spcBef>
                <a:spcPts val="0"/>
              </a:spcBef>
              <a:spcAft>
                <a:spcPts val="200"/>
              </a:spcAft>
            </a:pPr>
            <a:r>
              <a:rPr sz="1070" b="1">
                <a:solidFill>
                  <a:srgbClr val="8B5CF6"/>
                </a:solidFill>
                <a:latin typeface="Montserrat"/>
              </a:rPr>
              <a:t>•  </a:t>
            </a:r>
            <a:r>
              <a:rPr sz="1070">
                <a:solidFill>
                  <a:srgbClr val="F7F9FC"/>
                </a:solidFill>
                <a:latin typeface="Montserrat"/>
              </a:rPr>
              <a:t>calibration + ensemble</a:t>
            </a:r>
          </a:p>
          <a:p>
            <a:pPr>
              <a:lnSpc>
                <a:spcPct val="108000"/>
              </a:lnSpc>
              <a:spcBef>
                <a:spcPts val="0"/>
              </a:spcBef>
              <a:spcAft>
                <a:spcPts val="200"/>
              </a:spcAft>
            </a:pPr>
            <a:r>
              <a:rPr sz="1070" b="1">
                <a:solidFill>
                  <a:srgbClr val="8B5CF6"/>
                </a:solidFill>
                <a:latin typeface="Montserrat"/>
              </a:rPr>
              <a:t>•  </a:t>
            </a:r>
            <a:r>
              <a:rPr sz="1070">
                <a:solidFill>
                  <a:srgbClr val="F7F9FC"/>
                </a:solidFill>
                <a:latin typeface="Montserrat"/>
              </a:rPr>
              <a:t>optional RL lane</a:t>
            </a:r>
          </a:p>
        </p:txBody>
      </p:sp>
      <p:sp>
        <p:nvSpPr>
          <p:cNvPr id="20" name="Rounded Rectangle 19"/>
          <p:cNvSpPr/>
          <p:nvPr/>
        </p:nvSpPr>
        <p:spPr>
          <a:xfrm>
            <a:off x="8156448" y="1572768"/>
            <a:ext cx="3456432" cy="3639312"/>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409176" y="1810512"/>
            <a:ext cx="950976" cy="950976"/>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09176" y="1810512"/>
            <a:ext cx="950976" cy="950976"/>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900" b="1" i="0">
                <a:solidFill>
                  <a:srgbClr val="08101F"/>
                </a:solidFill>
                <a:latin typeface="Montserrat"/>
              </a:rPr>
              <a:t>P3</a:t>
            </a:r>
          </a:p>
        </p:txBody>
      </p:sp>
      <p:sp>
        <p:nvSpPr>
          <p:cNvPr id="23" name="TextBox 22"/>
          <p:cNvSpPr txBox="1"/>
          <p:nvPr/>
        </p:nvSpPr>
        <p:spPr>
          <a:xfrm>
            <a:off x="8449056" y="2944368"/>
            <a:ext cx="2871216" cy="512064"/>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400" b="1" i="0">
                <a:solidFill>
                  <a:srgbClr val="F7F9FC"/>
                </a:solidFill>
                <a:latin typeface="Montserrat"/>
              </a:rPr>
              <a:t>Evaluation, MLOps &amp; Competition</a:t>
            </a:r>
          </a:p>
        </p:txBody>
      </p:sp>
      <p:sp>
        <p:nvSpPr>
          <p:cNvPr id="24" name="TextBox 23"/>
          <p:cNvSpPr txBox="1"/>
          <p:nvPr/>
        </p:nvSpPr>
        <p:spPr>
          <a:xfrm>
            <a:off x="8485632" y="3675887"/>
            <a:ext cx="2798064" cy="1207008"/>
          </a:xfrm>
          <a:prstGeom prst="rect">
            <a:avLst/>
          </a:prstGeom>
          <a:noFill/>
        </p:spPr>
        <p:txBody>
          <a:bodyPr wrap="square" lIns="18288" rIns="18288" tIns="18288" bIns="18288">
            <a:spAutoFit/>
          </a:bodyPr>
          <a:lstStyle/>
          <a:p>
            <a:pPr>
              <a:lnSpc>
                <a:spcPct val="108000"/>
              </a:lnSpc>
              <a:spcBef>
                <a:spcPts val="0"/>
              </a:spcBef>
              <a:spcAft>
                <a:spcPts val="200"/>
              </a:spcAft>
            </a:pPr>
            <a:r>
              <a:rPr sz="1070" b="1">
                <a:solidFill>
                  <a:srgbClr val="34D399"/>
                </a:solidFill>
                <a:latin typeface="Montserrat"/>
              </a:rPr>
              <a:t>•  </a:t>
            </a:r>
            <a:r>
              <a:rPr sz="1070">
                <a:solidFill>
                  <a:srgbClr val="F7F9FC"/>
                </a:solidFill>
                <a:latin typeface="Montserrat"/>
              </a:rPr>
              <a:t>official metric parity + LOCO</a:t>
            </a:r>
          </a:p>
          <a:p>
            <a:pPr>
              <a:lnSpc>
                <a:spcPct val="108000"/>
              </a:lnSpc>
              <a:spcBef>
                <a:spcPts val="0"/>
              </a:spcBef>
              <a:spcAft>
                <a:spcPts val="200"/>
              </a:spcAft>
            </a:pPr>
            <a:r>
              <a:rPr sz="1070" b="1">
                <a:solidFill>
                  <a:srgbClr val="34D399"/>
                </a:solidFill>
                <a:latin typeface="Montserrat"/>
              </a:rPr>
              <a:t>•  </a:t>
            </a:r>
            <a:r>
              <a:rPr sz="1070">
                <a:solidFill>
                  <a:srgbClr val="F7F9FC"/>
                </a:solidFill>
                <a:latin typeface="Montserrat"/>
              </a:rPr>
              <a:t>Slurm / H100 / storage</a:t>
            </a:r>
          </a:p>
          <a:p>
            <a:pPr>
              <a:lnSpc>
                <a:spcPct val="108000"/>
              </a:lnSpc>
              <a:spcBef>
                <a:spcPts val="0"/>
              </a:spcBef>
              <a:spcAft>
                <a:spcPts val="200"/>
              </a:spcAft>
            </a:pPr>
            <a:r>
              <a:rPr sz="1070" b="1">
                <a:solidFill>
                  <a:srgbClr val="34D399"/>
                </a:solidFill>
                <a:latin typeface="Montserrat"/>
              </a:rPr>
              <a:t>•  </a:t>
            </a:r>
            <a:r>
              <a:rPr sz="1070">
                <a:solidFill>
                  <a:srgbClr val="F7F9FC"/>
                </a:solidFill>
                <a:latin typeface="Montserrat"/>
              </a:rPr>
              <a:t>artifact registry + reproducibility</a:t>
            </a:r>
          </a:p>
          <a:p>
            <a:pPr>
              <a:lnSpc>
                <a:spcPct val="108000"/>
              </a:lnSpc>
              <a:spcBef>
                <a:spcPts val="0"/>
              </a:spcBef>
              <a:spcAft>
                <a:spcPts val="200"/>
              </a:spcAft>
            </a:pPr>
            <a:r>
              <a:rPr sz="1070" b="1">
                <a:solidFill>
                  <a:srgbClr val="34D399"/>
                </a:solidFill>
                <a:latin typeface="Montserrat"/>
              </a:rPr>
              <a:t>•  </a:t>
            </a:r>
            <a:r>
              <a:rPr sz="1070">
                <a:solidFill>
                  <a:srgbClr val="F7F9FC"/>
                </a:solidFill>
                <a:latin typeface="Montserrat"/>
              </a:rPr>
              <a:t>prep, packaging, submission</a:t>
            </a:r>
          </a:p>
        </p:txBody>
      </p:sp>
      <p:sp>
        <p:nvSpPr>
          <p:cNvPr id="25" name="Rounded Rectangle 24"/>
          <p:cNvSpPr/>
          <p:nvPr/>
        </p:nvSpPr>
        <p:spPr>
          <a:xfrm>
            <a:off x="1170432" y="5532120"/>
            <a:ext cx="9857232" cy="402336"/>
          </a:xfrm>
          <a:prstGeom prst="roundRect">
            <a:avLst/>
          </a:prstGeom>
          <a:solidFill>
            <a:srgbClr val="0D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08176" y="5623560"/>
            <a:ext cx="9381744" cy="21945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50" b="1" i="0">
                <a:solidFill>
                  <a:srgbClr val="FB7185"/>
                </a:solidFill>
                <a:latin typeface="Montserrat"/>
              </a:rPr>
              <a:t>P3 may veto invalid or unreproducible submissions; final model selection requires all three members.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THREE-PERSON TEAM</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Decision ownership: compact RACI</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One accountable owner per critical workstream; shared review at integration points.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operating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38</a:t>
            </a:r>
          </a:p>
        </p:txBody>
      </p:sp>
      <p:sp>
        <p:nvSpPr>
          <p:cNvPr id="10" name="Rectangle 9"/>
          <p:cNvSpPr/>
          <p:nvPr/>
        </p:nvSpPr>
        <p:spPr>
          <a:xfrm>
            <a:off x="676656" y="1536192"/>
            <a:ext cx="3749039" cy="493776"/>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1563624"/>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A5F3FC"/>
                </a:solidFill>
                <a:latin typeface="Montserrat"/>
              </a:rPr>
              <a:t>Workstream</a:t>
            </a:r>
          </a:p>
        </p:txBody>
      </p:sp>
      <p:sp>
        <p:nvSpPr>
          <p:cNvPr id="12" name="Rectangle 11"/>
          <p:cNvSpPr/>
          <p:nvPr/>
        </p:nvSpPr>
        <p:spPr>
          <a:xfrm>
            <a:off x="4425696" y="1536192"/>
            <a:ext cx="2084831" cy="493776"/>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563624"/>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A5F3FC"/>
                </a:solidFill>
                <a:latin typeface="Montserrat"/>
              </a:rPr>
              <a:t>P1 Biology</a:t>
            </a:r>
          </a:p>
        </p:txBody>
      </p:sp>
      <p:sp>
        <p:nvSpPr>
          <p:cNvPr id="14" name="Rectangle 13"/>
          <p:cNvSpPr/>
          <p:nvPr/>
        </p:nvSpPr>
        <p:spPr>
          <a:xfrm>
            <a:off x="6510527" y="1536192"/>
            <a:ext cx="2084831" cy="493776"/>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79" y="1563624"/>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A5F3FC"/>
                </a:solidFill>
                <a:latin typeface="Montserrat"/>
              </a:rPr>
              <a:t>P2 Generative</a:t>
            </a:r>
          </a:p>
        </p:txBody>
      </p:sp>
      <p:sp>
        <p:nvSpPr>
          <p:cNvPr id="16" name="Rectangle 15"/>
          <p:cNvSpPr/>
          <p:nvPr/>
        </p:nvSpPr>
        <p:spPr>
          <a:xfrm>
            <a:off x="8595359" y="1536192"/>
            <a:ext cx="2084831" cy="493776"/>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68511" y="1563624"/>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A5F3FC"/>
                </a:solidFill>
                <a:latin typeface="Montserrat"/>
              </a:rPr>
              <a:t>P3 Eval / MLOps</a:t>
            </a:r>
          </a:p>
        </p:txBody>
      </p:sp>
      <p:sp>
        <p:nvSpPr>
          <p:cNvPr id="18" name="Rectangle 17"/>
          <p:cNvSpPr/>
          <p:nvPr/>
        </p:nvSpPr>
        <p:spPr>
          <a:xfrm>
            <a:off x="676656" y="2029967"/>
            <a:ext cx="3749039"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2057399"/>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22D3EE"/>
                </a:solidFill>
                <a:latin typeface="Montserrat"/>
              </a:rPr>
              <a:t>Public data + licensing</a:t>
            </a:r>
          </a:p>
        </p:txBody>
      </p:sp>
      <p:sp>
        <p:nvSpPr>
          <p:cNvPr id="20" name="Rectangle 19"/>
          <p:cNvSpPr/>
          <p:nvPr/>
        </p:nvSpPr>
        <p:spPr>
          <a:xfrm>
            <a:off x="4425696" y="2029967"/>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98848" y="2057399"/>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 / R</a:t>
            </a:r>
          </a:p>
        </p:txBody>
      </p:sp>
      <p:sp>
        <p:nvSpPr>
          <p:cNvPr id="22" name="Rectangle 21"/>
          <p:cNvSpPr/>
          <p:nvPr/>
        </p:nvSpPr>
        <p:spPr>
          <a:xfrm>
            <a:off x="6510527" y="2029967"/>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79" y="2057399"/>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I</a:t>
            </a:r>
          </a:p>
        </p:txBody>
      </p:sp>
      <p:sp>
        <p:nvSpPr>
          <p:cNvPr id="24" name="Rectangle 23"/>
          <p:cNvSpPr/>
          <p:nvPr/>
        </p:nvSpPr>
        <p:spPr>
          <a:xfrm>
            <a:off x="8595359" y="2029967"/>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68511" y="2057399"/>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26" name="Rectangle 25"/>
          <p:cNvSpPr/>
          <p:nvPr/>
        </p:nvSpPr>
        <p:spPr>
          <a:xfrm>
            <a:off x="676656" y="2523744"/>
            <a:ext cx="3749039"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2551175"/>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8B5CF6"/>
                </a:solidFill>
                <a:latin typeface="Montserrat"/>
              </a:rPr>
              <a:t>Raw-count harmonization</a:t>
            </a:r>
          </a:p>
        </p:txBody>
      </p:sp>
      <p:sp>
        <p:nvSpPr>
          <p:cNvPr id="28" name="Rectangle 27"/>
          <p:cNvSpPr/>
          <p:nvPr/>
        </p:nvSpPr>
        <p:spPr>
          <a:xfrm>
            <a:off x="4425696" y="2523744"/>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98848" y="2551175"/>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 / R</a:t>
            </a:r>
          </a:p>
        </p:txBody>
      </p:sp>
      <p:sp>
        <p:nvSpPr>
          <p:cNvPr id="30" name="Rectangle 29"/>
          <p:cNvSpPr/>
          <p:nvPr/>
        </p:nvSpPr>
        <p:spPr>
          <a:xfrm>
            <a:off x="6510527" y="2523744"/>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79" y="2551175"/>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32" name="Rectangle 31"/>
          <p:cNvSpPr/>
          <p:nvPr/>
        </p:nvSpPr>
        <p:spPr>
          <a:xfrm>
            <a:off x="8595359" y="2523744"/>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68511" y="2551175"/>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R</a:t>
            </a:r>
          </a:p>
        </p:txBody>
      </p:sp>
      <p:sp>
        <p:nvSpPr>
          <p:cNvPr id="34" name="Rectangle 33"/>
          <p:cNvSpPr/>
          <p:nvPr/>
        </p:nvSpPr>
        <p:spPr>
          <a:xfrm>
            <a:off x="676656" y="3017520"/>
            <a:ext cx="3749039"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3044951"/>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F472B6"/>
                </a:solidFill>
                <a:latin typeface="Montserrat"/>
              </a:rPr>
              <a:t>LOCO splits + exact scorer</a:t>
            </a:r>
          </a:p>
        </p:txBody>
      </p:sp>
      <p:sp>
        <p:nvSpPr>
          <p:cNvPr id="36" name="Rectangle 35"/>
          <p:cNvSpPr/>
          <p:nvPr/>
        </p:nvSpPr>
        <p:spPr>
          <a:xfrm>
            <a:off x="4425696" y="3017520"/>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98848" y="3044951"/>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38" name="Rectangle 37"/>
          <p:cNvSpPr/>
          <p:nvPr/>
        </p:nvSpPr>
        <p:spPr>
          <a:xfrm>
            <a:off x="6510527" y="3017520"/>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79" y="3044951"/>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40" name="Rectangle 39"/>
          <p:cNvSpPr/>
          <p:nvPr/>
        </p:nvSpPr>
        <p:spPr>
          <a:xfrm>
            <a:off x="8595359" y="3017520"/>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668511" y="3044951"/>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 / R</a:t>
            </a:r>
          </a:p>
        </p:txBody>
      </p:sp>
      <p:sp>
        <p:nvSpPr>
          <p:cNvPr id="42" name="Rectangle 41"/>
          <p:cNvSpPr/>
          <p:nvPr/>
        </p:nvSpPr>
        <p:spPr>
          <a:xfrm>
            <a:off x="676656" y="3511296"/>
            <a:ext cx="3749039"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8" y="3538727"/>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34D399"/>
                </a:solidFill>
                <a:latin typeface="Montserrat"/>
              </a:rPr>
              <a:t>Statistical transfer baseline</a:t>
            </a:r>
          </a:p>
        </p:txBody>
      </p:sp>
      <p:sp>
        <p:nvSpPr>
          <p:cNvPr id="44" name="Rectangle 43"/>
          <p:cNvSpPr/>
          <p:nvPr/>
        </p:nvSpPr>
        <p:spPr>
          <a:xfrm>
            <a:off x="4425696" y="3511296"/>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498848" y="3538727"/>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 / R</a:t>
            </a:r>
          </a:p>
        </p:txBody>
      </p:sp>
      <p:sp>
        <p:nvSpPr>
          <p:cNvPr id="46" name="Rectangle 45"/>
          <p:cNvSpPr/>
          <p:nvPr/>
        </p:nvSpPr>
        <p:spPr>
          <a:xfrm>
            <a:off x="6510527" y="3511296"/>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79" y="3538727"/>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48" name="Rectangle 47"/>
          <p:cNvSpPr/>
          <p:nvPr/>
        </p:nvSpPr>
        <p:spPr>
          <a:xfrm>
            <a:off x="8595359" y="3511296"/>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68511" y="3538727"/>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50" name="Rectangle 49"/>
          <p:cNvSpPr/>
          <p:nvPr/>
        </p:nvSpPr>
        <p:spPr>
          <a:xfrm>
            <a:off x="676656" y="4005072"/>
            <a:ext cx="3749039"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9808" y="4032504"/>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FBBF24"/>
                </a:solidFill>
                <a:latin typeface="Montserrat"/>
              </a:rPr>
              <a:t>Flow / diffusion generator</a:t>
            </a:r>
          </a:p>
        </p:txBody>
      </p:sp>
      <p:sp>
        <p:nvSpPr>
          <p:cNvPr id="52" name="Rectangle 51"/>
          <p:cNvSpPr/>
          <p:nvPr/>
        </p:nvSpPr>
        <p:spPr>
          <a:xfrm>
            <a:off x="4425696" y="4005072"/>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98848" y="4032504"/>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54" name="Rectangle 53"/>
          <p:cNvSpPr/>
          <p:nvPr/>
        </p:nvSpPr>
        <p:spPr>
          <a:xfrm>
            <a:off x="6510527" y="4005072"/>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79" y="4032504"/>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 / R</a:t>
            </a:r>
          </a:p>
        </p:txBody>
      </p:sp>
      <p:sp>
        <p:nvSpPr>
          <p:cNvPr id="56" name="Rectangle 55"/>
          <p:cNvSpPr/>
          <p:nvPr/>
        </p:nvSpPr>
        <p:spPr>
          <a:xfrm>
            <a:off x="8595359" y="4005072"/>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668511" y="4032504"/>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58" name="Rectangle 57"/>
          <p:cNvSpPr/>
          <p:nvPr/>
        </p:nvSpPr>
        <p:spPr>
          <a:xfrm>
            <a:off x="676656" y="4498848"/>
            <a:ext cx="3749039"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49808" y="4526280"/>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60A5FA"/>
                </a:solidFill>
                <a:latin typeface="Montserrat"/>
              </a:rPr>
              <a:t>Count / dispersion calibration</a:t>
            </a:r>
          </a:p>
        </p:txBody>
      </p:sp>
      <p:sp>
        <p:nvSpPr>
          <p:cNvPr id="60" name="Rectangle 59"/>
          <p:cNvSpPr/>
          <p:nvPr/>
        </p:nvSpPr>
        <p:spPr>
          <a:xfrm>
            <a:off x="4425696" y="4498848"/>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98848" y="4526280"/>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62" name="Rectangle 61"/>
          <p:cNvSpPr/>
          <p:nvPr/>
        </p:nvSpPr>
        <p:spPr>
          <a:xfrm>
            <a:off x="6510527" y="4498848"/>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583679" y="4526280"/>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 / R</a:t>
            </a:r>
          </a:p>
        </p:txBody>
      </p:sp>
      <p:sp>
        <p:nvSpPr>
          <p:cNvPr id="64" name="Rectangle 63"/>
          <p:cNvSpPr/>
          <p:nvPr/>
        </p:nvSpPr>
        <p:spPr>
          <a:xfrm>
            <a:off x="8595359" y="4498848"/>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668511" y="4526280"/>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66" name="Rectangle 65"/>
          <p:cNvSpPr/>
          <p:nvPr/>
        </p:nvSpPr>
        <p:spPr>
          <a:xfrm>
            <a:off x="676656" y="4992624"/>
            <a:ext cx="3749039"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9808" y="5020056"/>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22D3EE"/>
                </a:solidFill>
                <a:latin typeface="Montserrat"/>
              </a:rPr>
              <a:t>Ensemble + model selection</a:t>
            </a:r>
          </a:p>
        </p:txBody>
      </p:sp>
      <p:sp>
        <p:nvSpPr>
          <p:cNvPr id="68" name="Rectangle 67"/>
          <p:cNvSpPr/>
          <p:nvPr/>
        </p:nvSpPr>
        <p:spPr>
          <a:xfrm>
            <a:off x="4425696" y="4992624"/>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498848" y="5020056"/>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a:t>
            </a:r>
          </a:p>
        </p:txBody>
      </p:sp>
      <p:sp>
        <p:nvSpPr>
          <p:cNvPr id="70" name="Rectangle 69"/>
          <p:cNvSpPr/>
          <p:nvPr/>
        </p:nvSpPr>
        <p:spPr>
          <a:xfrm>
            <a:off x="6510527" y="4992624"/>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83679" y="5020056"/>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R</a:t>
            </a:r>
          </a:p>
        </p:txBody>
      </p:sp>
      <p:sp>
        <p:nvSpPr>
          <p:cNvPr id="72" name="Rectangle 71"/>
          <p:cNvSpPr/>
          <p:nvPr/>
        </p:nvSpPr>
        <p:spPr>
          <a:xfrm>
            <a:off x="8595359" y="4992624"/>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668511" y="5020056"/>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74" name="Rectangle 73"/>
          <p:cNvSpPr/>
          <p:nvPr/>
        </p:nvSpPr>
        <p:spPr>
          <a:xfrm>
            <a:off x="676656" y="5486400"/>
            <a:ext cx="3749039"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49808" y="5513832"/>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8B5CF6"/>
                </a:solidFill>
                <a:latin typeface="Montserrat"/>
              </a:rPr>
              <a:t>Artifacts + H100 operations</a:t>
            </a:r>
          </a:p>
        </p:txBody>
      </p:sp>
      <p:sp>
        <p:nvSpPr>
          <p:cNvPr id="76" name="Rectangle 75"/>
          <p:cNvSpPr/>
          <p:nvPr/>
        </p:nvSpPr>
        <p:spPr>
          <a:xfrm>
            <a:off x="4425696" y="5486400"/>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4498848" y="5513832"/>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I</a:t>
            </a:r>
          </a:p>
        </p:txBody>
      </p:sp>
      <p:sp>
        <p:nvSpPr>
          <p:cNvPr id="78" name="Rectangle 77"/>
          <p:cNvSpPr/>
          <p:nvPr/>
        </p:nvSpPr>
        <p:spPr>
          <a:xfrm>
            <a:off x="6510527" y="5486400"/>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583679" y="5513832"/>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80" name="Rectangle 79"/>
          <p:cNvSpPr/>
          <p:nvPr/>
        </p:nvSpPr>
        <p:spPr>
          <a:xfrm>
            <a:off x="8595359" y="5486400"/>
            <a:ext cx="2084831" cy="493776"/>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668511" y="5513832"/>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 / R</a:t>
            </a:r>
          </a:p>
        </p:txBody>
      </p:sp>
      <p:sp>
        <p:nvSpPr>
          <p:cNvPr id="82" name="Rectangle 81"/>
          <p:cNvSpPr/>
          <p:nvPr/>
        </p:nvSpPr>
        <p:spPr>
          <a:xfrm>
            <a:off x="676656" y="5980176"/>
            <a:ext cx="3749039"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49808" y="6007608"/>
            <a:ext cx="3602735"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1" i="0">
                <a:solidFill>
                  <a:srgbClr val="F472B6"/>
                </a:solidFill>
                <a:latin typeface="Montserrat"/>
              </a:rPr>
              <a:t>Leaderboard / final upload</a:t>
            </a:r>
          </a:p>
        </p:txBody>
      </p:sp>
      <p:sp>
        <p:nvSpPr>
          <p:cNvPr id="84" name="Rectangle 83"/>
          <p:cNvSpPr/>
          <p:nvPr/>
        </p:nvSpPr>
        <p:spPr>
          <a:xfrm>
            <a:off x="4425696" y="5980176"/>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498848" y="6007608"/>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A</a:t>
            </a:r>
          </a:p>
        </p:txBody>
      </p:sp>
      <p:sp>
        <p:nvSpPr>
          <p:cNvPr id="86" name="Rectangle 85"/>
          <p:cNvSpPr/>
          <p:nvPr/>
        </p:nvSpPr>
        <p:spPr>
          <a:xfrm>
            <a:off x="6510527" y="5980176"/>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583679" y="6007608"/>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C</a:t>
            </a:r>
          </a:p>
        </p:txBody>
      </p:sp>
      <p:sp>
        <p:nvSpPr>
          <p:cNvPr id="88" name="Rectangle 87"/>
          <p:cNvSpPr/>
          <p:nvPr/>
        </p:nvSpPr>
        <p:spPr>
          <a:xfrm>
            <a:off x="8595359" y="5980176"/>
            <a:ext cx="2084831" cy="493776"/>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8668511" y="6007608"/>
            <a:ext cx="1938527" cy="438912"/>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900" b="0" i="0">
                <a:solidFill>
                  <a:srgbClr val="A9B5CC"/>
                </a:solidFill>
                <a:latin typeface="Montserrat"/>
              </a:rPr>
              <a:t>R</a:t>
            </a:r>
          </a:p>
        </p:txBody>
      </p:sp>
      <p:sp>
        <p:nvSpPr>
          <p:cNvPr id="90" name="TextBox 89"/>
          <p:cNvSpPr txBox="1"/>
          <p:nvPr/>
        </p:nvSpPr>
        <p:spPr>
          <a:xfrm>
            <a:off x="1847088" y="6208776"/>
            <a:ext cx="8503920" cy="20116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80" b="1" i="0">
                <a:solidFill>
                  <a:srgbClr val="A9B5CC"/>
                </a:solidFill>
                <a:latin typeface="Montserrat"/>
              </a:rPr>
              <a:t>R = Responsible   •   A = Accountable   •   C = Consulted   •   I = Informed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THREE-PERSON TEAM</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Timeline to the final submission</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Build evidence in September; freeze in October; preserve recovery time in November.</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Challenge dates from portal snapshot and official documentation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39</a:t>
            </a:r>
          </a:p>
        </p:txBody>
      </p:sp>
      <p:cxnSp>
        <p:nvCxnSpPr>
          <p:cNvPr id="10" name="Connector 9"/>
          <p:cNvCxnSpPr/>
          <p:nvPr/>
        </p:nvCxnSpPr>
        <p:spPr>
          <a:xfrm>
            <a:off x="786384" y="3063240"/>
            <a:ext cx="10607040" cy="0"/>
          </a:xfrm>
          <a:prstGeom prst="line">
            <a:avLst/>
          </a:prstGeom>
          <a:ln w="38100">
            <a:solidFill>
              <a:srgbClr val="71809B"/>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713232" y="2798064"/>
            <a:ext cx="530352" cy="530352"/>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1</a:t>
            </a:r>
          </a:p>
        </p:txBody>
      </p:sp>
      <p:sp>
        <p:nvSpPr>
          <p:cNvPr id="13" name="TextBox 12"/>
          <p:cNvSpPr txBox="1"/>
          <p:nvPr/>
        </p:nvSpPr>
        <p:spPr>
          <a:xfrm>
            <a:off x="393192" y="1572768"/>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FB7185"/>
                </a:solidFill>
                <a:latin typeface="Montserrat"/>
              </a:rPr>
              <a:t>25 Aug</a:t>
            </a:r>
          </a:p>
        </p:txBody>
      </p:sp>
      <p:sp>
        <p:nvSpPr>
          <p:cNvPr id="14" name="TextBox 13"/>
          <p:cNvSpPr txBox="1"/>
          <p:nvPr/>
        </p:nvSpPr>
        <p:spPr>
          <a:xfrm>
            <a:off x="274320" y="193852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Audit + recover</a:t>
            </a:r>
            <a:br/>
            <a:r>
              <a:rPr sz="900" b="1" i="0">
                <a:solidFill>
                  <a:srgbClr val="F7F9FC"/>
                </a:solidFill>
                <a:latin typeface="Montserrat"/>
              </a:rPr>
              <a:t>current score</a:t>
            </a:r>
          </a:p>
        </p:txBody>
      </p:sp>
      <p:sp>
        <p:nvSpPr>
          <p:cNvPr id="15" name="Oval 14"/>
          <p:cNvSpPr/>
          <p:nvPr/>
        </p:nvSpPr>
        <p:spPr>
          <a:xfrm>
            <a:off x="1993391" y="2798064"/>
            <a:ext cx="530352" cy="530352"/>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93391"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08101F"/>
                </a:solidFill>
                <a:latin typeface="Montserrat"/>
              </a:rPr>
              <a:t>2</a:t>
            </a:r>
          </a:p>
        </p:txBody>
      </p:sp>
      <p:sp>
        <p:nvSpPr>
          <p:cNvPr id="17" name="TextBox 16"/>
          <p:cNvSpPr txBox="1"/>
          <p:nvPr/>
        </p:nvSpPr>
        <p:spPr>
          <a:xfrm>
            <a:off x="1673351" y="3675887"/>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22D3EE"/>
                </a:solidFill>
                <a:latin typeface="Montserrat"/>
              </a:rPr>
              <a:t>11 Sep</a:t>
            </a:r>
          </a:p>
        </p:txBody>
      </p:sp>
      <p:sp>
        <p:nvSpPr>
          <p:cNvPr id="18" name="TextBox 17"/>
          <p:cNvSpPr txBox="1"/>
          <p:nvPr/>
        </p:nvSpPr>
        <p:spPr>
          <a:xfrm>
            <a:off x="1554479" y="404164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Trusted statistical</a:t>
            </a:r>
            <a:br/>
            <a:r>
              <a:rPr sz="900" b="1" i="0">
                <a:solidFill>
                  <a:srgbClr val="F7F9FC"/>
                </a:solidFill>
                <a:latin typeface="Montserrat"/>
              </a:rPr>
              <a:t>baseline</a:t>
            </a:r>
          </a:p>
        </p:txBody>
      </p:sp>
      <p:sp>
        <p:nvSpPr>
          <p:cNvPr id="19" name="Oval 18"/>
          <p:cNvSpPr/>
          <p:nvPr/>
        </p:nvSpPr>
        <p:spPr>
          <a:xfrm>
            <a:off x="3273552" y="2798064"/>
            <a:ext cx="530352" cy="53035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273552"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3</a:t>
            </a:r>
          </a:p>
        </p:txBody>
      </p:sp>
      <p:sp>
        <p:nvSpPr>
          <p:cNvPr id="21" name="TextBox 20"/>
          <p:cNvSpPr txBox="1"/>
          <p:nvPr/>
        </p:nvSpPr>
        <p:spPr>
          <a:xfrm>
            <a:off x="2953512" y="1572768"/>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8B5CF6"/>
                </a:solidFill>
                <a:latin typeface="Montserrat"/>
              </a:rPr>
              <a:t>25 Sep</a:t>
            </a:r>
          </a:p>
        </p:txBody>
      </p:sp>
      <p:sp>
        <p:nvSpPr>
          <p:cNvPr id="22" name="TextBox 21"/>
          <p:cNvSpPr txBox="1"/>
          <p:nvPr/>
        </p:nvSpPr>
        <p:spPr>
          <a:xfrm>
            <a:off x="2834640" y="193852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Generator</a:t>
            </a:r>
            <a:br/>
            <a:r>
              <a:rPr sz="900" b="1" i="0">
                <a:solidFill>
                  <a:srgbClr val="F7F9FC"/>
                </a:solidFill>
                <a:latin typeface="Montserrat"/>
              </a:rPr>
              <a:t>go / no-go</a:t>
            </a:r>
          </a:p>
        </p:txBody>
      </p:sp>
      <p:sp>
        <p:nvSpPr>
          <p:cNvPr id="23" name="Oval 22"/>
          <p:cNvSpPr/>
          <p:nvPr/>
        </p:nvSpPr>
        <p:spPr>
          <a:xfrm>
            <a:off x="4553712" y="2798064"/>
            <a:ext cx="530352" cy="530352"/>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4</a:t>
            </a:r>
          </a:p>
        </p:txBody>
      </p:sp>
      <p:sp>
        <p:nvSpPr>
          <p:cNvPr id="25" name="TextBox 24"/>
          <p:cNvSpPr txBox="1"/>
          <p:nvPr/>
        </p:nvSpPr>
        <p:spPr>
          <a:xfrm>
            <a:off x="4233672" y="3675887"/>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F472B6"/>
                </a:solidFill>
                <a:latin typeface="Montserrat"/>
              </a:rPr>
              <a:t>09 Oct</a:t>
            </a:r>
          </a:p>
        </p:txBody>
      </p:sp>
      <p:sp>
        <p:nvSpPr>
          <p:cNvPr id="26" name="TextBox 25"/>
          <p:cNvSpPr txBox="1"/>
          <p:nvPr/>
        </p:nvSpPr>
        <p:spPr>
          <a:xfrm>
            <a:off x="4114800" y="404164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Ensemble rule</a:t>
            </a:r>
            <a:br/>
            <a:r>
              <a:rPr sz="900" b="1" i="0">
                <a:solidFill>
                  <a:srgbClr val="F7F9FC"/>
                </a:solidFill>
                <a:latin typeface="Montserrat"/>
              </a:rPr>
              <a:t>frozen</a:t>
            </a:r>
          </a:p>
        </p:txBody>
      </p:sp>
      <p:sp>
        <p:nvSpPr>
          <p:cNvPr id="27" name="Oval 26"/>
          <p:cNvSpPr/>
          <p:nvPr/>
        </p:nvSpPr>
        <p:spPr>
          <a:xfrm>
            <a:off x="5833872" y="2798064"/>
            <a:ext cx="530352" cy="530352"/>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33872"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08101F"/>
                </a:solidFill>
                <a:latin typeface="Montserrat"/>
              </a:rPr>
              <a:t>5</a:t>
            </a:r>
          </a:p>
        </p:txBody>
      </p:sp>
      <p:sp>
        <p:nvSpPr>
          <p:cNvPr id="29" name="TextBox 28"/>
          <p:cNvSpPr txBox="1"/>
          <p:nvPr/>
        </p:nvSpPr>
        <p:spPr>
          <a:xfrm>
            <a:off x="5513832" y="1572768"/>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34D399"/>
                </a:solidFill>
                <a:latin typeface="Montserrat"/>
              </a:rPr>
              <a:t>21 Oct</a:t>
            </a:r>
          </a:p>
        </p:txBody>
      </p:sp>
      <p:sp>
        <p:nvSpPr>
          <p:cNvPr id="30" name="TextBox 29"/>
          <p:cNvSpPr txBox="1"/>
          <p:nvPr/>
        </p:nvSpPr>
        <p:spPr>
          <a:xfrm>
            <a:off x="5394960" y="193852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Architecture + code</a:t>
            </a:r>
            <a:br/>
            <a:r>
              <a:rPr sz="900" b="1" i="0">
                <a:solidFill>
                  <a:srgbClr val="F7F9FC"/>
                </a:solidFill>
                <a:latin typeface="Montserrat"/>
              </a:rPr>
              <a:t>freeze</a:t>
            </a:r>
          </a:p>
        </p:txBody>
      </p:sp>
      <p:sp>
        <p:nvSpPr>
          <p:cNvPr id="31" name="Oval 30"/>
          <p:cNvSpPr/>
          <p:nvPr/>
        </p:nvSpPr>
        <p:spPr>
          <a:xfrm>
            <a:off x="7114032" y="2798064"/>
            <a:ext cx="530352" cy="530352"/>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14032"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08101F"/>
                </a:solidFill>
                <a:latin typeface="Montserrat"/>
              </a:rPr>
              <a:t>6</a:t>
            </a:r>
          </a:p>
        </p:txBody>
      </p:sp>
      <p:sp>
        <p:nvSpPr>
          <p:cNvPr id="33" name="TextBox 32"/>
          <p:cNvSpPr txBox="1"/>
          <p:nvPr/>
        </p:nvSpPr>
        <p:spPr>
          <a:xfrm>
            <a:off x="6793992" y="3675887"/>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FBBF24"/>
                </a:solidFill>
                <a:latin typeface="Montserrat"/>
              </a:rPr>
              <a:t>22 Oct</a:t>
            </a:r>
          </a:p>
        </p:txBody>
      </p:sp>
      <p:sp>
        <p:nvSpPr>
          <p:cNvPr id="34" name="TextBox 33"/>
          <p:cNvSpPr txBox="1"/>
          <p:nvPr/>
        </p:nvSpPr>
        <p:spPr>
          <a:xfrm>
            <a:off x="6675120" y="404164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D / E / F controls</a:t>
            </a:r>
            <a:br/>
            <a:r>
              <a:rPr sz="900" b="1" i="0">
                <a:solidFill>
                  <a:srgbClr val="F7F9FC"/>
                </a:solidFill>
                <a:latin typeface="Montserrat"/>
              </a:rPr>
              <a:t>released</a:t>
            </a:r>
          </a:p>
        </p:txBody>
      </p:sp>
      <p:sp>
        <p:nvSpPr>
          <p:cNvPr id="35" name="Oval 34"/>
          <p:cNvSpPr/>
          <p:nvPr/>
        </p:nvSpPr>
        <p:spPr>
          <a:xfrm>
            <a:off x="8394191" y="2798064"/>
            <a:ext cx="530352" cy="530352"/>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94191"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7</a:t>
            </a:r>
          </a:p>
        </p:txBody>
      </p:sp>
      <p:sp>
        <p:nvSpPr>
          <p:cNvPr id="37" name="TextBox 36"/>
          <p:cNvSpPr txBox="1"/>
          <p:nvPr/>
        </p:nvSpPr>
        <p:spPr>
          <a:xfrm>
            <a:off x="8074151" y="1572768"/>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60A5FA"/>
                </a:solidFill>
                <a:latin typeface="Montserrat"/>
              </a:rPr>
              <a:t>30 Oct</a:t>
            </a:r>
          </a:p>
        </p:txBody>
      </p:sp>
      <p:sp>
        <p:nvSpPr>
          <p:cNvPr id="38" name="TextBox 37"/>
          <p:cNvSpPr txBox="1"/>
          <p:nvPr/>
        </p:nvSpPr>
        <p:spPr>
          <a:xfrm>
            <a:off x="7955279" y="193852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Final candidates</a:t>
            </a:r>
            <a:br/>
            <a:r>
              <a:rPr sz="900" b="1" i="0">
                <a:solidFill>
                  <a:srgbClr val="F7F9FC"/>
                </a:solidFill>
                <a:latin typeface="Montserrat"/>
              </a:rPr>
              <a:t>generated</a:t>
            </a:r>
          </a:p>
        </p:txBody>
      </p:sp>
      <p:sp>
        <p:nvSpPr>
          <p:cNvPr id="39" name="Oval 38"/>
          <p:cNvSpPr/>
          <p:nvPr/>
        </p:nvSpPr>
        <p:spPr>
          <a:xfrm>
            <a:off x="9674351" y="2798064"/>
            <a:ext cx="530352" cy="530352"/>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74351"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08101F"/>
                </a:solidFill>
                <a:latin typeface="Montserrat"/>
              </a:rPr>
              <a:t>8</a:t>
            </a:r>
          </a:p>
        </p:txBody>
      </p:sp>
      <p:sp>
        <p:nvSpPr>
          <p:cNvPr id="41" name="TextBox 40"/>
          <p:cNvSpPr txBox="1"/>
          <p:nvPr/>
        </p:nvSpPr>
        <p:spPr>
          <a:xfrm>
            <a:off x="9354311" y="3675887"/>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34D399"/>
                </a:solidFill>
                <a:latin typeface="Montserrat"/>
              </a:rPr>
              <a:t>04 Nov</a:t>
            </a:r>
          </a:p>
        </p:txBody>
      </p:sp>
      <p:sp>
        <p:nvSpPr>
          <p:cNvPr id="42" name="TextBox 41"/>
          <p:cNvSpPr txBox="1"/>
          <p:nvPr/>
        </p:nvSpPr>
        <p:spPr>
          <a:xfrm>
            <a:off x="9235439" y="404164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Submit with</a:t>
            </a:r>
            <a:br/>
            <a:r>
              <a:rPr sz="900" b="1" i="0">
                <a:solidFill>
                  <a:srgbClr val="F7F9FC"/>
                </a:solidFill>
                <a:latin typeface="Montserrat"/>
              </a:rPr>
              <a:t>recovery margin</a:t>
            </a:r>
          </a:p>
        </p:txBody>
      </p:sp>
      <p:sp>
        <p:nvSpPr>
          <p:cNvPr id="43" name="Oval 42"/>
          <p:cNvSpPr/>
          <p:nvPr/>
        </p:nvSpPr>
        <p:spPr>
          <a:xfrm>
            <a:off x="10954511" y="2798064"/>
            <a:ext cx="530352" cy="530352"/>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954511" y="2798064"/>
            <a:ext cx="530352" cy="530352"/>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9</a:t>
            </a:r>
          </a:p>
        </p:txBody>
      </p:sp>
      <p:sp>
        <p:nvSpPr>
          <p:cNvPr id="45" name="TextBox 44"/>
          <p:cNvSpPr txBox="1"/>
          <p:nvPr/>
        </p:nvSpPr>
        <p:spPr>
          <a:xfrm>
            <a:off x="10634472" y="1572768"/>
            <a:ext cx="1170432"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50" b="1" i="0">
                <a:solidFill>
                  <a:srgbClr val="FB7185"/>
                </a:solidFill>
                <a:latin typeface="Montserrat"/>
              </a:rPr>
              <a:t>05 Nov</a:t>
            </a:r>
          </a:p>
        </p:txBody>
      </p:sp>
      <p:sp>
        <p:nvSpPr>
          <p:cNvPr id="46" name="TextBox 45"/>
          <p:cNvSpPr txBox="1"/>
          <p:nvPr/>
        </p:nvSpPr>
        <p:spPr>
          <a:xfrm>
            <a:off x="10515599" y="1938528"/>
            <a:ext cx="1408176" cy="6217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00" b="1" i="0">
                <a:solidFill>
                  <a:srgbClr val="F7F9FC"/>
                </a:solidFill>
                <a:latin typeface="Montserrat"/>
              </a:rPr>
              <a:t>23:59 UTC</a:t>
            </a:r>
            <a:br/>
            <a:r>
              <a:rPr sz="900" b="1" i="0">
                <a:solidFill>
                  <a:srgbClr val="F7F9FC"/>
                </a:solidFill>
                <a:latin typeface="Montserrat"/>
              </a:rPr>
              <a:t>deadline</a:t>
            </a:r>
          </a:p>
        </p:txBody>
      </p:sp>
      <p:sp>
        <p:nvSpPr>
          <p:cNvPr id="47" name="Rounded Rectangle 46"/>
          <p:cNvSpPr/>
          <p:nvPr/>
        </p:nvSpPr>
        <p:spPr>
          <a:xfrm>
            <a:off x="1188720" y="5248656"/>
            <a:ext cx="9802368" cy="658368"/>
          </a:xfrm>
          <a:prstGeom prst="roundRect">
            <a:avLst/>
          </a:prstGeom>
          <a:solidFill>
            <a:srgbClr val="0D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44752" y="5449824"/>
            <a:ext cx="1408176" cy="25603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BBF24"/>
                </a:solidFill>
                <a:latin typeface="Montserrat"/>
              </a:rPr>
              <a:t>Final-phase rule</a:t>
            </a:r>
          </a:p>
        </p:txBody>
      </p:sp>
      <p:sp>
        <p:nvSpPr>
          <p:cNvPr id="49" name="TextBox 48"/>
          <p:cNvSpPr txBox="1"/>
          <p:nvPr/>
        </p:nvSpPr>
        <p:spPr>
          <a:xfrm>
            <a:off x="2944368" y="5404104"/>
            <a:ext cx="7662672"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80" b="1" i="0">
                <a:solidFill>
                  <a:srgbClr val="F7F9FC"/>
                </a:solidFill>
                <a:latin typeface="Montserrat"/>
              </a:rPr>
              <a:t>No architecture change after release; only context adaptation, calibration, inference, validation, and packaging.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THREE-PERSON TEAM</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first 14 days</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Recover evidence, establish evaluation, then earn the right to train a large model.</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execution plan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40</a:t>
            </a:r>
          </a:p>
        </p:txBody>
      </p:sp>
      <p:sp>
        <p:nvSpPr>
          <p:cNvPr id="10" name="Rounded Rectangle 9"/>
          <p:cNvSpPr/>
          <p:nvPr/>
        </p:nvSpPr>
        <p:spPr>
          <a:xfrm>
            <a:off x="548640" y="1572768"/>
            <a:ext cx="2615184" cy="3822191"/>
          </a:xfrm>
          <a:prstGeom prst="roundRect">
            <a:avLst/>
          </a:prstGeom>
          <a:solidFill>
            <a:srgbClr val="111C31"/>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8096" y="1810512"/>
            <a:ext cx="1042415" cy="256032"/>
          </a:xfrm>
          <a:prstGeom prst="roundRect">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1815084"/>
            <a:ext cx="1042415"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DAYS 1–3</a:t>
            </a:r>
          </a:p>
        </p:txBody>
      </p:sp>
      <p:sp>
        <p:nvSpPr>
          <p:cNvPr id="13" name="TextBox 12"/>
          <p:cNvSpPr txBox="1"/>
          <p:nvPr/>
        </p:nvSpPr>
        <p:spPr>
          <a:xfrm>
            <a:off x="768096" y="2286000"/>
            <a:ext cx="2176272"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F7F9FC"/>
                </a:solidFill>
                <a:latin typeface="Montserrat"/>
              </a:rPr>
              <a:t>Forensics</a:t>
            </a:r>
          </a:p>
        </p:txBody>
      </p:sp>
      <p:sp>
        <p:nvSpPr>
          <p:cNvPr id="14" name="TextBox 13"/>
          <p:cNvSpPr txBox="1"/>
          <p:nvPr/>
        </p:nvSpPr>
        <p:spPr>
          <a:xfrm>
            <a:off x="786384" y="2852928"/>
            <a:ext cx="2139696" cy="1627632"/>
          </a:xfrm>
          <a:prstGeom prst="rect">
            <a:avLst/>
          </a:prstGeom>
          <a:noFill/>
        </p:spPr>
        <p:txBody>
          <a:bodyPr wrap="square" lIns="18288" rIns="18288" tIns="18288" bIns="18288">
            <a:spAutoFit/>
          </a:bodyPr>
          <a:lstStyle/>
          <a:p>
            <a:pPr>
              <a:lnSpc>
                <a:spcPct val="108000"/>
              </a:lnSpc>
              <a:spcBef>
                <a:spcPts val="0"/>
              </a:spcBef>
              <a:spcAft>
                <a:spcPts val="400"/>
              </a:spcAft>
            </a:pPr>
            <a:r>
              <a:rPr sz="1080" b="1">
                <a:solidFill>
                  <a:srgbClr val="FB7185"/>
                </a:solidFill>
                <a:latin typeface="Montserrat"/>
              </a:rPr>
              <a:t>•  </a:t>
            </a:r>
            <a:r>
              <a:rPr sz="1080">
                <a:solidFill>
                  <a:srgbClr val="F7F9FC"/>
                </a:solidFill>
                <a:latin typeface="Montserrat"/>
              </a:rPr>
              <a:t>retrieve 18 score cells</a:t>
            </a:r>
          </a:p>
          <a:p>
            <a:pPr>
              <a:lnSpc>
                <a:spcPct val="108000"/>
              </a:lnSpc>
              <a:spcBef>
                <a:spcPts val="0"/>
              </a:spcBef>
              <a:spcAft>
                <a:spcPts val="400"/>
              </a:spcAft>
            </a:pPr>
            <a:r>
              <a:rPr sz="1080" b="1">
                <a:solidFill>
                  <a:srgbClr val="FB7185"/>
                </a:solidFill>
                <a:latin typeface="Montserrat"/>
              </a:rPr>
              <a:t>•  </a:t>
            </a:r>
            <a:r>
              <a:rPr sz="1080">
                <a:solidFill>
                  <a:srgbClr val="F7F9FC"/>
                </a:solidFill>
                <a:latin typeface="Montserrat"/>
              </a:rPr>
              <a:t>reproduce current artifact</a:t>
            </a:r>
          </a:p>
          <a:p>
            <a:pPr>
              <a:lnSpc>
                <a:spcPct val="108000"/>
              </a:lnSpc>
              <a:spcBef>
                <a:spcPts val="0"/>
              </a:spcBef>
              <a:spcAft>
                <a:spcPts val="400"/>
              </a:spcAft>
            </a:pPr>
            <a:r>
              <a:rPr sz="1080" b="1">
                <a:solidFill>
                  <a:srgbClr val="FB7185"/>
                </a:solidFill>
                <a:latin typeface="Montserrat"/>
              </a:rPr>
              <a:t>•  </a:t>
            </a:r>
            <a:r>
              <a:rPr sz="1080">
                <a:solidFill>
                  <a:srgbClr val="F7F9FC"/>
                </a:solidFill>
                <a:latin typeface="Montserrat"/>
              </a:rPr>
              <a:t>audit A/B/C mapping</a:t>
            </a:r>
          </a:p>
          <a:p>
            <a:pPr>
              <a:lnSpc>
                <a:spcPct val="108000"/>
              </a:lnSpc>
              <a:spcBef>
                <a:spcPts val="0"/>
              </a:spcBef>
              <a:spcAft>
                <a:spcPts val="400"/>
              </a:spcAft>
            </a:pPr>
            <a:r>
              <a:rPr sz="1080" b="1">
                <a:solidFill>
                  <a:srgbClr val="FB7185"/>
                </a:solidFill>
                <a:latin typeface="Montserrat"/>
              </a:rPr>
              <a:t>•  </a:t>
            </a:r>
            <a:r>
              <a:rPr sz="1080">
                <a:solidFill>
                  <a:srgbClr val="F7F9FC"/>
                </a:solidFill>
                <a:latin typeface="Montserrat"/>
              </a:rPr>
              <a:t>archive checksums</a:t>
            </a:r>
          </a:p>
        </p:txBody>
      </p:sp>
      <p:cxnSp>
        <p:nvCxnSpPr>
          <p:cNvPr id="15" name="Connector 14"/>
          <p:cNvCxnSpPr/>
          <p:nvPr/>
        </p:nvCxnSpPr>
        <p:spPr>
          <a:xfrm>
            <a:off x="3218688" y="3438144"/>
            <a:ext cx="164592"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5400000">
            <a:off x="3328416" y="3383279"/>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438144" y="1572768"/>
            <a:ext cx="2615184" cy="3822191"/>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657600" y="1810512"/>
            <a:ext cx="1042415" cy="256032"/>
          </a:xfrm>
          <a:prstGeom prst="round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1815084"/>
            <a:ext cx="1042415"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DAYS 4–7</a:t>
            </a:r>
          </a:p>
        </p:txBody>
      </p:sp>
      <p:sp>
        <p:nvSpPr>
          <p:cNvPr id="20" name="TextBox 19"/>
          <p:cNvSpPr txBox="1"/>
          <p:nvPr/>
        </p:nvSpPr>
        <p:spPr>
          <a:xfrm>
            <a:off x="3657600" y="2286000"/>
            <a:ext cx="2176272"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F7F9FC"/>
                </a:solidFill>
                <a:latin typeface="Montserrat"/>
              </a:rPr>
              <a:t>Foundation</a:t>
            </a:r>
          </a:p>
        </p:txBody>
      </p:sp>
      <p:sp>
        <p:nvSpPr>
          <p:cNvPr id="21" name="TextBox 20"/>
          <p:cNvSpPr txBox="1"/>
          <p:nvPr/>
        </p:nvSpPr>
        <p:spPr>
          <a:xfrm>
            <a:off x="3675888" y="2852928"/>
            <a:ext cx="2139696" cy="1627632"/>
          </a:xfrm>
          <a:prstGeom prst="rect">
            <a:avLst/>
          </a:prstGeom>
          <a:noFill/>
        </p:spPr>
        <p:txBody>
          <a:bodyPr wrap="square" lIns="18288" rIns="18288" tIns="18288" bIns="18288">
            <a:spAutoFit/>
          </a:bodyPr>
          <a:lstStyle/>
          <a:p>
            <a:pPr>
              <a:lnSpc>
                <a:spcPct val="108000"/>
              </a:lnSpc>
              <a:spcBef>
                <a:spcPts val="0"/>
              </a:spcBef>
              <a:spcAft>
                <a:spcPts val="400"/>
              </a:spcAft>
            </a:pPr>
            <a:r>
              <a:rPr sz="1080" b="1">
                <a:solidFill>
                  <a:srgbClr val="22D3EE"/>
                </a:solidFill>
                <a:latin typeface="Montserrat"/>
              </a:rPr>
              <a:t>•  </a:t>
            </a:r>
            <a:r>
              <a:rPr sz="1080">
                <a:solidFill>
                  <a:srgbClr val="F7F9FC"/>
                </a:solidFill>
                <a:latin typeface="Montserrat"/>
              </a:rPr>
              <a:t>public-data inventory</a:t>
            </a:r>
          </a:p>
          <a:p>
            <a:pPr>
              <a:lnSpc>
                <a:spcPct val="108000"/>
              </a:lnSpc>
              <a:spcBef>
                <a:spcPts val="0"/>
              </a:spcBef>
              <a:spcAft>
                <a:spcPts val="400"/>
              </a:spcAft>
            </a:pPr>
            <a:r>
              <a:rPr sz="1080" b="1">
                <a:solidFill>
                  <a:srgbClr val="22D3EE"/>
                </a:solidFill>
                <a:latin typeface="Montserrat"/>
              </a:rPr>
              <a:t>•  </a:t>
            </a:r>
            <a:r>
              <a:rPr sz="1080">
                <a:solidFill>
                  <a:srgbClr val="F7F9FC"/>
                </a:solidFill>
                <a:latin typeface="Montserrat"/>
              </a:rPr>
              <a:t>license + provenance registry</a:t>
            </a:r>
          </a:p>
          <a:p>
            <a:pPr>
              <a:lnSpc>
                <a:spcPct val="108000"/>
              </a:lnSpc>
              <a:spcBef>
                <a:spcPts val="0"/>
              </a:spcBef>
              <a:spcAft>
                <a:spcPts val="400"/>
              </a:spcAft>
            </a:pPr>
            <a:r>
              <a:rPr sz="1080" b="1">
                <a:solidFill>
                  <a:srgbClr val="22D3EE"/>
                </a:solidFill>
                <a:latin typeface="Montserrat"/>
              </a:rPr>
              <a:t>•  </a:t>
            </a:r>
            <a:r>
              <a:rPr sz="1080">
                <a:solidFill>
                  <a:srgbClr val="F7F9FC"/>
                </a:solidFill>
                <a:latin typeface="Montserrat"/>
              </a:rPr>
              <a:t>exact scorer harness</a:t>
            </a:r>
          </a:p>
          <a:p>
            <a:pPr>
              <a:lnSpc>
                <a:spcPct val="108000"/>
              </a:lnSpc>
              <a:spcBef>
                <a:spcPts val="0"/>
              </a:spcBef>
              <a:spcAft>
                <a:spcPts val="400"/>
              </a:spcAft>
            </a:pPr>
            <a:r>
              <a:rPr sz="1080" b="1">
                <a:solidFill>
                  <a:srgbClr val="22D3EE"/>
                </a:solidFill>
                <a:latin typeface="Montserrat"/>
              </a:rPr>
              <a:t>•  </a:t>
            </a:r>
            <a:r>
              <a:rPr sz="1080">
                <a:solidFill>
                  <a:srgbClr val="F7F9FC"/>
                </a:solidFill>
                <a:latin typeface="Montserrat"/>
              </a:rPr>
              <a:t>first LOCO split</a:t>
            </a:r>
          </a:p>
        </p:txBody>
      </p:sp>
      <p:cxnSp>
        <p:nvCxnSpPr>
          <p:cNvPr id="22" name="Connector 21"/>
          <p:cNvCxnSpPr/>
          <p:nvPr/>
        </p:nvCxnSpPr>
        <p:spPr>
          <a:xfrm>
            <a:off x="6108192" y="3438144"/>
            <a:ext cx="164592"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6217920" y="3383279"/>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327648" y="1572768"/>
            <a:ext cx="2615184" cy="3822191"/>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47104" y="1810512"/>
            <a:ext cx="1042415" cy="256032"/>
          </a:xfrm>
          <a:prstGeom prst="round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47104" y="1815084"/>
            <a:ext cx="1042415"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F7F9FC"/>
                </a:solidFill>
                <a:latin typeface="Montserrat"/>
              </a:rPr>
              <a:t>DAYS 8–11</a:t>
            </a:r>
          </a:p>
        </p:txBody>
      </p:sp>
      <p:sp>
        <p:nvSpPr>
          <p:cNvPr id="27" name="TextBox 26"/>
          <p:cNvSpPr txBox="1"/>
          <p:nvPr/>
        </p:nvSpPr>
        <p:spPr>
          <a:xfrm>
            <a:off x="6547104" y="2286000"/>
            <a:ext cx="2176272"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F7F9FC"/>
                </a:solidFill>
                <a:latin typeface="Montserrat"/>
              </a:rPr>
              <a:t>Baselines</a:t>
            </a:r>
          </a:p>
        </p:txBody>
      </p:sp>
      <p:sp>
        <p:nvSpPr>
          <p:cNvPr id="28" name="TextBox 27"/>
          <p:cNvSpPr txBox="1"/>
          <p:nvPr/>
        </p:nvSpPr>
        <p:spPr>
          <a:xfrm>
            <a:off x="6565392" y="2852928"/>
            <a:ext cx="2139696" cy="1627632"/>
          </a:xfrm>
          <a:prstGeom prst="rect">
            <a:avLst/>
          </a:prstGeom>
          <a:noFill/>
        </p:spPr>
        <p:txBody>
          <a:bodyPr wrap="square" lIns="18288" rIns="18288" tIns="18288" bIns="18288">
            <a:spAutoFit/>
          </a:bodyPr>
          <a:lstStyle/>
          <a:p>
            <a:pPr>
              <a:lnSpc>
                <a:spcPct val="108000"/>
              </a:lnSpc>
              <a:spcBef>
                <a:spcPts val="0"/>
              </a:spcBef>
              <a:spcAft>
                <a:spcPts val="400"/>
              </a:spcAft>
            </a:pPr>
            <a:r>
              <a:rPr sz="1080" b="1">
                <a:solidFill>
                  <a:srgbClr val="8B5CF6"/>
                </a:solidFill>
                <a:latin typeface="Montserrat"/>
              </a:rPr>
              <a:t>•  </a:t>
            </a:r>
            <a:r>
              <a:rPr sz="1080">
                <a:solidFill>
                  <a:srgbClr val="F7F9FC"/>
                </a:solidFill>
                <a:latin typeface="Montserrat"/>
              </a:rPr>
              <a:t>control + generic response</a:t>
            </a:r>
          </a:p>
          <a:p>
            <a:pPr>
              <a:lnSpc>
                <a:spcPct val="108000"/>
              </a:lnSpc>
              <a:spcBef>
                <a:spcPts val="0"/>
              </a:spcBef>
              <a:spcAft>
                <a:spcPts val="400"/>
              </a:spcAft>
            </a:pPr>
            <a:r>
              <a:rPr sz="1080" b="1">
                <a:solidFill>
                  <a:srgbClr val="8B5CF6"/>
                </a:solidFill>
                <a:latin typeface="Montserrat"/>
              </a:rPr>
              <a:t>•  </a:t>
            </a:r>
            <a:r>
              <a:rPr sz="1080">
                <a:solidFill>
                  <a:srgbClr val="F7F9FC"/>
                </a:solidFill>
                <a:latin typeface="Montserrat"/>
              </a:rPr>
              <a:t>low-rank target transfer</a:t>
            </a:r>
          </a:p>
          <a:p>
            <a:pPr>
              <a:lnSpc>
                <a:spcPct val="108000"/>
              </a:lnSpc>
              <a:spcBef>
                <a:spcPts val="0"/>
              </a:spcBef>
              <a:spcAft>
                <a:spcPts val="400"/>
              </a:spcAft>
            </a:pPr>
            <a:r>
              <a:rPr sz="1080" b="1">
                <a:solidFill>
                  <a:srgbClr val="8B5CF6"/>
                </a:solidFill>
                <a:latin typeface="Montserrat"/>
              </a:rPr>
              <a:t>•  </a:t>
            </a:r>
            <a:r>
              <a:rPr sz="1080">
                <a:solidFill>
                  <a:srgbClr val="F7F9FC"/>
                </a:solidFill>
                <a:latin typeface="Montserrat"/>
              </a:rPr>
              <a:t>context similarity weighting</a:t>
            </a:r>
          </a:p>
          <a:p>
            <a:pPr>
              <a:lnSpc>
                <a:spcPct val="108000"/>
              </a:lnSpc>
              <a:spcBef>
                <a:spcPts val="0"/>
              </a:spcBef>
              <a:spcAft>
                <a:spcPts val="400"/>
              </a:spcAft>
            </a:pPr>
            <a:r>
              <a:rPr sz="1080" b="1">
                <a:solidFill>
                  <a:srgbClr val="8B5CF6"/>
                </a:solidFill>
                <a:latin typeface="Montserrat"/>
              </a:rPr>
              <a:t>•  </a:t>
            </a:r>
            <a:r>
              <a:rPr sz="1080">
                <a:solidFill>
                  <a:srgbClr val="F7F9FC"/>
                </a:solidFill>
                <a:latin typeface="Montserrat"/>
              </a:rPr>
              <a:t>metric diagnostics</a:t>
            </a:r>
          </a:p>
        </p:txBody>
      </p:sp>
      <p:cxnSp>
        <p:nvCxnSpPr>
          <p:cNvPr id="29" name="Connector 28"/>
          <p:cNvCxnSpPr/>
          <p:nvPr/>
        </p:nvCxnSpPr>
        <p:spPr>
          <a:xfrm>
            <a:off x="8997696" y="3438144"/>
            <a:ext cx="164592"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9107424" y="3383279"/>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217152" y="1572768"/>
            <a:ext cx="2615184" cy="3822191"/>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436608" y="1810512"/>
            <a:ext cx="1042415"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36608" y="1815084"/>
            <a:ext cx="1042415"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50" b="1" i="0">
                <a:solidFill>
                  <a:srgbClr val="08101F"/>
                </a:solidFill>
                <a:latin typeface="Montserrat"/>
              </a:rPr>
              <a:t>DAYS 12–14</a:t>
            </a:r>
          </a:p>
        </p:txBody>
      </p:sp>
      <p:sp>
        <p:nvSpPr>
          <p:cNvPr id="34" name="TextBox 33"/>
          <p:cNvSpPr txBox="1"/>
          <p:nvPr/>
        </p:nvSpPr>
        <p:spPr>
          <a:xfrm>
            <a:off x="9436608" y="2286000"/>
            <a:ext cx="2176272"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F7F9FC"/>
                </a:solidFill>
                <a:latin typeface="Montserrat"/>
              </a:rPr>
              <a:t>Integration</a:t>
            </a:r>
          </a:p>
        </p:txBody>
      </p:sp>
      <p:sp>
        <p:nvSpPr>
          <p:cNvPr id="35" name="TextBox 34"/>
          <p:cNvSpPr txBox="1"/>
          <p:nvPr/>
        </p:nvSpPr>
        <p:spPr>
          <a:xfrm>
            <a:off x="9454896" y="2852928"/>
            <a:ext cx="2139696" cy="1627632"/>
          </a:xfrm>
          <a:prstGeom prst="rect">
            <a:avLst/>
          </a:prstGeom>
          <a:noFill/>
        </p:spPr>
        <p:txBody>
          <a:bodyPr wrap="square" lIns="18288" rIns="18288" tIns="18288" bIns="18288">
            <a:spAutoFit/>
          </a:bodyPr>
          <a:lstStyle/>
          <a:p>
            <a:pPr>
              <a:lnSpc>
                <a:spcPct val="108000"/>
              </a:lnSpc>
              <a:spcBef>
                <a:spcPts val="0"/>
              </a:spcBef>
              <a:spcAft>
                <a:spcPts val="400"/>
              </a:spcAft>
            </a:pPr>
            <a:r>
              <a:rPr sz="1080" b="1">
                <a:solidFill>
                  <a:srgbClr val="34D399"/>
                </a:solidFill>
                <a:latin typeface="Montserrat"/>
              </a:rPr>
              <a:t>•  </a:t>
            </a:r>
            <a:r>
              <a:rPr sz="1080">
                <a:solidFill>
                  <a:srgbClr val="F7F9FC"/>
                </a:solidFill>
                <a:latin typeface="Montserrat"/>
              </a:rPr>
              <a:t>count sampler v0</a:t>
            </a:r>
          </a:p>
          <a:p>
            <a:pPr>
              <a:lnSpc>
                <a:spcPct val="108000"/>
              </a:lnSpc>
              <a:spcBef>
                <a:spcPts val="0"/>
              </a:spcBef>
              <a:spcAft>
                <a:spcPts val="400"/>
              </a:spcAft>
            </a:pPr>
            <a:r>
              <a:rPr sz="1080" b="1">
                <a:solidFill>
                  <a:srgbClr val="34D399"/>
                </a:solidFill>
                <a:latin typeface="Montserrat"/>
              </a:rPr>
              <a:t>•  </a:t>
            </a:r>
            <a:r>
              <a:rPr sz="1080">
                <a:solidFill>
                  <a:srgbClr val="F7F9FC"/>
                </a:solidFill>
                <a:latin typeface="Montserrat"/>
              </a:rPr>
              <a:t>full 360k rehearsal</a:t>
            </a:r>
          </a:p>
          <a:p>
            <a:pPr>
              <a:lnSpc>
                <a:spcPct val="108000"/>
              </a:lnSpc>
              <a:spcBef>
                <a:spcPts val="0"/>
              </a:spcBef>
              <a:spcAft>
                <a:spcPts val="400"/>
              </a:spcAft>
            </a:pPr>
            <a:r>
              <a:rPr sz="1080" b="1">
                <a:solidFill>
                  <a:srgbClr val="34D399"/>
                </a:solidFill>
                <a:latin typeface="Montserrat"/>
              </a:rPr>
              <a:t>•  </a:t>
            </a:r>
            <a:r>
              <a:rPr sz="1080">
                <a:solidFill>
                  <a:srgbClr val="F7F9FC"/>
                </a:solidFill>
                <a:latin typeface="Montserrat"/>
              </a:rPr>
              <a:t>one-command pipeline</a:t>
            </a:r>
          </a:p>
          <a:p>
            <a:pPr>
              <a:lnSpc>
                <a:spcPct val="108000"/>
              </a:lnSpc>
              <a:spcBef>
                <a:spcPts val="0"/>
              </a:spcBef>
              <a:spcAft>
                <a:spcPts val="400"/>
              </a:spcAft>
            </a:pPr>
            <a:r>
              <a:rPr sz="1080" b="1">
                <a:solidFill>
                  <a:srgbClr val="34D399"/>
                </a:solidFill>
                <a:latin typeface="Montserrat"/>
              </a:rPr>
              <a:t>•  </a:t>
            </a:r>
            <a:r>
              <a:rPr sz="1080">
                <a:solidFill>
                  <a:srgbClr val="F7F9FC"/>
                </a:solidFill>
                <a:latin typeface="Montserrat"/>
              </a:rPr>
              <a:t>go/no-go review</a:t>
            </a:r>
          </a:p>
        </p:txBody>
      </p:sp>
      <p:sp>
        <p:nvSpPr>
          <p:cNvPr id="36" name="Rounded Rectangle 35"/>
          <p:cNvSpPr/>
          <p:nvPr/>
        </p:nvSpPr>
        <p:spPr>
          <a:xfrm>
            <a:off x="1225296" y="5669280"/>
            <a:ext cx="9729216" cy="329184"/>
          </a:xfrm>
          <a:prstGeom prst="roundRect">
            <a:avLst/>
          </a:prstGeom>
          <a:solidFill>
            <a:srgbClr val="0D172A"/>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426464" y="5733288"/>
            <a:ext cx="9326880" cy="18288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080" b="1" i="0">
                <a:solidFill>
                  <a:srgbClr val="FDE68A"/>
                </a:solidFill>
                <a:latin typeface="Montserrat"/>
              </a:rPr>
              <a:t>Exit criterion: a non-neural baseline that is trusted scientifically, scored locally, and package-valid end to end.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COMPETITION OPERATIONS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Submission protocol: learn without overfitting</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Use the leaderboard for sparse, high-information tests—not iterative reward optimization.</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Source: VCC CLI Guide; team policy</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41</a:t>
            </a:r>
          </a:p>
        </p:txBody>
      </p:sp>
      <p:sp>
        <p:nvSpPr>
          <p:cNvPr id="10" name="Rounded Rectangle 9"/>
          <p:cNvSpPr/>
          <p:nvPr/>
        </p:nvSpPr>
        <p:spPr>
          <a:xfrm>
            <a:off x="548640" y="1664208"/>
            <a:ext cx="1993392" cy="2029968"/>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216152" y="1901952"/>
            <a:ext cx="658368" cy="65836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16152" y="1901952"/>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08101F"/>
                </a:solidFill>
                <a:latin typeface="Montserrat"/>
              </a:rPr>
              <a:t>1</a:t>
            </a:r>
          </a:p>
        </p:txBody>
      </p:sp>
      <p:sp>
        <p:nvSpPr>
          <p:cNvPr id="13" name="TextBox 12"/>
          <p:cNvSpPr txBox="1"/>
          <p:nvPr/>
        </p:nvSpPr>
        <p:spPr>
          <a:xfrm>
            <a:off x="713232" y="2743200"/>
            <a:ext cx="166420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F7F9FC"/>
                </a:solidFill>
                <a:latin typeface="Montserrat"/>
              </a:rPr>
              <a:t>Hypothesis</a:t>
            </a:r>
          </a:p>
        </p:txBody>
      </p:sp>
      <p:sp>
        <p:nvSpPr>
          <p:cNvPr id="14" name="TextBox 13"/>
          <p:cNvSpPr txBox="1"/>
          <p:nvPr/>
        </p:nvSpPr>
        <p:spPr>
          <a:xfrm>
            <a:off x="713232" y="3127248"/>
            <a:ext cx="1664208"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19" b="0" i="0">
                <a:solidFill>
                  <a:srgbClr val="A9B5CC"/>
                </a:solidFill>
                <a:latin typeface="Montserrat"/>
              </a:rPr>
              <a:t>pre-register expected metric movement</a:t>
            </a:r>
          </a:p>
        </p:txBody>
      </p:sp>
      <p:cxnSp>
        <p:nvCxnSpPr>
          <p:cNvPr id="15" name="Connector 14"/>
          <p:cNvCxnSpPr/>
          <p:nvPr/>
        </p:nvCxnSpPr>
        <p:spPr>
          <a:xfrm>
            <a:off x="2569464" y="2706624"/>
            <a:ext cx="20116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16" name="Isosceles Triangle 15"/>
          <p:cNvSpPr/>
          <p:nvPr/>
        </p:nvSpPr>
        <p:spPr>
          <a:xfrm rot="5400000">
            <a:off x="2715768" y="26517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2862072" y="1664208"/>
            <a:ext cx="1993392" cy="2029968"/>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529584" y="1901952"/>
            <a:ext cx="658368" cy="65836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1901952"/>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F7F9FC"/>
                </a:solidFill>
                <a:latin typeface="Montserrat"/>
              </a:rPr>
              <a:t>2</a:t>
            </a:r>
          </a:p>
        </p:txBody>
      </p:sp>
      <p:sp>
        <p:nvSpPr>
          <p:cNvPr id="20" name="TextBox 19"/>
          <p:cNvSpPr txBox="1"/>
          <p:nvPr/>
        </p:nvSpPr>
        <p:spPr>
          <a:xfrm>
            <a:off x="3026664" y="2743200"/>
            <a:ext cx="166420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F7F9FC"/>
                </a:solidFill>
                <a:latin typeface="Montserrat"/>
              </a:rPr>
              <a:t>Local proof</a:t>
            </a:r>
          </a:p>
        </p:txBody>
      </p:sp>
      <p:sp>
        <p:nvSpPr>
          <p:cNvPr id="21" name="TextBox 20"/>
          <p:cNvSpPr txBox="1"/>
          <p:nvPr/>
        </p:nvSpPr>
        <p:spPr>
          <a:xfrm>
            <a:off x="3026664" y="3127248"/>
            <a:ext cx="1664208"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19" b="0" i="0">
                <a:solidFill>
                  <a:srgbClr val="A9B5CC"/>
                </a:solidFill>
                <a:latin typeface="Montserrat"/>
              </a:rPr>
              <a:t>LOCO + exact scorer + QC</a:t>
            </a:r>
          </a:p>
        </p:txBody>
      </p:sp>
      <p:cxnSp>
        <p:nvCxnSpPr>
          <p:cNvPr id="22" name="Connector 21"/>
          <p:cNvCxnSpPr/>
          <p:nvPr/>
        </p:nvCxnSpPr>
        <p:spPr>
          <a:xfrm>
            <a:off x="4882896" y="2706624"/>
            <a:ext cx="201168"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23" name="Isosceles Triangle 22"/>
          <p:cNvSpPr/>
          <p:nvPr/>
        </p:nvSpPr>
        <p:spPr>
          <a:xfrm rot="5400000">
            <a:off x="5029200" y="26517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175503" y="1664208"/>
            <a:ext cx="1993392" cy="2029968"/>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843015" y="1901952"/>
            <a:ext cx="658368" cy="658368"/>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43015" y="1901952"/>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F7F9FC"/>
                </a:solidFill>
                <a:latin typeface="Montserrat"/>
              </a:rPr>
              <a:t>3</a:t>
            </a:r>
          </a:p>
        </p:txBody>
      </p:sp>
      <p:sp>
        <p:nvSpPr>
          <p:cNvPr id="27" name="TextBox 26"/>
          <p:cNvSpPr txBox="1"/>
          <p:nvPr/>
        </p:nvSpPr>
        <p:spPr>
          <a:xfrm>
            <a:off x="5340095" y="2743200"/>
            <a:ext cx="166420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F7F9FC"/>
                </a:solidFill>
                <a:latin typeface="Montserrat"/>
              </a:rPr>
              <a:t>Immutable artifact</a:t>
            </a:r>
          </a:p>
        </p:txBody>
      </p:sp>
      <p:sp>
        <p:nvSpPr>
          <p:cNvPr id="28" name="TextBox 27"/>
          <p:cNvSpPr txBox="1"/>
          <p:nvPr/>
        </p:nvSpPr>
        <p:spPr>
          <a:xfrm>
            <a:off x="5340095" y="3127248"/>
            <a:ext cx="1664208"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19" b="0" i="0">
                <a:solidFill>
                  <a:srgbClr val="A9B5CC"/>
                </a:solidFill>
                <a:latin typeface="Montserrat"/>
              </a:rPr>
              <a:t>config • commit • SHA-256</a:t>
            </a:r>
          </a:p>
        </p:txBody>
      </p:sp>
      <p:cxnSp>
        <p:nvCxnSpPr>
          <p:cNvPr id="29" name="Connector 28"/>
          <p:cNvCxnSpPr/>
          <p:nvPr/>
        </p:nvCxnSpPr>
        <p:spPr>
          <a:xfrm>
            <a:off x="7196327" y="2706624"/>
            <a:ext cx="201169"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7342631" y="26517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7488936" y="1664208"/>
            <a:ext cx="1993392" cy="2029968"/>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56448" y="1901952"/>
            <a:ext cx="658368" cy="658368"/>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56448" y="1901952"/>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08101F"/>
                </a:solidFill>
                <a:latin typeface="Montserrat"/>
              </a:rPr>
              <a:t>4</a:t>
            </a:r>
          </a:p>
        </p:txBody>
      </p:sp>
      <p:sp>
        <p:nvSpPr>
          <p:cNvPr id="34" name="TextBox 33"/>
          <p:cNvSpPr txBox="1"/>
          <p:nvPr/>
        </p:nvSpPr>
        <p:spPr>
          <a:xfrm>
            <a:off x="7653527" y="2743200"/>
            <a:ext cx="166420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F7F9FC"/>
                </a:solidFill>
                <a:latin typeface="Montserrat"/>
              </a:rPr>
              <a:t>Two-person review</a:t>
            </a:r>
          </a:p>
        </p:txBody>
      </p:sp>
      <p:sp>
        <p:nvSpPr>
          <p:cNvPr id="35" name="TextBox 34"/>
          <p:cNvSpPr txBox="1"/>
          <p:nvPr/>
        </p:nvSpPr>
        <p:spPr>
          <a:xfrm>
            <a:off x="7653527" y="3127248"/>
            <a:ext cx="1664208"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19" b="0" i="0">
                <a:solidFill>
                  <a:srgbClr val="A9B5CC"/>
                </a:solidFill>
                <a:latin typeface="Montserrat"/>
              </a:rPr>
              <a:t>P1 + P3 approval</a:t>
            </a:r>
          </a:p>
        </p:txBody>
      </p:sp>
      <p:cxnSp>
        <p:nvCxnSpPr>
          <p:cNvPr id="36" name="Connector 35"/>
          <p:cNvCxnSpPr/>
          <p:nvPr/>
        </p:nvCxnSpPr>
        <p:spPr>
          <a:xfrm>
            <a:off x="9509759" y="2706624"/>
            <a:ext cx="201169" cy="0"/>
          </a:xfrm>
          <a:prstGeom prst="line">
            <a:avLst/>
          </a:prstGeom>
          <a:ln w="25400">
            <a:solidFill>
              <a:srgbClr val="71809B"/>
            </a:solidFill>
          </a:ln>
        </p:spPr>
        <p:style>
          <a:lnRef idx="2">
            <a:schemeClr val="accent1"/>
          </a:lnRef>
          <a:fillRef idx="0">
            <a:schemeClr val="accent1"/>
          </a:fillRef>
          <a:effectRef idx="1">
            <a:schemeClr val="accent1"/>
          </a:effectRef>
          <a:fontRef idx="minor">
            <a:schemeClr val="tx1"/>
          </a:fontRef>
        </p:style>
      </p:cxnSp>
      <p:sp>
        <p:nvSpPr>
          <p:cNvPr id="37" name="Isosceles Triangle 36"/>
          <p:cNvSpPr/>
          <p:nvPr/>
        </p:nvSpPr>
        <p:spPr>
          <a:xfrm rot="5400000">
            <a:off x="9656063" y="2651760"/>
            <a:ext cx="109728" cy="109728"/>
          </a:xfrm>
          <a:prstGeom prst="triangle">
            <a:avLst/>
          </a:prstGeom>
          <a:solidFill>
            <a:srgbClr val="7180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802367" y="1664208"/>
            <a:ext cx="1993392" cy="2029968"/>
          </a:xfrm>
          <a:prstGeom prst="roundRect">
            <a:avLst/>
          </a:prstGeom>
          <a:solidFill>
            <a:srgbClr val="111C31"/>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469880" y="1901952"/>
            <a:ext cx="658368" cy="658368"/>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469880" y="1901952"/>
            <a:ext cx="658368" cy="65836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500" b="1" i="0">
                <a:solidFill>
                  <a:srgbClr val="08101F"/>
                </a:solidFill>
                <a:latin typeface="Montserrat"/>
              </a:rPr>
              <a:t>5</a:t>
            </a:r>
          </a:p>
        </p:txBody>
      </p:sp>
      <p:sp>
        <p:nvSpPr>
          <p:cNvPr id="41" name="TextBox 40"/>
          <p:cNvSpPr txBox="1"/>
          <p:nvPr/>
        </p:nvSpPr>
        <p:spPr>
          <a:xfrm>
            <a:off x="9966959" y="2743200"/>
            <a:ext cx="1664208"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00" b="1" i="0">
                <a:solidFill>
                  <a:srgbClr val="F7F9FC"/>
                </a:solidFill>
                <a:latin typeface="Montserrat"/>
              </a:rPr>
              <a:t>Submit + archive</a:t>
            </a:r>
          </a:p>
        </p:txBody>
      </p:sp>
      <p:sp>
        <p:nvSpPr>
          <p:cNvPr id="42" name="TextBox 41"/>
          <p:cNvSpPr txBox="1"/>
          <p:nvPr/>
        </p:nvSpPr>
        <p:spPr>
          <a:xfrm>
            <a:off x="9966959" y="3127248"/>
            <a:ext cx="1664208" cy="38404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19" b="0" i="0">
                <a:solidFill>
                  <a:srgbClr val="A9B5CC"/>
                </a:solidFill>
                <a:latin typeface="Montserrat"/>
              </a:rPr>
              <a:t>six metrics • context • stamp</a:t>
            </a:r>
          </a:p>
        </p:txBody>
      </p:sp>
      <p:sp>
        <p:nvSpPr>
          <p:cNvPr id="43" name="Rounded Rectangle 42"/>
          <p:cNvSpPr/>
          <p:nvPr/>
        </p:nvSpPr>
        <p:spPr>
          <a:xfrm>
            <a:off x="749808" y="4187952"/>
            <a:ext cx="5138928" cy="1078992"/>
          </a:xfrm>
          <a:prstGeom prst="roundRect">
            <a:avLst/>
          </a:prstGeom>
          <a:solidFill>
            <a:srgbClr val="0D172A"/>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4128" y="4453128"/>
            <a:ext cx="1298448"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FB7185"/>
                </a:solidFill>
                <a:latin typeface="Montserrat"/>
              </a:rPr>
              <a:t>Do not submit</a:t>
            </a:r>
          </a:p>
        </p:txBody>
      </p:sp>
      <p:sp>
        <p:nvSpPr>
          <p:cNvPr id="45" name="TextBox 44"/>
          <p:cNvSpPr txBox="1"/>
          <p:nvPr/>
        </p:nvSpPr>
        <p:spPr>
          <a:xfrm>
            <a:off x="2432304" y="4389120"/>
            <a:ext cx="3054096" cy="49377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40" b="1" i="0">
                <a:solidFill>
                  <a:srgbClr val="F7F9FC"/>
                </a:solidFill>
                <a:latin typeface="Montserrat"/>
              </a:rPr>
              <a:t>identical artifacts • unsupported changes • context-label guesses • DO_NOT_SUBMIT smoke output</a:t>
            </a:r>
          </a:p>
        </p:txBody>
      </p:sp>
      <p:sp>
        <p:nvSpPr>
          <p:cNvPr id="46" name="Rounded Rectangle 45"/>
          <p:cNvSpPr/>
          <p:nvPr/>
        </p:nvSpPr>
        <p:spPr>
          <a:xfrm>
            <a:off x="6236208" y="4187952"/>
            <a:ext cx="5138928" cy="1078992"/>
          </a:xfrm>
          <a:prstGeom prst="roundRect">
            <a:avLst/>
          </a:prstGeom>
          <a:solidFill>
            <a:srgbClr val="0D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10528" y="4453128"/>
            <a:ext cx="71323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150" b="1" i="0">
                <a:solidFill>
                  <a:srgbClr val="34D399"/>
                </a:solidFill>
                <a:latin typeface="Montserrat"/>
              </a:rPr>
              <a:t>Retain</a:t>
            </a:r>
          </a:p>
        </p:txBody>
      </p:sp>
      <p:sp>
        <p:nvSpPr>
          <p:cNvPr id="48" name="TextBox 47"/>
          <p:cNvSpPr txBox="1"/>
          <p:nvPr/>
        </p:nvSpPr>
        <p:spPr>
          <a:xfrm>
            <a:off x="7388352" y="4389120"/>
            <a:ext cx="3584448" cy="49377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40" b="1" i="0">
                <a:solidFill>
                  <a:srgbClr val="F7F9FC"/>
                </a:solidFill>
                <a:latin typeface="Montserrat"/>
              </a:rPr>
              <a:t>prior champion • rollback package • raw JSON scores • model/data/environment provenance</a:t>
            </a:r>
          </a:p>
        </p:txBody>
      </p:sp>
      <p:sp>
        <p:nvSpPr>
          <p:cNvPr id="49" name="TextBox 48"/>
          <p:cNvSpPr txBox="1"/>
          <p:nvPr/>
        </p:nvSpPr>
        <p:spPr>
          <a:xfrm>
            <a:off x="1115568" y="5669280"/>
            <a:ext cx="9948672"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180" b="1" i="0">
                <a:solidFill>
                  <a:srgbClr val="FDE68A"/>
                </a:solidFill>
                <a:latin typeface="Montserrat"/>
              </a:rPr>
              <a:t>Portal limit: two scored submissions per day, renewing at midnight UTC; one in flight at a time.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COMPETITION OPERATIONS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Risk register: protect the result</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High-impact operational failures deserve the same attention as model error.</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risk review</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42</a:t>
            </a:r>
          </a:p>
        </p:txBody>
      </p:sp>
      <p:sp>
        <p:nvSpPr>
          <p:cNvPr id="10" name="Rectangle 9"/>
          <p:cNvSpPr/>
          <p:nvPr/>
        </p:nvSpPr>
        <p:spPr>
          <a:xfrm>
            <a:off x="658368" y="1527048"/>
            <a:ext cx="2359152" cy="512064"/>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19" y="1554480"/>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A5F3FC"/>
                </a:solidFill>
                <a:latin typeface="Montserrat"/>
              </a:rPr>
              <a:t>Risk</a:t>
            </a:r>
          </a:p>
        </p:txBody>
      </p:sp>
      <p:sp>
        <p:nvSpPr>
          <p:cNvPr id="12" name="Rectangle 11"/>
          <p:cNvSpPr/>
          <p:nvPr/>
        </p:nvSpPr>
        <p:spPr>
          <a:xfrm>
            <a:off x="3017520" y="1527048"/>
            <a:ext cx="1298448" cy="512064"/>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90672" y="1554480"/>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A5F3FC"/>
                </a:solidFill>
                <a:latin typeface="Montserrat"/>
              </a:rPr>
              <a:t>Impact</a:t>
            </a:r>
          </a:p>
        </p:txBody>
      </p:sp>
      <p:sp>
        <p:nvSpPr>
          <p:cNvPr id="14" name="Rectangle 13"/>
          <p:cNvSpPr/>
          <p:nvPr/>
        </p:nvSpPr>
        <p:spPr>
          <a:xfrm>
            <a:off x="4315968" y="1527048"/>
            <a:ext cx="2468880" cy="512064"/>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554480"/>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A5F3FC"/>
                </a:solidFill>
                <a:latin typeface="Montserrat"/>
              </a:rPr>
              <a:t>Early signal</a:t>
            </a:r>
          </a:p>
        </p:txBody>
      </p:sp>
      <p:sp>
        <p:nvSpPr>
          <p:cNvPr id="16" name="Rectangle 15"/>
          <p:cNvSpPr/>
          <p:nvPr/>
        </p:nvSpPr>
        <p:spPr>
          <a:xfrm>
            <a:off x="6784848" y="1527048"/>
            <a:ext cx="3749039" cy="512064"/>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0" y="1554480"/>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A5F3FC"/>
                </a:solidFill>
                <a:latin typeface="Montserrat"/>
              </a:rPr>
              <a:t>Mitigation</a:t>
            </a:r>
          </a:p>
        </p:txBody>
      </p:sp>
      <p:sp>
        <p:nvSpPr>
          <p:cNvPr id="18" name="Rectangle 17"/>
          <p:cNvSpPr/>
          <p:nvPr/>
        </p:nvSpPr>
        <p:spPr>
          <a:xfrm>
            <a:off x="10533888" y="1527048"/>
            <a:ext cx="1078992" cy="512064"/>
          </a:xfrm>
          <a:prstGeom prst="rect">
            <a:avLst/>
          </a:prstGeom>
          <a:solidFill>
            <a:srgbClr val="172640"/>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07040" y="1554480"/>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A5F3FC"/>
                </a:solidFill>
                <a:latin typeface="Montserrat"/>
              </a:rPr>
              <a:t>Owner</a:t>
            </a:r>
          </a:p>
        </p:txBody>
      </p:sp>
      <p:sp>
        <p:nvSpPr>
          <p:cNvPr id="20" name="Rectangle 19"/>
          <p:cNvSpPr/>
          <p:nvPr/>
        </p:nvSpPr>
        <p:spPr>
          <a:xfrm>
            <a:off x="658368" y="2039112"/>
            <a:ext cx="235915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19" y="2066543"/>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FB7185"/>
                </a:solidFill>
                <a:latin typeface="Montserrat"/>
              </a:rPr>
              <a:t>Context label swap</a:t>
            </a:r>
          </a:p>
        </p:txBody>
      </p:sp>
      <p:sp>
        <p:nvSpPr>
          <p:cNvPr id="22" name="Rectangle 21"/>
          <p:cNvSpPr/>
          <p:nvPr/>
        </p:nvSpPr>
        <p:spPr>
          <a:xfrm>
            <a:off x="3017520" y="2039112"/>
            <a:ext cx="1298448"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90672" y="2066543"/>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Critical</a:t>
            </a:r>
          </a:p>
        </p:txBody>
      </p:sp>
      <p:sp>
        <p:nvSpPr>
          <p:cNvPr id="24" name="Rectangle 23"/>
          <p:cNvSpPr/>
          <p:nvPr/>
        </p:nvSpPr>
        <p:spPr>
          <a:xfrm>
            <a:off x="4315968" y="2039112"/>
            <a:ext cx="2468880"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0" y="2066543"/>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all metrics near chance</a:t>
            </a:r>
          </a:p>
        </p:txBody>
      </p:sp>
      <p:sp>
        <p:nvSpPr>
          <p:cNvPr id="26" name="Rectangle 25"/>
          <p:cNvSpPr/>
          <p:nvPr/>
        </p:nvSpPr>
        <p:spPr>
          <a:xfrm>
            <a:off x="6784848" y="2039112"/>
            <a:ext cx="3749039"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0" y="2066543"/>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preserve labels; two-person audit</a:t>
            </a:r>
          </a:p>
        </p:txBody>
      </p:sp>
      <p:sp>
        <p:nvSpPr>
          <p:cNvPr id="28" name="Rectangle 27"/>
          <p:cNvSpPr/>
          <p:nvPr/>
        </p:nvSpPr>
        <p:spPr>
          <a:xfrm>
            <a:off x="10533888" y="2039112"/>
            <a:ext cx="107899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607040" y="2066543"/>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P3</a:t>
            </a:r>
          </a:p>
        </p:txBody>
      </p:sp>
      <p:sp>
        <p:nvSpPr>
          <p:cNvPr id="30" name="Rectangle 29"/>
          <p:cNvSpPr/>
          <p:nvPr/>
        </p:nvSpPr>
        <p:spPr>
          <a:xfrm>
            <a:off x="658368" y="2551176"/>
            <a:ext cx="235915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19" y="2578608"/>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FB7185"/>
                </a:solidFill>
                <a:latin typeface="Montserrat"/>
              </a:rPr>
              <a:t>Scorer mismatch</a:t>
            </a:r>
          </a:p>
        </p:txBody>
      </p:sp>
      <p:sp>
        <p:nvSpPr>
          <p:cNvPr id="32" name="Rectangle 31"/>
          <p:cNvSpPr/>
          <p:nvPr/>
        </p:nvSpPr>
        <p:spPr>
          <a:xfrm>
            <a:off x="3017520" y="2551176"/>
            <a:ext cx="1298448"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90672" y="2578608"/>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Critical</a:t>
            </a:r>
          </a:p>
        </p:txBody>
      </p:sp>
      <p:sp>
        <p:nvSpPr>
          <p:cNvPr id="34" name="Rectangle 33"/>
          <p:cNvSpPr/>
          <p:nvPr/>
        </p:nvSpPr>
        <p:spPr>
          <a:xfrm>
            <a:off x="4315968" y="2551176"/>
            <a:ext cx="2468880"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89120" y="2578608"/>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local / portal divergence</a:t>
            </a:r>
          </a:p>
        </p:txBody>
      </p:sp>
      <p:sp>
        <p:nvSpPr>
          <p:cNvPr id="36" name="Rectangle 35"/>
          <p:cNvSpPr/>
          <p:nvPr/>
        </p:nvSpPr>
        <p:spPr>
          <a:xfrm>
            <a:off x="6784848" y="2551176"/>
            <a:ext cx="3749039"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0" y="2578608"/>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pin rule digest; parity tests</a:t>
            </a:r>
          </a:p>
        </p:txBody>
      </p:sp>
      <p:sp>
        <p:nvSpPr>
          <p:cNvPr id="38" name="Rectangle 37"/>
          <p:cNvSpPr/>
          <p:nvPr/>
        </p:nvSpPr>
        <p:spPr>
          <a:xfrm>
            <a:off x="10533888" y="2551176"/>
            <a:ext cx="107899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607040" y="2578608"/>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P3</a:t>
            </a:r>
          </a:p>
        </p:txBody>
      </p:sp>
      <p:sp>
        <p:nvSpPr>
          <p:cNvPr id="40" name="Rectangle 39"/>
          <p:cNvSpPr/>
          <p:nvPr/>
        </p:nvSpPr>
        <p:spPr>
          <a:xfrm>
            <a:off x="658368" y="3063240"/>
            <a:ext cx="235915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19" y="3090672"/>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FBBF24"/>
                </a:solidFill>
                <a:latin typeface="Montserrat"/>
              </a:rPr>
              <a:t>Leaderboard overfit</a:t>
            </a:r>
          </a:p>
        </p:txBody>
      </p:sp>
      <p:sp>
        <p:nvSpPr>
          <p:cNvPr id="42" name="Rectangle 41"/>
          <p:cNvSpPr/>
          <p:nvPr/>
        </p:nvSpPr>
        <p:spPr>
          <a:xfrm>
            <a:off x="3017520" y="3063240"/>
            <a:ext cx="1298448"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90672" y="3090672"/>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High</a:t>
            </a:r>
          </a:p>
        </p:txBody>
      </p:sp>
      <p:sp>
        <p:nvSpPr>
          <p:cNvPr id="44" name="Rectangle 43"/>
          <p:cNvSpPr/>
          <p:nvPr/>
        </p:nvSpPr>
        <p:spPr>
          <a:xfrm>
            <a:off x="4315968" y="3063240"/>
            <a:ext cx="2468880"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389120" y="3090672"/>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portal ↑, LOCO flat</a:t>
            </a:r>
          </a:p>
        </p:txBody>
      </p:sp>
      <p:sp>
        <p:nvSpPr>
          <p:cNvPr id="46" name="Rectangle 45"/>
          <p:cNvSpPr/>
          <p:nvPr/>
        </p:nvSpPr>
        <p:spPr>
          <a:xfrm>
            <a:off x="6784848" y="3063240"/>
            <a:ext cx="3749039"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858000" y="3090672"/>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submission policy; sealed folds</a:t>
            </a:r>
          </a:p>
        </p:txBody>
      </p:sp>
      <p:sp>
        <p:nvSpPr>
          <p:cNvPr id="48" name="Rectangle 47"/>
          <p:cNvSpPr/>
          <p:nvPr/>
        </p:nvSpPr>
        <p:spPr>
          <a:xfrm>
            <a:off x="10533888" y="3063240"/>
            <a:ext cx="107899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07040" y="3090672"/>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P1</a:t>
            </a:r>
          </a:p>
        </p:txBody>
      </p:sp>
      <p:sp>
        <p:nvSpPr>
          <p:cNvPr id="50" name="Rectangle 49"/>
          <p:cNvSpPr/>
          <p:nvPr/>
        </p:nvSpPr>
        <p:spPr>
          <a:xfrm>
            <a:off x="658368" y="3575304"/>
            <a:ext cx="235915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19" y="3602736"/>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F472B6"/>
                </a:solidFill>
                <a:latin typeface="Montserrat"/>
              </a:rPr>
              <a:t>Wrong DE dispersion</a:t>
            </a:r>
          </a:p>
        </p:txBody>
      </p:sp>
      <p:sp>
        <p:nvSpPr>
          <p:cNvPr id="52" name="Rectangle 51"/>
          <p:cNvSpPr/>
          <p:nvPr/>
        </p:nvSpPr>
        <p:spPr>
          <a:xfrm>
            <a:off x="3017520" y="3575304"/>
            <a:ext cx="1298448"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090672" y="3602736"/>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High</a:t>
            </a:r>
          </a:p>
        </p:txBody>
      </p:sp>
      <p:sp>
        <p:nvSpPr>
          <p:cNvPr id="54" name="Rectangle 53"/>
          <p:cNvSpPr/>
          <p:nvPr/>
        </p:nvSpPr>
        <p:spPr>
          <a:xfrm>
            <a:off x="4315968" y="3575304"/>
            <a:ext cx="2468880"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389120" y="3602736"/>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JAC collapses</a:t>
            </a:r>
          </a:p>
        </p:txBody>
      </p:sp>
      <p:sp>
        <p:nvSpPr>
          <p:cNvPr id="56" name="Rectangle 55"/>
          <p:cNvSpPr/>
          <p:nvPr/>
        </p:nvSpPr>
        <p:spPr>
          <a:xfrm>
            <a:off x="6784848" y="3575304"/>
            <a:ext cx="3749039"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858000" y="3602736"/>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match depth/variance; call-count QC</a:t>
            </a:r>
          </a:p>
        </p:txBody>
      </p:sp>
      <p:sp>
        <p:nvSpPr>
          <p:cNvPr id="58" name="Rectangle 57"/>
          <p:cNvSpPr/>
          <p:nvPr/>
        </p:nvSpPr>
        <p:spPr>
          <a:xfrm>
            <a:off x="10533888" y="3575304"/>
            <a:ext cx="107899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607040" y="3602736"/>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P2</a:t>
            </a:r>
          </a:p>
        </p:txBody>
      </p:sp>
      <p:sp>
        <p:nvSpPr>
          <p:cNvPr id="60" name="Rectangle 59"/>
          <p:cNvSpPr/>
          <p:nvPr/>
        </p:nvSpPr>
        <p:spPr>
          <a:xfrm>
            <a:off x="658368" y="4087368"/>
            <a:ext cx="235915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31519" y="4114800"/>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8B5CF6"/>
                </a:solidFill>
                <a:latin typeface="Montserrat"/>
              </a:rPr>
              <a:t>Public-data mismatch</a:t>
            </a:r>
          </a:p>
        </p:txBody>
      </p:sp>
      <p:sp>
        <p:nvSpPr>
          <p:cNvPr id="62" name="Rectangle 61"/>
          <p:cNvSpPr/>
          <p:nvPr/>
        </p:nvSpPr>
        <p:spPr>
          <a:xfrm>
            <a:off x="3017520" y="4087368"/>
            <a:ext cx="1298448"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090672" y="4114800"/>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High</a:t>
            </a:r>
          </a:p>
        </p:txBody>
      </p:sp>
      <p:sp>
        <p:nvSpPr>
          <p:cNvPr id="64" name="Rectangle 63"/>
          <p:cNvSpPr/>
          <p:nvPr/>
        </p:nvSpPr>
        <p:spPr>
          <a:xfrm>
            <a:off x="4315968" y="4087368"/>
            <a:ext cx="2468880"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389120" y="4114800"/>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source gains do not transfer</a:t>
            </a:r>
          </a:p>
        </p:txBody>
      </p:sp>
      <p:sp>
        <p:nvSpPr>
          <p:cNvPr id="66" name="Rectangle 65"/>
          <p:cNvSpPr/>
          <p:nvPr/>
        </p:nvSpPr>
        <p:spPr>
          <a:xfrm>
            <a:off x="6784848" y="4087368"/>
            <a:ext cx="3749039"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858000" y="4114800"/>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source ablations; similarity weighting</a:t>
            </a:r>
          </a:p>
        </p:txBody>
      </p:sp>
      <p:sp>
        <p:nvSpPr>
          <p:cNvPr id="68" name="Rectangle 67"/>
          <p:cNvSpPr/>
          <p:nvPr/>
        </p:nvSpPr>
        <p:spPr>
          <a:xfrm>
            <a:off x="10533888" y="4087368"/>
            <a:ext cx="107899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0607040" y="4114800"/>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P1</a:t>
            </a:r>
          </a:p>
        </p:txBody>
      </p:sp>
      <p:sp>
        <p:nvSpPr>
          <p:cNvPr id="70" name="Rectangle 69"/>
          <p:cNvSpPr/>
          <p:nvPr/>
        </p:nvSpPr>
        <p:spPr>
          <a:xfrm>
            <a:off x="658368" y="4599432"/>
            <a:ext cx="235915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31519" y="4626864"/>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22D3EE"/>
                </a:solidFill>
                <a:latin typeface="Montserrat"/>
              </a:rPr>
              <a:t>Mode collapse</a:t>
            </a:r>
          </a:p>
        </p:txBody>
      </p:sp>
      <p:sp>
        <p:nvSpPr>
          <p:cNvPr id="72" name="Rectangle 71"/>
          <p:cNvSpPr/>
          <p:nvPr/>
        </p:nvSpPr>
        <p:spPr>
          <a:xfrm>
            <a:off x="3017520" y="4599432"/>
            <a:ext cx="1298448"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090672" y="4626864"/>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High</a:t>
            </a:r>
          </a:p>
        </p:txBody>
      </p:sp>
      <p:sp>
        <p:nvSpPr>
          <p:cNvPr id="74" name="Rectangle 73"/>
          <p:cNvSpPr/>
          <p:nvPr/>
        </p:nvSpPr>
        <p:spPr>
          <a:xfrm>
            <a:off x="4315968" y="4599432"/>
            <a:ext cx="2468880"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4389120" y="4626864"/>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low within-group variance</a:t>
            </a:r>
          </a:p>
        </p:txBody>
      </p:sp>
      <p:sp>
        <p:nvSpPr>
          <p:cNvPr id="76" name="Rectangle 75"/>
          <p:cNvSpPr/>
          <p:nvPr/>
        </p:nvSpPr>
        <p:spPr>
          <a:xfrm>
            <a:off x="6784848" y="4599432"/>
            <a:ext cx="3749039"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858000" y="4626864"/>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diversity + count-moment checks</a:t>
            </a:r>
          </a:p>
        </p:txBody>
      </p:sp>
      <p:sp>
        <p:nvSpPr>
          <p:cNvPr id="78" name="Rectangle 77"/>
          <p:cNvSpPr/>
          <p:nvPr/>
        </p:nvSpPr>
        <p:spPr>
          <a:xfrm>
            <a:off x="10533888" y="4599432"/>
            <a:ext cx="107899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607040" y="4626864"/>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P2</a:t>
            </a:r>
          </a:p>
        </p:txBody>
      </p:sp>
      <p:sp>
        <p:nvSpPr>
          <p:cNvPr id="80" name="Rectangle 79"/>
          <p:cNvSpPr/>
          <p:nvPr/>
        </p:nvSpPr>
        <p:spPr>
          <a:xfrm>
            <a:off x="658368" y="5111496"/>
            <a:ext cx="235915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31519" y="5138928"/>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34D399"/>
                </a:solidFill>
                <a:latin typeface="Montserrat"/>
              </a:rPr>
              <a:t>Sparse / storage overflow</a:t>
            </a:r>
          </a:p>
        </p:txBody>
      </p:sp>
      <p:sp>
        <p:nvSpPr>
          <p:cNvPr id="82" name="Rectangle 81"/>
          <p:cNvSpPr/>
          <p:nvPr/>
        </p:nvSpPr>
        <p:spPr>
          <a:xfrm>
            <a:off x="3017520" y="5111496"/>
            <a:ext cx="1298448"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90672" y="5138928"/>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High</a:t>
            </a:r>
          </a:p>
        </p:txBody>
      </p:sp>
      <p:sp>
        <p:nvSpPr>
          <p:cNvPr id="84" name="Rectangle 83"/>
          <p:cNvSpPr/>
          <p:nvPr/>
        </p:nvSpPr>
        <p:spPr>
          <a:xfrm>
            <a:off x="4315968" y="5111496"/>
            <a:ext cx="2468880"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389120" y="5138928"/>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NNZ or quota spike</a:t>
            </a:r>
          </a:p>
        </p:txBody>
      </p:sp>
      <p:sp>
        <p:nvSpPr>
          <p:cNvPr id="86" name="Rectangle 85"/>
          <p:cNvSpPr/>
          <p:nvPr/>
        </p:nvSpPr>
        <p:spPr>
          <a:xfrm>
            <a:off x="6784848" y="5111496"/>
            <a:ext cx="3749039"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858000" y="5138928"/>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CSR; threshold; quota monitor</a:t>
            </a:r>
          </a:p>
        </p:txBody>
      </p:sp>
      <p:sp>
        <p:nvSpPr>
          <p:cNvPr id="88" name="Rectangle 87"/>
          <p:cNvSpPr/>
          <p:nvPr/>
        </p:nvSpPr>
        <p:spPr>
          <a:xfrm>
            <a:off x="10533888" y="5111496"/>
            <a:ext cx="1078992" cy="512064"/>
          </a:xfrm>
          <a:prstGeom prst="rect">
            <a:avLst/>
          </a:prstGeom>
          <a:solidFill>
            <a:srgbClr val="111C31"/>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0607040" y="5138928"/>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P3</a:t>
            </a:r>
          </a:p>
        </p:txBody>
      </p:sp>
      <p:sp>
        <p:nvSpPr>
          <p:cNvPr id="90" name="Rectangle 89"/>
          <p:cNvSpPr/>
          <p:nvPr/>
        </p:nvSpPr>
        <p:spPr>
          <a:xfrm>
            <a:off x="658368" y="5623560"/>
            <a:ext cx="235915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31519" y="5650992"/>
            <a:ext cx="221284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1" i="0">
                <a:solidFill>
                  <a:srgbClr val="FB7185"/>
                </a:solidFill>
                <a:latin typeface="Montserrat"/>
              </a:rPr>
              <a:t>Final upload failure</a:t>
            </a:r>
          </a:p>
        </p:txBody>
      </p:sp>
      <p:sp>
        <p:nvSpPr>
          <p:cNvPr id="92" name="Rectangle 91"/>
          <p:cNvSpPr/>
          <p:nvPr/>
        </p:nvSpPr>
        <p:spPr>
          <a:xfrm>
            <a:off x="3017520" y="5623560"/>
            <a:ext cx="1298448"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090672" y="5650992"/>
            <a:ext cx="1152144"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Critical</a:t>
            </a:r>
          </a:p>
        </p:txBody>
      </p:sp>
      <p:sp>
        <p:nvSpPr>
          <p:cNvPr id="94" name="Rectangle 93"/>
          <p:cNvSpPr/>
          <p:nvPr/>
        </p:nvSpPr>
        <p:spPr>
          <a:xfrm>
            <a:off x="4315968" y="5623560"/>
            <a:ext cx="2468880"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389120" y="5650992"/>
            <a:ext cx="2322576"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slow / rejected package</a:t>
            </a:r>
          </a:p>
        </p:txBody>
      </p:sp>
      <p:sp>
        <p:nvSpPr>
          <p:cNvPr id="96" name="Rectangle 95"/>
          <p:cNvSpPr/>
          <p:nvPr/>
        </p:nvSpPr>
        <p:spPr>
          <a:xfrm>
            <a:off x="6784848" y="5623560"/>
            <a:ext cx="3749039"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858000" y="5650992"/>
            <a:ext cx="3602735"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submit by 4 Nov; fallback artifact</a:t>
            </a:r>
          </a:p>
        </p:txBody>
      </p:sp>
      <p:sp>
        <p:nvSpPr>
          <p:cNvPr id="98" name="Rectangle 97"/>
          <p:cNvSpPr/>
          <p:nvPr/>
        </p:nvSpPr>
        <p:spPr>
          <a:xfrm>
            <a:off x="10533888" y="5623560"/>
            <a:ext cx="1078992" cy="512064"/>
          </a:xfrm>
          <a:prstGeom prst="rect">
            <a:avLst/>
          </a:prstGeom>
          <a:solidFill>
            <a:srgbClr val="0D172A"/>
          </a:solidFill>
          <a:ln w="12700">
            <a:solidFill>
              <a:srgbClr val="08101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607040" y="5650992"/>
            <a:ext cx="932688" cy="457200"/>
          </a:xfrm>
          <a:prstGeom prst="rect">
            <a:avLst/>
          </a:prstGeom>
          <a:noFill/>
        </p:spPr>
        <p:txBody>
          <a:bodyPr wrap="square" lIns="18288" rIns="18288" tIns="18288" bIns="18288" anchor="ctr">
            <a:spAutoFit/>
          </a:bodyPr>
          <a:lstStyle/>
          <a:p>
            <a:pPr algn="l">
              <a:lnSpc>
                <a:spcPct val="102000"/>
              </a:lnSpc>
              <a:spcBef>
                <a:spcPts val="0"/>
              </a:spcBef>
              <a:spcAft>
                <a:spcPts val="0"/>
              </a:spcAft>
            </a:pPr>
            <a:r>
              <a:rPr sz="869" b="0" i="0">
                <a:solidFill>
                  <a:srgbClr val="A9B5CC"/>
                </a:solidFill>
                <a:latin typeface="Montserrat"/>
              </a:rPr>
              <a:t>P3</a:t>
            </a:r>
          </a:p>
        </p:txBody>
      </p:sp>
      <p:sp>
        <p:nvSpPr>
          <p:cNvPr id="100" name="TextBox 99"/>
          <p:cNvSpPr txBox="1"/>
          <p:nvPr/>
        </p:nvSpPr>
        <p:spPr>
          <a:xfrm>
            <a:off x="1024128" y="6035040"/>
            <a:ext cx="10113264"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30" b="1" i="0">
                <a:solidFill>
                  <a:srgbClr val="FB7185"/>
                </a:solidFill>
                <a:latin typeface="Montserrat"/>
              </a:rPr>
              <a:t>Weekly rule: every red risk needs an owner, an observable trigger, and a rehearsed fallback.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COMPETITION OPERATIONS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Final-phase 48-hour playbook</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Treat D/E/F ingestion as production adaptation—not a new research sprint.</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final-phase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43</a:t>
            </a:r>
          </a:p>
        </p:txBody>
      </p:sp>
      <p:sp>
        <p:nvSpPr>
          <p:cNvPr id="10" name="Oval 9"/>
          <p:cNvSpPr/>
          <p:nvPr/>
        </p:nvSpPr>
        <p:spPr>
          <a:xfrm>
            <a:off x="713232" y="1499616"/>
            <a:ext cx="420624" cy="42062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149961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08101F"/>
                </a:solidFill>
                <a:latin typeface="Montserrat"/>
              </a:rPr>
              <a:t>1</a:t>
            </a:r>
          </a:p>
        </p:txBody>
      </p:sp>
      <p:sp>
        <p:nvSpPr>
          <p:cNvPr id="12" name="TextBox 11"/>
          <p:cNvSpPr txBox="1"/>
          <p:nvPr/>
        </p:nvSpPr>
        <p:spPr>
          <a:xfrm>
            <a:off x="1335024" y="1508760"/>
            <a:ext cx="932688"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22D3EE"/>
                </a:solidFill>
                <a:latin typeface="Source Code Pro"/>
              </a:rPr>
              <a:t>0–2 h</a:t>
            </a:r>
          </a:p>
        </p:txBody>
      </p:sp>
      <p:sp>
        <p:nvSpPr>
          <p:cNvPr id="13" name="TextBox 12"/>
          <p:cNvSpPr txBox="1"/>
          <p:nvPr/>
        </p:nvSpPr>
        <p:spPr>
          <a:xfrm>
            <a:off x="2395728" y="1490472"/>
            <a:ext cx="115214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20" b="1" i="0">
                <a:solidFill>
                  <a:srgbClr val="F7F9FC"/>
                </a:solidFill>
                <a:latin typeface="Montserrat"/>
              </a:rPr>
              <a:t>Ingest</a:t>
            </a:r>
          </a:p>
        </p:txBody>
      </p:sp>
      <p:sp>
        <p:nvSpPr>
          <p:cNvPr id="14" name="TextBox 13"/>
          <p:cNvSpPr txBox="1"/>
          <p:nvPr/>
        </p:nvSpPr>
        <p:spPr>
          <a:xfrm>
            <a:off x="3730752" y="1490472"/>
            <a:ext cx="400507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checksum • manifest • D/E/F labels</a:t>
            </a:r>
          </a:p>
        </p:txBody>
      </p:sp>
      <p:cxnSp>
        <p:nvCxnSpPr>
          <p:cNvPr id="15" name="Connector 14"/>
          <p:cNvCxnSpPr/>
          <p:nvPr/>
        </p:nvCxnSpPr>
        <p:spPr>
          <a:xfrm>
            <a:off x="923544" y="1920240"/>
            <a:ext cx="0" cy="219456"/>
          </a:xfrm>
          <a:prstGeom prst="line">
            <a:avLst/>
          </a:prstGeom>
          <a:ln w="19050">
            <a:solidFill>
              <a:srgbClr val="71809B"/>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713232" y="2139696"/>
            <a:ext cx="420624" cy="420624"/>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13969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2</a:t>
            </a:r>
          </a:p>
        </p:txBody>
      </p:sp>
      <p:sp>
        <p:nvSpPr>
          <p:cNvPr id="18" name="TextBox 17"/>
          <p:cNvSpPr txBox="1"/>
          <p:nvPr/>
        </p:nvSpPr>
        <p:spPr>
          <a:xfrm>
            <a:off x="1335024" y="2148839"/>
            <a:ext cx="932688"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8B5CF6"/>
                </a:solidFill>
                <a:latin typeface="Source Code Pro"/>
              </a:rPr>
              <a:t>2–6 h</a:t>
            </a:r>
          </a:p>
        </p:txBody>
      </p:sp>
      <p:sp>
        <p:nvSpPr>
          <p:cNvPr id="19" name="TextBox 18"/>
          <p:cNvSpPr txBox="1"/>
          <p:nvPr/>
        </p:nvSpPr>
        <p:spPr>
          <a:xfrm>
            <a:off x="2395728" y="2130551"/>
            <a:ext cx="115214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20" b="1" i="0">
                <a:solidFill>
                  <a:srgbClr val="F7F9FC"/>
                </a:solidFill>
                <a:latin typeface="Montserrat"/>
              </a:rPr>
              <a:t>Profile</a:t>
            </a:r>
          </a:p>
        </p:txBody>
      </p:sp>
      <p:sp>
        <p:nvSpPr>
          <p:cNvPr id="20" name="TextBox 19"/>
          <p:cNvSpPr txBox="1"/>
          <p:nvPr/>
        </p:nvSpPr>
        <p:spPr>
          <a:xfrm>
            <a:off x="3730752" y="2130551"/>
            <a:ext cx="400507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depth • states • similarity • uncertainty</a:t>
            </a:r>
          </a:p>
        </p:txBody>
      </p:sp>
      <p:cxnSp>
        <p:nvCxnSpPr>
          <p:cNvPr id="21" name="Connector 20"/>
          <p:cNvCxnSpPr/>
          <p:nvPr/>
        </p:nvCxnSpPr>
        <p:spPr>
          <a:xfrm>
            <a:off x="923544" y="2560320"/>
            <a:ext cx="0" cy="219456"/>
          </a:xfrm>
          <a:prstGeom prst="line">
            <a:avLst/>
          </a:prstGeom>
          <a:ln w="19050">
            <a:solidFill>
              <a:srgbClr val="71809B"/>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713232" y="2779776"/>
            <a:ext cx="420624" cy="42062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3232" y="277977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3</a:t>
            </a:r>
          </a:p>
        </p:txBody>
      </p:sp>
      <p:sp>
        <p:nvSpPr>
          <p:cNvPr id="24" name="TextBox 23"/>
          <p:cNvSpPr txBox="1"/>
          <p:nvPr/>
        </p:nvSpPr>
        <p:spPr>
          <a:xfrm>
            <a:off x="1335024" y="2788920"/>
            <a:ext cx="932688"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472B6"/>
                </a:solidFill>
                <a:latin typeface="Source Code Pro"/>
              </a:rPr>
              <a:t>6–18 h</a:t>
            </a:r>
          </a:p>
        </p:txBody>
      </p:sp>
      <p:sp>
        <p:nvSpPr>
          <p:cNvPr id="25" name="TextBox 24"/>
          <p:cNvSpPr txBox="1"/>
          <p:nvPr/>
        </p:nvSpPr>
        <p:spPr>
          <a:xfrm>
            <a:off x="2395728" y="2770632"/>
            <a:ext cx="115214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20" b="1" i="0">
                <a:solidFill>
                  <a:srgbClr val="F7F9FC"/>
                </a:solidFill>
                <a:latin typeface="Montserrat"/>
              </a:rPr>
              <a:t>Adapt</a:t>
            </a:r>
          </a:p>
        </p:txBody>
      </p:sp>
      <p:sp>
        <p:nvSpPr>
          <p:cNvPr id="26" name="TextBox 25"/>
          <p:cNvSpPr txBox="1"/>
          <p:nvPr/>
        </p:nvSpPr>
        <p:spPr>
          <a:xfrm>
            <a:off x="3730752" y="2770632"/>
            <a:ext cx="400507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context encoder + frozen calibration rule</a:t>
            </a:r>
          </a:p>
        </p:txBody>
      </p:sp>
      <p:cxnSp>
        <p:nvCxnSpPr>
          <p:cNvPr id="27" name="Connector 26"/>
          <p:cNvCxnSpPr/>
          <p:nvPr/>
        </p:nvCxnSpPr>
        <p:spPr>
          <a:xfrm>
            <a:off x="923544" y="3200400"/>
            <a:ext cx="0" cy="219456"/>
          </a:xfrm>
          <a:prstGeom prst="line">
            <a:avLst/>
          </a:prstGeom>
          <a:ln w="19050">
            <a:solidFill>
              <a:srgbClr val="71809B"/>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713232" y="3419856"/>
            <a:ext cx="420624" cy="42062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341985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08101F"/>
                </a:solidFill>
                <a:latin typeface="Montserrat"/>
              </a:rPr>
              <a:t>4</a:t>
            </a:r>
          </a:p>
        </p:txBody>
      </p:sp>
      <p:sp>
        <p:nvSpPr>
          <p:cNvPr id="30" name="TextBox 29"/>
          <p:cNvSpPr txBox="1"/>
          <p:nvPr/>
        </p:nvSpPr>
        <p:spPr>
          <a:xfrm>
            <a:off x="1335024" y="3428999"/>
            <a:ext cx="932688"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34D399"/>
                </a:solidFill>
                <a:latin typeface="Source Code Pro"/>
              </a:rPr>
              <a:t>18–30 h</a:t>
            </a:r>
          </a:p>
        </p:txBody>
      </p:sp>
      <p:sp>
        <p:nvSpPr>
          <p:cNvPr id="31" name="TextBox 30"/>
          <p:cNvSpPr txBox="1"/>
          <p:nvPr/>
        </p:nvSpPr>
        <p:spPr>
          <a:xfrm>
            <a:off x="2395728" y="3410711"/>
            <a:ext cx="115214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20" b="1" i="0">
                <a:solidFill>
                  <a:srgbClr val="F7F9FC"/>
                </a:solidFill>
                <a:latin typeface="Montserrat"/>
              </a:rPr>
              <a:t>Generate</a:t>
            </a:r>
          </a:p>
        </p:txBody>
      </p:sp>
      <p:sp>
        <p:nvSpPr>
          <p:cNvPr id="32" name="TextBox 31"/>
          <p:cNvSpPr txBox="1"/>
          <p:nvPr/>
        </p:nvSpPr>
        <p:spPr>
          <a:xfrm>
            <a:off x="3730752" y="3410711"/>
            <a:ext cx="400507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baseline • generator • ensemble</a:t>
            </a:r>
          </a:p>
        </p:txBody>
      </p:sp>
      <p:cxnSp>
        <p:nvCxnSpPr>
          <p:cNvPr id="33" name="Connector 32"/>
          <p:cNvCxnSpPr/>
          <p:nvPr/>
        </p:nvCxnSpPr>
        <p:spPr>
          <a:xfrm>
            <a:off x="923544" y="3840479"/>
            <a:ext cx="0" cy="219456"/>
          </a:xfrm>
          <a:prstGeom prst="line">
            <a:avLst/>
          </a:prstGeom>
          <a:ln w="19050">
            <a:solidFill>
              <a:srgbClr val="71809B"/>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713232" y="4059936"/>
            <a:ext cx="420624" cy="420624"/>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405993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08101F"/>
                </a:solidFill>
                <a:latin typeface="Montserrat"/>
              </a:rPr>
              <a:t>5</a:t>
            </a:r>
          </a:p>
        </p:txBody>
      </p:sp>
      <p:sp>
        <p:nvSpPr>
          <p:cNvPr id="36" name="TextBox 35"/>
          <p:cNvSpPr txBox="1"/>
          <p:nvPr/>
        </p:nvSpPr>
        <p:spPr>
          <a:xfrm>
            <a:off x="1335024" y="4069080"/>
            <a:ext cx="932688"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BBF24"/>
                </a:solidFill>
                <a:latin typeface="Source Code Pro"/>
              </a:rPr>
              <a:t>30–38 h</a:t>
            </a:r>
          </a:p>
        </p:txBody>
      </p:sp>
      <p:sp>
        <p:nvSpPr>
          <p:cNvPr id="37" name="TextBox 36"/>
          <p:cNvSpPr txBox="1"/>
          <p:nvPr/>
        </p:nvSpPr>
        <p:spPr>
          <a:xfrm>
            <a:off x="2395728" y="4050792"/>
            <a:ext cx="115214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20" b="1" i="0">
                <a:solidFill>
                  <a:srgbClr val="F7F9FC"/>
                </a:solidFill>
                <a:latin typeface="Montserrat"/>
              </a:rPr>
              <a:t>QC</a:t>
            </a:r>
          </a:p>
        </p:txBody>
      </p:sp>
      <p:sp>
        <p:nvSpPr>
          <p:cNvPr id="38" name="TextBox 37"/>
          <p:cNvSpPr txBox="1"/>
          <p:nvPr/>
        </p:nvSpPr>
        <p:spPr>
          <a:xfrm>
            <a:off x="3730752" y="4050792"/>
            <a:ext cx="400507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counts • axes • NNZ • moments • DE calls</a:t>
            </a:r>
          </a:p>
        </p:txBody>
      </p:sp>
      <p:cxnSp>
        <p:nvCxnSpPr>
          <p:cNvPr id="39" name="Connector 38"/>
          <p:cNvCxnSpPr/>
          <p:nvPr/>
        </p:nvCxnSpPr>
        <p:spPr>
          <a:xfrm>
            <a:off x="923544" y="4480560"/>
            <a:ext cx="0" cy="219456"/>
          </a:xfrm>
          <a:prstGeom prst="line">
            <a:avLst/>
          </a:prstGeom>
          <a:ln w="19050">
            <a:solidFill>
              <a:srgbClr val="71809B"/>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713232" y="4700016"/>
            <a:ext cx="420624" cy="420624"/>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4700016"/>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6</a:t>
            </a:r>
          </a:p>
        </p:txBody>
      </p:sp>
      <p:sp>
        <p:nvSpPr>
          <p:cNvPr id="42" name="TextBox 41"/>
          <p:cNvSpPr txBox="1"/>
          <p:nvPr/>
        </p:nvSpPr>
        <p:spPr>
          <a:xfrm>
            <a:off x="1335024" y="4709159"/>
            <a:ext cx="932688"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60A5FA"/>
                </a:solidFill>
                <a:latin typeface="Source Code Pro"/>
              </a:rPr>
              <a:t>38–44 h</a:t>
            </a:r>
          </a:p>
        </p:txBody>
      </p:sp>
      <p:sp>
        <p:nvSpPr>
          <p:cNvPr id="43" name="TextBox 42"/>
          <p:cNvSpPr txBox="1"/>
          <p:nvPr/>
        </p:nvSpPr>
        <p:spPr>
          <a:xfrm>
            <a:off x="2395728" y="4690872"/>
            <a:ext cx="115214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20" b="1" i="0">
                <a:solidFill>
                  <a:srgbClr val="F7F9FC"/>
                </a:solidFill>
                <a:latin typeface="Montserrat"/>
              </a:rPr>
              <a:t>Select</a:t>
            </a:r>
          </a:p>
        </p:txBody>
      </p:sp>
      <p:sp>
        <p:nvSpPr>
          <p:cNvPr id="44" name="TextBox 43"/>
          <p:cNvSpPr txBox="1"/>
          <p:nvPr/>
        </p:nvSpPr>
        <p:spPr>
          <a:xfrm>
            <a:off x="3730752" y="4690872"/>
            <a:ext cx="400507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predeclared robust decision rule</a:t>
            </a:r>
          </a:p>
        </p:txBody>
      </p:sp>
      <p:cxnSp>
        <p:nvCxnSpPr>
          <p:cNvPr id="45" name="Connector 44"/>
          <p:cNvCxnSpPr/>
          <p:nvPr/>
        </p:nvCxnSpPr>
        <p:spPr>
          <a:xfrm>
            <a:off x="923544" y="5120640"/>
            <a:ext cx="0" cy="219456"/>
          </a:xfrm>
          <a:prstGeom prst="line">
            <a:avLst/>
          </a:prstGeom>
          <a:ln w="19050">
            <a:solidFill>
              <a:srgbClr val="71809B"/>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713232" y="5340095"/>
            <a:ext cx="420624" cy="420624"/>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3232" y="5340095"/>
            <a:ext cx="420624" cy="42062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000" b="1" i="0">
                <a:solidFill>
                  <a:srgbClr val="F7F9FC"/>
                </a:solidFill>
                <a:latin typeface="Montserrat"/>
              </a:rPr>
              <a:t>7</a:t>
            </a:r>
          </a:p>
        </p:txBody>
      </p:sp>
      <p:sp>
        <p:nvSpPr>
          <p:cNvPr id="48" name="TextBox 47"/>
          <p:cNvSpPr txBox="1"/>
          <p:nvPr/>
        </p:nvSpPr>
        <p:spPr>
          <a:xfrm>
            <a:off x="1335024" y="5349239"/>
            <a:ext cx="932688" cy="23774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B7185"/>
                </a:solidFill>
                <a:latin typeface="Source Code Pro"/>
              </a:rPr>
              <a:t>44–48 h</a:t>
            </a:r>
          </a:p>
        </p:txBody>
      </p:sp>
      <p:sp>
        <p:nvSpPr>
          <p:cNvPr id="49" name="TextBox 48"/>
          <p:cNvSpPr txBox="1"/>
          <p:nvPr/>
        </p:nvSpPr>
        <p:spPr>
          <a:xfrm>
            <a:off x="2395728" y="5330951"/>
            <a:ext cx="1152144"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20" b="1" i="0">
                <a:solidFill>
                  <a:srgbClr val="F7F9FC"/>
                </a:solidFill>
                <a:latin typeface="Montserrat"/>
              </a:rPr>
              <a:t>Package</a:t>
            </a:r>
          </a:p>
        </p:txBody>
      </p:sp>
      <p:sp>
        <p:nvSpPr>
          <p:cNvPr id="50" name="TextBox 49"/>
          <p:cNvSpPr txBox="1"/>
          <p:nvPr/>
        </p:nvSpPr>
        <p:spPr>
          <a:xfrm>
            <a:off x="3730752" y="5330951"/>
            <a:ext cx="4005072" cy="274320"/>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0" i="0">
                <a:solidFill>
                  <a:srgbClr val="A9B5CC"/>
                </a:solidFill>
                <a:latin typeface="Montserrat"/>
              </a:rPr>
              <a:t>dry run • hash • upload • archive</a:t>
            </a:r>
          </a:p>
        </p:txBody>
      </p:sp>
      <p:sp>
        <p:nvSpPr>
          <p:cNvPr id="51" name="Rounded Rectangle 50"/>
          <p:cNvSpPr/>
          <p:nvPr/>
        </p:nvSpPr>
        <p:spPr>
          <a:xfrm>
            <a:off x="8065008" y="1627632"/>
            <a:ext cx="3218688" cy="3163824"/>
          </a:xfrm>
          <a:prstGeom prst="roundRect">
            <a:avLst/>
          </a:prstGeom>
          <a:solidFill>
            <a:srgbClr val="111C31"/>
          </a:solidFill>
          <a:ln w="12700">
            <a:solidFill>
              <a:srgbClr val="FB718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57616" y="1901952"/>
            <a:ext cx="2633472"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500" b="1" i="0">
                <a:solidFill>
                  <a:srgbClr val="FB7185"/>
                </a:solidFill>
                <a:latin typeface="Montserrat"/>
              </a:rPr>
              <a:t>Forbidden changes</a:t>
            </a:r>
          </a:p>
        </p:txBody>
      </p:sp>
      <p:sp>
        <p:nvSpPr>
          <p:cNvPr id="53" name="TextBox 52"/>
          <p:cNvSpPr txBox="1"/>
          <p:nvPr/>
        </p:nvSpPr>
        <p:spPr>
          <a:xfrm>
            <a:off x="8339327" y="2414016"/>
            <a:ext cx="2670048" cy="1755648"/>
          </a:xfrm>
          <a:prstGeom prst="rect">
            <a:avLst/>
          </a:prstGeom>
          <a:noFill/>
        </p:spPr>
        <p:txBody>
          <a:bodyPr wrap="square" lIns="18288" rIns="18288" tIns="18288" bIns="18288">
            <a:spAutoFit/>
          </a:bodyPr>
          <a:lstStyle/>
          <a:p>
            <a:pPr>
              <a:lnSpc>
                <a:spcPct val="108000"/>
              </a:lnSpc>
              <a:spcBef>
                <a:spcPts val="0"/>
              </a:spcBef>
              <a:spcAft>
                <a:spcPts val="300"/>
              </a:spcAft>
            </a:pPr>
            <a:r>
              <a:rPr sz="1080" b="1">
                <a:solidFill>
                  <a:srgbClr val="FB7185"/>
                </a:solidFill>
                <a:latin typeface="Montserrat"/>
              </a:rPr>
              <a:t>•  </a:t>
            </a:r>
            <a:r>
              <a:rPr sz="1080">
                <a:solidFill>
                  <a:srgbClr val="F7F9FC"/>
                </a:solidFill>
                <a:latin typeface="Montserrat"/>
              </a:rPr>
              <a:t>new architecture</a:t>
            </a:r>
          </a:p>
          <a:p>
            <a:pPr>
              <a:lnSpc>
                <a:spcPct val="108000"/>
              </a:lnSpc>
              <a:spcBef>
                <a:spcPts val="0"/>
              </a:spcBef>
              <a:spcAft>
                <a:spcPts val="300"/>
              </a:spcAft>
            </a:pPr>
            <a:r>
              <a:rPr sz="1080" b="1">
                <a:solidFill>
                  <a:srgbClr val="FB7185"/>
                </a:solidFill>
                <a:latin typeface="Montserrat"/>
              </a:rPr>
              <a:t>•  </a:t>
            </a:r>
            <a:r>
              <a:rPr sz="1080">
                <a:solidFill>
                  <a:srgbClr val="F7F9FC"/>
                </a:solidFill>
                <a:latin typeface="Montserrat"/>
              </a:rPr>
              <a:t>new loss family</a:t>
            </a:r>
          </a:p>
          <a:p>
            <a:pPr>
              <a:lnSpc>
                <a:spcPct val="108000"/>
              </a:lnSpc>
              <a:spcBef>
                <a:spcPts val="0"/>
              </a:spcBef>
              <a:spcAft>
                <a:spcPts val="300"/>
              </a:spcAft>
            </a:pPr>
            <a:r>
              <a:rPr sz="1080" b="1">
                <a:solidFill>
                  <a:srgbClr val="FB7185"/>
                </a:solidFill>
                <a:latin typeface="Montserrat"/>
              </a:rPr>
              <a:t>•  </a:t>
            </a:r>
            <a:r>
              <a:rPr sz="1080">
                <a:solidFill>
                  <a:srgbClr val="F7F9FC"/>
                </a:solidFill>
                <a:latin typeface="Montserrat"/>
              </a:rPr>
              <a:t>manual cell-line identity guess</a:t>
            </a:r>
          </a:p>
          <a:p>
            <a:pPr>
              <a:lnSpc>
                <a:spcPct val="108000"/>
              </a:lnSpc>
              <a:spcBef>
                <a:spcPts val="0"/>
              </a:spcBef>
              <a:spcAft>
                <a:spcPts val="300"/>
              </a:spcAft>
            </a:pPr>
            <a:r>
              <a:rPr sz="1080" b="1">
                <a:solidFill>
                  <a:srgbClr val="FB7185"/>
                </a:solidFill>
                <a:latin typeface="Montserrat"/>
              </a:rPr>
              <a:t>•  </a:t>
            </a:r>
            <a:r>
              <a:rPr sz="1080">
                <a:solidFill>
                  <a:srgbClr val="F7F9FC"/>
                </a:solidFill>
                <a:latin typeface="Montserrat"/>
              </a:rPr>
              <a:t>unreviewed target mapping</a:t>
            </a:r>
          </a:p>
          <a:p>
            <a:pPr>
              <a:lnSpc>
                <a:spcPct val="108000"/>
              </a:lnSpc>
              <a:spcBef>
                <a:spcPts val="0"/>
              </a:spcBef>
              <a:spcAft>
                <a:spcPts val="300"/>
              </a:spcAft>
            </a:pPr>
            <a:r>
              <a:rPr sz="1080" b="1">
                <a:solidFill>
                  <a:srgbClr val="FB7185"/>
                </a:solidFill>
                <a:latin typeface="Montserrat"/>
              </a:rPr>
              <a:t>•  </a:t>
            </a:r>
            <a:r>
              <a:rPr sz="1080">
                <a:solidFill>
                  <a:srgbClr val="F7F9FC"/>
                </a:solidFill>
                <a:latin typeface="Montserrat"/>
              </a:rPr>
              <a:t>ad hoc per-target editing</a:t>
            </a:r>
          </a:p>
          <a:p>
            <a:pPr>
              <a:lnSpc>
                <a:spcPct val="108000"/>
              </a:lnSpc>
              <a:spcBef>
                <a:spcPts val="0"/>
              </a:spcBef>
              <a:spcAft>
                <a:spcPts val="300"/>
              </a:spcAft>
            </a:pPr>
            <a:r>
              <a:rPr sz="1080" b="1">
                <a:solidFill>
                  <a:srgbClr val="FB7185"/>
                </a:solidFill>
                <a:latin typeface="Montserrat"/>
              </a:rPr>
              <a:t>•  </a:t>
            </a:r>
            <a:r>
              <a:rPr sz="1080">
                <a:solidFill>
                  <a:srgbClr val="F7F9FC"/>
                </a:solidFill>
                <a:latin typeface="Montserrat"/>
              </a:rPr>
              <a:t>deadline-day first rehearsal</a:t>
            </a:r>
          </a:p>
        </p:txBody>
      </p:sp>
      <p:sp>
        <p:nvSpPr>
          <p:cNvPr id="54" name="Rounded Rectangle 53"/>
          <p:cNvSpPr/>
          <p:nvPr/>
        </p:nvSpPr>
        <p:spPr>
          <a:xfrm>
            <a:off x="8065008" y="5047488"/>
            <a:ext cx="3218688" cy="694944"/>
          </a:xfrm>
          <a:prstGeom prst="roundRect">
            <a:avLst/>
          </a:prstGeom>
          <a:solidFill>
            <a:srgbClr val="0D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302752" y="5239512"/>
            <a:ext cx="2743200" cy="25603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220" b="1" i="0">
                <a:solidFill>
                  <a:srgbClr val="A7F3D0"/>
                </a:solidFill>
                <a:latin typeface="Montserrat"/>
              </a:rPr>
              <a:t>Preferred upload: 4 Nov</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DISCUSSION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Decisions to make today</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Leave the meeting with owners, gates, and a two-week definition of done.</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44</a:t>
            </a:r>
          </a:p>
        </p:txBody>
      </p:sp>
      <p:sp>
        <p:nvSpPr>
          <p:cNvPr id="9" name="Rounded Rectangle 8"/>
          <p:cNvSpPr/>
          <p:nvPr/>
        </p:nvSpPr>
        <p:spPr>
          <a:xfrm>
            <a:off x="621792" y="1536192"/>
            <a:ext cx="5285232" cy="1115568"/>
          </a:xfrm>
          <a:prstGeom prst="roundRect">
            <a:avLst/>
          </a:prstGeom>
          <a:solidFill>
            <a:srgbClr val="111C31"/>
          </a:solidFill>
          <a:ln w="12700">
            <a:solidFill>
              <a:srgbClr val="22D3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04672" y="1764792"/>
            <a:ext cx="603504" cy="603504"/>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764792"/>
            <a:ext cx="603504" cy="60350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01</a:t>
            </a:r>
          </a:p>
        </p:txBody>
      </p:sp>
      <p:sp>
        <p:nvSpPr>
          <p:cNvPr id="12" name="TextBox 11"/>
          <p:cNvSpPr txBox="1"/>
          <p:nvPr/>
        </p:nvSpPr>
        <p:spPr>
          <a:xfrm>
            <a:off x="1609344" y="1719072"/>
            <a:ext cx="3968496"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40" b="1" i="0">
                <a:solidFill>
                  <a:srgbClr val="F7F9FC"/>
                </a:solidFill>
                <a:latin typeface="Montserrat"/>
              </a:rPr>
              <a:t>Who is P1, P2, and P3?</a:t>
            </a:r>
          </a:p>
        </p:txBody>
      </p:sp>
      <p:sp>
        <p:nvSpPr>
          <p:cNvPr id="13" name="TextBox 12"/>
          <p:cNvSpPr txBox="1"/>
          <p:nvPr/>
        </p:nvSpPr>
        <p:spPr>
          <a:xfrm>
            <a:off x="1609344" y="2103120"/>
            <a:ext cx="3968496"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80" b="0" i="0">
                <a:solidFill>
                  <a:srgbClr val="A9B5CC"/>
                </a:solidFill>
                <a:latin typeface="Montserrat"/>
              </a:rPr>
              <a:t>Name one accountable owner and one backup per critical lane.</a:t>
            </a:r>
          </a:p>
        </p:txBody>
      </p:sp>
      <p:sp>
        <p:nvSpPr>
          <p:cNvPr id="14" name="Rounded Rectangle 13"/>
          <p:cNvSpPr/>
          <p:nvPr/>
        </p:nvSpPr>
        <p:spPr>
          <a:xfrm>
            <a:off x="6217920" y="1536192"/>
            <a:ext cx="5285232" cy="1115568"/>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0800" y="1764792"/>
            <a:ext cx="603504" cy="603504"/>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1764792"/>
            <a:ext cx="603504" cy="60350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02</a:t>
            </a:r>
          </a:p>
        </p:txBody>
      </p:sp>
      <p:sp>
        <p:nvSpPr>
          <p:cNvPr id="17" name="TextBox 16"/>
          <p:cNvSpPr txBox="1"/>
          <p:nvPr/>
        </p:nvSpPr>
        <p:spPr>
          <a:xfrm>
            <a:off x="7205472" y="1719072"/>
            <a:ext cx="3968496"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40" b="1" i="0">
                <a:solidFill>
                  <a:srgbClr val="F7F9FC"/>
                </a:solidFill>
                <a:latin typeface="Montserrat"/>
              </a:rPr>
              <a:t>Which external datasets are legal and useful?</a:t>
            </a:r>
          </a:p>
        </p:txBody>
      </p:sp>
      <p:sp>
        <p:nvSpPr>
          <p:cNvPr id="18" name="TextBox 17"/>
          <p:cNvSpPr txBox="1"/>
          <p:nvPr/>
        </p:nvSpPr>
        <p:spPr>
          <a:xfrm>
            <a:off x="7205472" y="2103120"/>
            <a:ext cx="3968496"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80" b="0" i="0">
                <a:solidFill>
                  <a:srgbClr val="A9B5CC"/>
                </a:solidFill>
                <a:latin typeface="Montserrat"/>
              </a:rPr>
              <a:t>Create the provenance registry before downloading everything.</a:t>
            </a:r>
          </a:p>
        </p:txBody>
      </p:sp>
      <p:sp>
        <p:nvSpPr>
          <p:cNvPr id="19" name="Rounded Rectangle 18"/>
          <p:cNvSpPr/>
          <p:nvPr/>
        </p:nvSpPr>
        <p:spPr>
          <a:xfrm>
            <a:off x="621792" y="2944368"/>
            <a:ext cx="5285232" cy="1115568"/>
          </a:xfrm>
          <a:prstGeom prst="roundRect">
            <a:avLst/>
          </a:prstGeom>
          <a:solidFill>
            <a:srgbClr val="111C31"/>
          </a:solidFill>
          <a:ln w="12700">
            <a:solidFill>
              <a:srgbClr val="F472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4672" y="3172968"/>
            <a:ext cx="603504" cy="603504"/>
          </a:xfrm>
          <a:prstGeom prst="ellipse">
            <a:avLst/>
          </a:prstGeom>
          <a:solidFill>
            <a:srgbClr val="F472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3172968"/>
            <a:ext cx="603504" cy="60350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03</a:t>
            </a:r>
          </a:p>
        </p:txBody>
      </p:sp>
      <p:sp>
        <p:nvSpPr>
          <p:cNvPr id="22" name="TextBox 21"/>
          <p:cNvSpPr txBox="1"/>
          <p:nvPr/>
        </p:nvSpPr>
        <p:spPr>
          <a:xfrm>
            <a:off x="1609344" y="3127248"/>
            <a:ext cx="3968496"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40" b="1" i="0">
                <a:solidFill>
                  <a:srgbClr val="F7F9FC"/>
                </a:solidFill>
                <a:latin typeface="Montserrat"/>
              </a:rPr>
              <a:t>What is the strongest baseline?</a:t>
            </a:r>
          </a:p>
        </p:txBody>
      </p:sp>
      <p:sp>
        <p:nvSpPr>
          <p:cNvPr id="23" name="TextBox 22"/>
          <p:cNvSpPr txBox="1"/>
          <p:nvPr/>
        </p:nvSpPr>
        <p:spPr>
          <a:xfrm>
            <a:off x="1609344" y="3511296"/>
            <a:ext cx="3968496"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80" b="0" i="0">
                <a:solidFill>
                  <a:srgbClr val="A9B5CC"/>
                </a:solidFill>
                <a:latin typeface="Montserrat"/>
              </a:rPr>
              <a:t>Agree on control, global, target-transfer, and context-interaction rungs.</a:t>
            </a:r>
          </a:p>
        </p:txBody>
      </p:sp>
      <p:sp>
        <p:nvSpPr>
          <p:cNvPr id="24" name="Rounded Rectangle 23"/>
          <p:cNvSpPr/>
          <p:nvPr/>
        </p:nvSpPr>
        <p:spPr>
          <a:xfrm>
            <a:off x="6217920" y="2944368"/>
            <a:ext cx="5285232" cy="1115568"/>
          </a:xfrm>
          <a:prstGeom prst="roundRect">
            <a:avLst/>
          </a:prstGeom>
          <a:solidFill>
            <a:srgbClr val="111C31"/>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00800" y="3172968"/>
            <a:ext cx="603504" cy="603504"/>
          </a:xfrm>
          <a:prstGeom prst="ellipse">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0" y="3172968"/>
            <a:ext cx="603504" cy="60350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04</a:t>
            </a:r>
          </a:p>
        </p:txBody>
      </p:sp>
      <p:sp>
        <p:nvSpPr>
          <p:cNvPr id="27" name="TextBox 26"/>
          <p:cNvSpPr txBox="1"/>
          <p:nvPr/>
        </p:nvSpPr>
        <p:spPr>
          <a:xfrm>
            <a:off x="7205472" y="3127248"/>
            <a:ext cx="3968496"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40" b="1" i="0">
                <a:solidFill>
                  <a:srgbClr val="F7F9FC"/>
                </a:solidFill>
                <a:latin typeface="Montserrat"/>
              </a:rPr>
              <a:t>Who owns exact metric parity?</a:t>
            </a:r>
          </a:p>
        </p:txBody>
      </p:sp>
      <p:sp>
        <p:nvSpPr>
          <p:cNvPr id="28" name="TextBox 27"/>
          <p:cNvSpPr txBox="1"/>
          <p:nvPr/>
        </p:nvSpPr>
        <p:spPr>
          <a:xfrm>
            <a:off x="7205472" y="3511296"/>
            <a:ext cx="3968496"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80" b="0" i="0">
                <a:solidFill>
                  <a:srgbClr val="A9B5CC"/>
                </a:solidFill>
                <a:latin typeface="Montserrat"/>
              </a:rPr>
              <a:t>This owner also controls LOCO folds and score reports.</a:t>
            </a:r>
          </a:p>
        </p:txBody>
      </p:sp>
      <p:sp>
        <p:nvSpPr>
          <p:cNvPr id="29" name="Rounded Rectangle 28"/>
          <p:cNvSpPr/>
          <p:nvPr/>
        </p:nvSpPr>
        <p:spPr>
          <a:xfrm>
            <a:off x="621792" y="4352544"/>
            <a:ext cx="5285232" cy="1115568"/>
          </a:xfrm>
          <a:prstGeom prst="roundRect">
            <a:avLst/>
          </a:prstGeom>
          <a:solidFill>
            <a:srgbClr val="111C31"/>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4672" y="4581144"/>
            <a:ext cx="603504" cy="603504"/>
          </a:xfrm>
          <a:prstGeom prst="ellipse">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2" y="4581144"/>
            <a:ext cx="603504" cy="60350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08101F"/>
                </a:solidFill>
                <a:latin typeface="Montserrat"/>
              </a:rPr>
              <a:t>05</a:t>
            </a:r>
          </a:p>
        </p:txBody>
      </p:sp>
      <p:sp>
        <p:nvSpPr>
          <p:cNvPr id="32" name="TextBox 31"/>
          <p:cNvSpPr txBox="1"/>
          <p:nvPr/>
        </p:nvSpPr>
        <p:spPr>
          <a:xfrm>
            <a:off x="1609344" y="4535424"/>
            <a:ext cx="3968496"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40" b="1" i="0">
                <a:solidFill>
                  <a:srgbClr val="F7F9FC"/>
                </a:solidFill>
                <a:latin typeface="Montserrat"/>
              </a:rPr>
              <a:t>What is the diffusion go/no-go gate?</a:t>
            </a:r>
          </a:p>
        </p:txBody>
      </p:sp>
      <p:sp>
        <p:nvSpPr>
          <p:cNvPr id="33" name="TextBox 32"/>
          <p:cNvSpPr txBox="1"/>
          <p:nvPr/>
        </p:nvSpPr>
        <p:spPr>
          <a:xfrm>
            <a:off x="1609344" y="4919472"/>
            <a:ext cx="3968496"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80" b="0" i="0">
                <a:solidFill>
                  <a:srgbClr val="A9B5CC"/>
                </a:solidFill>
                <a:latin typeface="Montserrat"/>
              </a:rPr>
              <a:t>Require held-out benefit beyond NB/DM count sampling.</a:t>
            </a:r>
          </a:p>
        </p:txBody>
      </p:sp>
      <p:sp>
        <p:nvSpPr>
          <p:cNvPr id="34" name="Rounded Rectangle 33"/>
          <p:cNvSpPr/>
          <p:nvPr/>
        </p:nvSpPr>
        <p:spPr>
          <a:xfrm>
            <a:off x="6217920" y="4352544"/>
            <a:ext cx="5285232" cy="1115568"/>
          </a:xfrm>
          <a:prstGeom prst="roundRect">
            <a:avLst/>
          </a:prstGeom>
          <a:solidFill>
            <a:srgbClr val="111C31"/>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400800" y="4581144"/>
            <a:ext cx="603504" cy="603504"/>
          </a:xfrm>
          <a:prstGeom prst="ellipse">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0" y="4581144"/>
            <a:ext cx="603504" cy="603504"/>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1100" b="1" i="0">
                <a:solidFill>
                  <a:srgbClr val="F7F9FC"/>
                </a:solidFill>
                <a:latin typeface="Montserrat"/>
              </a:rPr>
              <a:t>06</a:t>
            </a:r>
          </a:p>
        </p:txBody>
      </p:sp>
      <p:sp>
        <p:nvSpPr>
          <p:cNvPr id="37" name="TextBox 36"/>
          <p:cNvSpPr txBox="1"/>
          <p:nvPr/>
        </p:nvSpPr>
        <p:spPr>
          <a:xfrm>
            <a:off x="7205472" y="4535424"/>
            <a:ext cx="3968496" cy="29260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40" b="1" i="0">
                <a:solidFill>
                  <a:srgbClr val="F7F9FC"/>
                </a:solidFill>
                <a:latin typeface="Montserrat"/>
              </a:rPr>
              <a:t>What is the RL entry gate?</a:t>
            </a:r>
          </a:p>
        </p:txBody>
      </p:sp>
      <p:sp>
        <p:nvSpPr>
          <p:cNvPr id="38" name="TextBox 37"/>
          <p:cNvSpPr txBox="1"/>
          <p:nvPr/>
        </p:nvSpPr>
        <p:spPr>
          <a:xfrm>
            <a:off x="7205472" y="4919472"/>
            <a:ext cx="3968496" cy="32918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80" b="0" i="0">
                <a:solidFill>
                  <a:srgbClr val="A9B5CC"/>
                </a:solidFill>
                <a:latin typeface="Montserrat"/>
              </a:rPr>
              <a:t>Cap compute and demand a strong supervised generator first.</a:t>
            </a:r>
          </a:p>
        </p:txBody>
      </p:sp>
      <p:sp>
        <p:nvSpPr>
          <p:cNvPr id="39" name="TextBox 38"/>
          <p:cNvSpPr txBox="1"/>
          <p:nvPr/>
        </p:nvSpPr>
        <p:spPr>
          <a:xfrm>
            <a:off x="1115568" y="5907024"/>
            <a:ext cx="9948672" cy="292608"/>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20" b="1" i="0">
                <a:solidFill>
                  <a:srgbClr val="A5F3FC"/>
                </a:solidFill>
                <a:latin typeface="Montserrat"/>
              </a:rPr>
              <a:t>Next review: inspect the current 18 metric cells and approve the first trusted LOCO baseline.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RECOMMENDATION</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The first build we should ship</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A minimum viable scientific system—not merely a minimum viable file.</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Team recommendation</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45</a:t>
            </a:r>
          </a:p>
        </p:txBody>
      </p:sp>
      <p:sp>
        <p:nvSpPr>
          <p:cNvPr id="10" name="Rounded Rectangle 9"/>
          <p:cNvSpPr/>
          <p:nvPr/>
        </p:nvSpPr>
        <p:spPr>
          <a:xfrm>
            <a:off x="658368" y="1554480"/>
            <a:ext cx="6912864" cy="4041648"/>
          </a:xfrm>
          <a:prstGeom prst="roundRect">
            <a:avLst/>
          </a:prstGeom>
          <a:solidFill>
            <a:srgbClr val="111C31"/>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1828800"/>
            <a:ext cx="2176272" cy="31089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600" b="1" i="0">
                <a:solidFill>
                  <a:srgbClr val="C4B5FD"/>
                </a:solidFill>
                <a:latin typeface="Montserrat"/>
              </a:rPr>
              <a:t>MVP architecture</a:t>
            </a:r>
          </a:p>
        </p:txBody>
      </p:sp>
      <p:sp>
        <p:nvSpPr>
          <p:cNvPr id="12" name="TextBox 11"/>
          <p:cNvSpPr txBox="1"/>
          <p:nvPr/>
        </p:nvSpPr>
        <p:spPr>
          <a:xfrm>
            <a:off x="987552" y="2340864"/>
            <a:ext cx="6089904" cy="2688336"/>
          </a:xfrm>
          <a:prstGeom prst="rect">
            <a:avLst/>
          </a:prstGeom>
          <a:noFill/>
        </p:spPr>
        <p:txBody>
          <a:bodyPr wrap="square" lIns="18288" rIns="18288" tIns="18288" bIns="18288">
            <a:spAutoFit/>
          </a:bodyPr>
          <a:lstStyle/>
          <a:p>
            <a:pPr>
              <a:lnSpc>
                <a:spcPct val="108000"/>
              </a:lnSpc>
              <a:spcBef>
                <a:spcPts val="0"/>
              </a:spcBef>
              <a:spcAft>
                <a:spcPts val="400"/>
              </a:spcAft>
            </a:pPr>
            <a:r>
              <a:rPr sz="1200" b="1">
                <a:solidFill>
                  <a:srgbClr val="22D3EE"/>
                </a:solidFill>
                <a:latin typeface="Montserrat"/>
              </a:rPr>
              <a:t>•  </a:t>
            </a:r>
            <a:r>
              <a:rPr sz="1200">
                <a:solidFill>
                  <a:srgbClr val="F7F9FC"/>
                </a:solidFill>
                <a:latin typeface="Montserrat"/>
              </a:rPr>
              <a:t>Context: robust NTC pseudobulk + gene-module activities + depth statistics.</a:t>
            </a:r>
          </a:p>
          <a:p>
            <a:pPr>
              <a:lnSpc>
                <a:spcPct val="108000"/>
              </a:lnSpc>
              <a:spcBef>
                <a:spcPts val="0"/>
              </a:spcBef>
              <a:spcAft>
                <a:spcPts val="400"/>
              </a:spcAft>
            </a:pPr>
            <a:r>
              <a:rPr sz="1200" b="1">
                <a:solidFill>
                  <a:srgbClr val="22D3EE"/>
                </a:solidFill>
                <a:latin typeface="Montserrat"/>
              </a:rPr>
              <a:t>•  </a:t>
            </a:r>
            <a:r>
              <a:rPr sz="1200">
                <a:solidFill>
                  <a:srgbClr val="F7F9FC"/>
                </a:solidFill>
                <a:latin typeface="Montserrat"/>
              </a:rPr>
              <a:t>Target: frozen multi-view gene embedding plus trainable low-rank adapter.</a:t>
            </a:r>
          </a:p>
          <a:p>
            <a:pPr>
              <a:lnSpc>
                <a:spcPct val="108000"/>
              </a:lnSpc>
              <a:spcBef>
                <a:spcPts val="0"/>
              </a:spcBef>
              <a:spcAft>
                <a:spcPts val="400"/>
              </a:spcAft>
            </a:pPr>
            <a:r>
              <a:rPr sz="1200" b="1">
                <a:solidFill>
                  <a:srgbClr val="22D3EE"/>
                </a:solidFill>
                <a:latin typeface="Montserrat"/>
              </a:rPr>
              <a:t>•  </a:t>
            </a:r>
            <a:r>
              <a:rPr sz="1200">
                <a:solidFill>
                  <a:srgbClr val="F7F9FC"/>
                </a:solidFill>
                <a:latin typeface="Montserrat"/>
              </a:rPr>
              <a:t>Effect: low-rank Δ predictor with global and context-interaction terms.</a:t>
            </a:r>
          </a:p>
          <a:p>
            <a:pPr>
              <a:lnSpc>
                <a:spcPct val="108000"/>
              </a:lnSpc>
              <a:spcBef>
                <a:spcPts val="0"/>
              </a:spcBef>
              <a:spcAft>
                <a:spcPts val="400"/>
              </a:spcAft>
            </a:pPr>
            <a:r>
              <a:rPr sz="1200" b="1">
                <a:solidFill>
                  <a:srgbClr val="22D3EE"/>
                </a:solidFill>
                <a:latin typeface="Montserrat"/>
              </a:rPr>
              <a:t>•  </a:t>
            </a:r>
            <a:r>
              <a:rPr sz="1200">
                <a:solidFill>
                  <a:srgbClr val="F7F9FC"/>
                </a:solidFill>
                <a:latin typeface="Montserrat"/>
              </a:rPr>
              <a:t>Losses: centroid, direction/rank, LFC calibration, and shrinkage.</a:t>
            </a:r>
          </a:p>
          <a:p>
            <a:pPr>
              <a:lnSpc>
                <a:spcPct val="108000"/>
              </a:lnSpc>
              <a:spcBef>
                <a:spcPts val="0"/>
              </a:spcBef>
              <a:spcAft>
                <a:spcPts val="400"/>
              </a:spcAft>
            </a:pPr>
            <a:r>
              <a:rPr sz="1200" b="1">
                <a:solidFill>
                  <a:srgbClr val="22D3EE"/>
                </a:solidFill>
                <a:latin typeface="Montserrat"/>
              </a:rPr>
              <a:t>•  </a:t>
            </a:r>
            <a:r>
              <a:rPr sz="1200">
                <a:solidFill>
                  <a:srgbClr val="F7F9FC"/>
                </a:solidFill>
                <a:latin typeface="Montserrat"/>
              </a:rPr>
              <a:t>Cells: real-control anchoring + empirical depth + NB/DM dispersion.</a:t>
            </a:r>
          </a:p>
          <a:p>
            <a:pPr>
              <a:lnSpc>
                <a:spcPct val="108000"/>
              </a:lnSpc>
              <a:spcBef>
                <a:spcPts val="0"/>
              </a:spcBef>
              <a:spcAft>
                <a:spcPts val="400"/>
              </a:spcAft>
            </a:pPr>
            <a:r>
              <a:rPr sz="1200" b="1">
                <a:solidFill>
                  <a:srgbClr val="22D3EE"/>
                </a:solidFill>
                <a:latin typeface="Montserrat"/>
              </a:rPr>
              <a:t>•  </a:t>
            </a:r>
            <a:r>
              <a:rPr sz="1200">
                <a:solidFill>
                  <a:srgbClr val="F7F9FC"/>
                </a:solidFill>
                <a:latin typeface="Montserrat"/>
              </a:rPr>
              <a:t>Selection: exact six-metric LOCO score with mean and worst-context gates.</a:t>
            </a:r>
          </a:p>
        </p:txBody>
      </p:sp>
      <p:sp>
        <p:nvSpPr>
          <p:cNvPr id="13" name="Rounded Rectangle 12"/>
          <p:cNvSpPr/>
          <p:nvPr/>
        </p:nvSpPr>
        <p:spPr>
          <a:xfrm>
            <a:off x="7918704" y="1554480"/>
            <a:ext cx="3401568" cy="4041648"/>
          </a:xfrm>
          <a:prstGeom prst="roundRect">
            <a:avLst/>
          </a:prstGeom>
          <a:solidFill>
            <a:srgbClr val="0D172A"/>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1312" y="1828800"/>
            <a:ext cx="2816352" cy="310896"/>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500" b="1" i="0">
                <a:solidFill>
                  <a:srgbClr val="A7F3D0"/>
                </a:solidFill>
                <a:latin typeface="Montserrat"/>
              </a:rPr>
              <a:t>Acceptance gates</a:t>
            </a:r>
          </a:p>
        </p:txBody>
      </p:sp>
      <p:sp>
        <p:nvSpPr>
          <p:cNvPr id="15" name="Rounded Rectangle 14"/>
          <p:cNvSpPr/>
          <p:nvPr/>
        </p:nvSpPr>
        <p:spPr>
          <a:xfrm>
            <a:off x="8266175" y="2377440"/>
            <a:ext cx="566928"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66175" y="2382012"/>
            <a:ext cx="56692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1" i="0">
                <a:solidFill>
                  <a:srgbClr val="08101F"/>
                </a:solidFill>
                <a:latin typeface="Montserrat"/>
              </a:rPr>
              <a:t>G0</a:t>
            </a:r>
          </a:p>
        </p:txBody>
      </p:sp>
      <p:sp>
        <p:nvSpPr>
          <p:cNvPr id="17" name="TextBox 16"/>
          <p:cNvSpPr txBox="1"/>
          <p:nvPr/>
        </p:nvSpPr>
        <p:spPr>
          <a:xfrm>
            <a:off x="8997696" y="2395728"/>
            <a:ext cx="192024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7F9FC"/>
                </a:solidFill>
                <a:latin typeface="Montserrat"/>
              </a:rPr>
              <a:t>valid 360k package</a:t>
            </a:r>
          </a:p>
        </p:txBody>
      </p:sp>
      <p:sp>
        <p:nvSpPr>
          <p:cNvPr id="18" name="Rounded Rectangle 17"/>
          <p:cNvSpPr/>
          <p:nvPr/>
        </p:nvSpPr>
        <p:spPr>
          <a:xfrm>
            <a:off x="8266175" y="2926080"/>
            <a:ext cx="566928"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66175" y="2930652"/>
            <a:ext cx="56692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1" i="0">
                <a:solidFill>
                  <a:srgbClr val="08101F"/>
                </a:solidFill>
                <a:latin typeface="Montserrat"/>
              </a:rPr>
              <a:t>G1</a:t>
            </a:r>
          </a:p>
        </p:txBody>
      </p:sp>
      <p:sp>
        <p:nvSpPr>
          <p:cNvPr id="20" name="TextBox 19"/>
          <p:cNvSpPr txBox="1"/>
          <p:nvPr/>
        </p:nvSpPr>
        <p:spPr>
          <a:xfrm>
            <a:off x="8997696" y="2944368"/>
            <a:ext cx="192024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7F9FC"/>
                </a:solidFill>
                <a:latin typeface="Montserrat"/>
              </a:rPr>
              <a:t>beats statistical baseline</a:t>
            </a:r>
          </a:p>
        </p:txBody>
      </p:sp>
      <p:sp>
        <p:nvSpPr>
          <p:cNvPr id="21" name="Rounded Rectangle 20"/>
          <p:cNvSpPr/>
          <p:nvPr/>
        </p:nvSpPr>
        <p:spPr>
          <a:xfrm>
            <a:off x="8266175" y="3474720"/>
            <a:ext cx="566928"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66175" y="3479291"/>
            <a:ext cx="56692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1" i="0">
                <a:solidFill>
                  <a:srgbClr val="08101F"/>
                </a:solidFill>
                <a:latin typeface="Montserrat"/>
              </a:rPr>
              <a:t>G2</a:t>
            </a:r>
          </a:p>
        </p:txBody>
      </p:sp>
      <p:sp>
        <p:nvSpPr>
          <p:cNvPr id="23" name="TextBox 22"/>
          <p:cNvSpPr txBox="1"/>
          <p:nvPr/>
        </p:nvSpPr>
        <p:spPr>
          <a:xfrm>
            <a:off x="8997696" y="3493008"/>
            <a:ext cx="192024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7F9FC"/>
                </a:solidFill>
                <a:latin typeface="Montserrat"/>
              </a:rPr>
              <a:t>worst context protected</a:t>
            </a:r>
          </a:p>
        </p:txBody>
      </p:sp>
      <p:sp>
        <p:nvSpPr>
          <p:cNvPr id="24" name="Rounded Rectangle 23"/>
          <p:cNvSpPr/>
          <p:nvPr/>
        </p:nvSpPr>
        <p:spPr>
          <a:xfrm>
            <a:off x="8266175" y="4023360"/>
            <a:ext cx="566928"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66175" y="4027932"/>
            <a:ext cx="56692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1" i="0">
                <a:solidFill>
                  <a:srgbClr val="08101F"/>
                </a:solidFill>
                <a:latin typeface="Montserrat"/>
              </a:rPr>
              <a:t>G3</a:t>
            </a:r>
          </a:p>
        </p:txBody>
      </p:sp>
      <p:sp>
        <p:nvSpPr>
          <p:cNvPr id="26" name="TextBox 25"/>
          <p:cNvSpPr txBox="1"/>
          <p:nvPr/>
        </p:nvSpPr>
        <p:spPr>
          <a:xfrm>
            <a:off x="8997696" y="4041648"/>
            <a:ext cx="192024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7F9FC"/>
                </a:solidFill>
                <a:latin typeface="Montserrat"/>
              </a:rPr>
              <a:t>three-seed stability</a:t>
            </a:r>
          </a:p>
        </p:txBody>
      </p:sp>
      <p:sp>
        <p:nvSpPr>
          <p:cNvPr id="27" name="Rounded Rectangle 26"/>
          <p:cNvSpPr/>
          <p:nvPr/>
        </p:nvSpPr>
        <p:spPr>
          <a:xfrm>
            <a:off x="8266175" y="4572000"/>
            <a:ext cx="566928" cy="256032"/>
          </a:xfrm>
          <a:prstGeom prst="round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66175" y="4576572"/>
            <a:ext cx="566928" cy="24688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850" b="1" i="0">
                <a:solidFill>
                  <a:srgbClr val="08101F"/>
                </a:solidFill>
                <a:latin typeface="Montserrat"/>
              </a:rPr>
              <a:t>G4</a:t>
            </a:r>
          </a:p>
        </p:txBody>
      </p:sp>
      <p:sp>
        <p:nvSpPr>
          <p:cNvPr id="29" name="TextBox 28"/>
          <p:cNvSpPr txBox="1"/>
          <p:nvPr/>
        </p:nvSpPr>
        <p:spPr>
          <a:xfrm>
            <a:off x="8997696" y="4590288"/>
            <a:ext cx="192024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19" b="1" i="0">
                <a:solidFill>
                  <a:srgbClr val="F7F9FC"/>
                </a:solidFill>
                <a:latin typeface="Montserrat"/>
              </a:rPr>
              <a:t>one-command regeneration</a:t>
            </a:r>
          </a:p>
        </p:txBody>
      </p:sp>
      <p:sp>
        <p:nvSpPr>
          <p:cNvPr id="30" name="TextBox 29"/>
          <p:cNvSpPr txBox="1"/>
          <p:nvPr/>
        </p:nvSpPr>
        <p:spPr>
          <a:xfrm>
            <a:off x="1097280" y="5879592"/>
            <a:ext cx="9985248" cy="274320"/>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1300" b="1" i="0">
                <a:solidFill>
                  <a:srgbClr val="FDE68A"/>
                </a:solidFill>
                <a:latin typeface="Montserrat"/>
              </a:rPr>
              <a:t>Only after G0–G4: test residual diffusion; only after that gate: consider RL.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8101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274320"/>
            <a:ext cx="2194560" cy="219456"/>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900" b="1" i="0">
                <a:solidFill>
                  <a:srgbClr val="22D3EE"/>
                </a:solidFill>
                <a:latin typeface="Montserrat"/>
              </a:rPr>
              <a:t>REFERENCES</a:t>
            </a:r>
          </a:p>
        </p:txBody>
      </p:sp>
      <p:sp>
        <p:nvSpPr>
          <p:cNvPr id="4" name="TextBox 3"/>
          <p:cNvSpPr txBox="1"/>
          <p:nvPr/>
        </p:nvSpPr>
        <p:spPr>
          <a:xfrm>
            <a:off x="530352" y="548640"/>
            <a:ext cx="11064240" cy="566928"/>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2800" b="1" i="0">
                <a:solidFill>
                  <a:srgbClr val="F7F9FC"/>
                </a:solidFill>
                <a:latin typeface="Montserrat"/>
              </a:rPr>
              <a:t>Primary sources and local evidence</a:t>
            </a:r>
          </a:p>
        </p:txBody>
      </p:sp>
      <p:sp>
        <p:nvSpPr>
          <p:cNvPr id="5" name="TextBox 4"/>
          <p:cNvSpPr txBox="1"/>
          <p:nvPr/>
        </p:nvSpPr>
        <p:spPr>
          <a:xfrm>
            <a:off x="548640" y="1078992"/>
            <a:ext cx="10881360" cy="34747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250" b="0" i="0">
                <a:solidFill>
                  <a:srgbClr val="A9B5CC"/>
                </a:solidFill>
                <a:latin typeface="Montserrat"/>
              </a:rPr>
              <a:t>Official facts, scientific background, and reproducible local measurements.</a:t>
            </a:r>
          </a:p>
        </p:txBody>
      </p:sp>
      <p:cxnSp>
        <p:nvCxnSpPr>
          <p:cNvPr id="6" name="Connector 5"/>
          <p:cNvCxnSpPr/>
          <p:nvPr/>
        </p:nvCxnSpPr>
        <p:spPr>
          <a:xfrm>
            <a:off x="502920" y="6510528"/>
            <a:ext cx="11183112" cy="0"/>
          </a:xfrm>
          <a:prstGeom prst="line">
            <a:avLst/>
          </a:prstGeom>
          <a:ln w="10160">
            <a:solidFill>
              <a:srgbClr val="1726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30352" y="6565392"/>
            <a:ext cx="2926080" cy="146304"/>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750" b="1" i="0">
                <a:solidFill>
                  <a:srgbClr val="71809B"/>
                </a:solidFill>
                <a:latin typeface="Montserrat"/>
              </a:rPr>
              <a:t>VIRTUAL CELL CHALLENGE 2026</a:t>
            </a:r>
          </a:p>
        </p:txBody>
      </p:sp>
      <p:sp>
        <p:nvSpPr>
          <p:cNvPr id="8" name="TextBox 7"/>
          <p:cNvSpPr txBox="1"/>
          <p:nvPr/>
        </p:nvSpPr>
        <p:spPr>
          <a:xfrm>
            <a:off x="3200400" y="6547104"/>
            <a:ext cx="7955279"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720" b="0" i="0">
                <a:solidFill>
                  <a:srgbClr val="71809B"/>
                </a:solidFill>
                <a:latin typeface="Montserrat"/>
              </a:rPr>
              <a:t>Accessed 30 August 2026</a:t>
            </a:r>
          </a:p>
        </p:txBody>
      </p:sp>
      <p:sp>
        <p:nvSpPr>
          <p:cNvPr id="9" name="TextBox 8"/>
          <p:cNvSpPr txBox="1"/>
          <p:nvPr/>
        </p:nvSpPr>
        <p:spPr>
          <a:xfrm>
            <a:off x="11292840" y="6547104"/>
            <a:ext cx="365760" cy="182880"/>
          </a:xfrm>
          <a:prstGeom prst="rect">
            <a:avLst/>
          </a:prstGeom>
          <a:noFill/>
        </p:spPr>
        <p:txBody>
          <a:bodyPr wrap="square" lIns="18288" rIns="18288" tIns="18288" bIns="18288" anchor="t">
            <a:spAutoFit/>
          </a:bodyPr>
          <a:lstStyle/>
          <a:p>
            <a:pPr algn="r">
              <a:lnSpc>
                <a:spcPct val="102000"/>
              </a:lnSpc>
              <a:spcBef>
                <a:spcPts val="0"/>
              </a:spcBef>
              <a:spcAft>
                <a:spcPts val="0"/>
              </a:spcAft>
            </a:pPr>
            <a:r>
              <a:rPr sz="800" b="1" i="0">
                <a:solidFill>
                  <a:srgbClr val="C4B5FD"/>
                </a:solidFill>
                <a:latin typeface="Montserrat"/>
              </a:rPr>
              <a:t>46</a:t>
            </a:r>
          </a:p>
        </p:txBody>
      </p:sp>
      <p:sp>
        <p:nvSpPr>
          <p:cNvPr id="10" name="Oval 9"/>
          <p:cNvSpPr/>
          <p:nvPr/>
        </p:nvSpPr>
        <p:spPr>
          <a:xfrm>
            <a:off x="731520" y="1645920"/>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45920"/>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08101F"/>
                </a:solidFill>
                <a:latin typeface="Montserrat"/>
              </a:rPr>
              <a:t>1</a:t>
            </a:r>
          </a:p>
        </p:txBody>
      </p:sp>
      <p:sp>
        <p:nvSpPr>
          <p:cNvPr id="12" name="TextBox 11"/>
          <p:cNvSpPr txBox="1"/>
          <p:nvPr/>
        </p:nvSpPr>
        <p:spPr>
          <a:xfrm>
            <a:off x="1316736" y="1554480"/>
            <a:ext cx="4389120"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VCC 2026 Data</a:t>
            </a:r>
            <a:br/>
            <a:r>
              <a:rPr sz="1050" b="1" i="0">
                <a:solidFill>
                  <a:srgbClr val="F7F9FC"/>
                </a:solidFill>
                <a:latin typeface="Montserrat"/>
              </a:rPr>
              <a:t>virtualcellchallenge.org/datasets</a:t>
            </a:r>
          </a:p>
        </p:txBody>
      </p:sp>
      <p:sp>
        <p:nvSpPr>
          <p:cNvPr id="13" name="Oval 12"/>
          <p:cNvSpPr/>
          <p:nvPr/>
        </p:nvSpPr>
        <p:spPr>
          <a:xfrm>
            <a:off x="731520" y="2505456"/>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505456"/>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08101F"/>
                </a:solidFill>
                <a:latin typeface="Montserrat"/>
              </a:rPr>
              <a:t>2</a:t>
            </a:r>
          </a:p>
        </p:txBody>
      </p:sp>
      <p:sp>
        <p:nvSpPr>
          <p:cNvPr id="15" name="TextBox 14"/>
          <p:cNvSpPr txBox="1"/>
          <p:nvPr/>
        </p:nvSpPr>
        <p:spPr>
          <a:xfrm>
            <a:off x="1316736" y="2414015"/>
            <a:ext cx="4389120"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VCC 2026 Evaluation</a:t>
            </a:r>
            <a:br/>
            <a:r>
              <a:rPr sz="1050" b="1" i="0">
                <a:solidFill>
                  <a:srgbClr val="F7F9FC"/>
                </a:solidFill>
                <a:latin typeface="Montserrat"/>
              </a:rPr>
              <a:t>virtualcellchallenge.org/evaluation</a:t>
            </a:r>
          </a:p>
        </p:txBody>
      </p:sp>
      <p:sp>
        <p:nvSpPr>
          <p:cNvPr id="16" name="Oval 15"/>
          <p:cNvSpPr/>
          <p:nvPr/>
        </p:nvSpPr>
        <p:spPr>
          <a:xfrm>
            <a:off x="731520" y="3364992"/>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364992"/>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08101F"/>
                </a:solidFill>
                <a:latin typeface="Montserrat"/>
              </a:rPr>
              <a:t>3</a:t>
            </a:r>
          </a:p>
        </p:txBody>
      </p:sp>
      <p:sp>
        <p:nvSpPr>
          <p:cNvPr id="18" name="TextBox 17"/>
          <p:cNvSpPr txBox="1"/>
          <p:nvPr/>
        </p:nvSpPr>
        <p:spPr>
          <a:xfrm>
            <a:off x="1316736" y="3273552"/>
            <a:ext cx="4389120"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Official Rules</a:t>
            </a:r>
            <a:br/>
            <a:r>
              <a:rPr sz="1050" b="1" i="0">
                <a:solidFill>
                  <a:srgbClr val="F7F9FC"/>
                </a:solidFill>
                <a:latin typeface="Montserrat"/>
              </a:rPr>
              <a:t>virtualcellchallenge.org/rules</a:t>
            </a:r>
          </a:p>
        </p:txBody>
      </p:sp>
      <p:sp>
        <p:nvSpPr>
          <p:cNvPr id="19" name="Oval 18"/>
          <p:cNvSpPr/>
          <p:nvPr/>
        </p:nvSpPr>
        <p:spPr>
          <a:xfrm>
            <a:off x="731520" y="4224527"/>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24527"/>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08101F"/>
                </a:solidFill>
                <a:latin typeface="Montserrat"/>
              </a:rPr>
              <a:t>4</a:t>
            </a:r>
          </a:p>
        </p:txBody>
      </p:sp>
      <p:sp>
        <p:nvSpPr>
          <p:cNvPr id="21" name="TextBox 20"/>
          <p:cNvSpPr txBox="1"/>
          <p:nvPr/>
        </p:nvSpPr>
        <p:spPr>
          <a:xfrm>
            <a:off x="1316736" y="4133087"/>
            <a:ext cx="4389120"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VCC CLI Guide</a:t>
            </a:r>
            <a:br/>
            <a:r>
              <a:rPr sz="1050" b="1" i="0">
                <a:solidFill>
                  <a:srgbClr val="F7F9FC"/>
                </a:solidFill>
                <a:latin typeface="Montserrat"/>
              </a:rPr>
              <a:t>vcc-cli-wiki.virtualcellchallenge.org</a:t>
            </a:r>
          </a:p>
        </p:txBody>
      </p:sp>
      <p:sp>
        <p:nvSpPr>
          <p:cNvPr id="22" name="Oval 21"/>
          <p:cNvSpPr/>
          <p:nvPr/>
        </p:nvSpPr>
        <p:spPr>
          <a:xfrm>
            <a:off x="731520" y="5084064"/>
            <a:ext cx="384048" cy="384048"/>
          </a:xfrm>
          <a:prstGeom prst="ellipse">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084064"/>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08101F"/>
                </a:solidFill>
                <a:latin typeface="Montserrat"/>
              </a:rPr>
              <a:t>5</a:t>
            </a:r>
          </a:p>
        </p:txBody>
      </p:sp>
      <p:sp>
        <p:nvSpPr>
          <p:cNvPr id="24" name="TextBox 23"/>
          <p:cNvSpPr txBox="1"/>
          <p:nvPr/>
        </p:nvSpPr>
        <p:spPr>
          <a:xfrm>
            <a:off x="1316736" y="4992624"/>
            <a:ext cx="4389120"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Metric specification</a:t>
            </a:r>
            <a:br/>
            <a:r>
              <a:rPr sz="1050" b="1" i="0">
                <a:solidFill>
                  <a:srgbClr val="F7F9FC"/>
                </a:solidFill>
                <a:latin typeface="Montserrat"/>
              </a:rPr>
              <a:t>github.com/ArcInstitute/cell-eval2/…/vcc2026-metrics.pdf</a:t>
            </a:r>
          </a:p>
        </p:txBody>
      </p:sp>
      <p:sp>
        <p:nvSpPr>
          <p:cNvPr id="25" name="Oval 24"/>
          <p:cNvSpPr/>
          <p:nvPr/>
        </p:nvSpPr>
        <p:spPr>
          <a:xfrm>
            <a:off x="6309360" y="1645920"/>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645920"/>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F7F9FC"/>
                </a:solidFill>
                <a:latin typeface="Montserrat"/>
              </a:rPr>
              <a:t>6</a:t>
            </a:r>
          </a:p>
        </p:txBody>
      </p:sp>
      <p:sp>
        <p:nvSpPr>
          <p:cNvPr id="27" name="TextBox 26"/>
          <p:cNvSpPr txBox="1"/>
          <p:nvPr/>
        </p:nvSpPr>
        <p:spPr>
          <a:xfrm>
            <a:off x="6894576" y="1554480"/>
            <a:ext cx="4425696"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Qi et al. CRISPRi. Cell (2013)</a:t>
            </a:r>
            <a:br/>
            <a:r>
              <a:rPr sz="1050" b="1" i="0">
                <a:solidFill>
                  <a:srgbClr val="F7F9FC"/>
                </a:solidFill>
                <a:latin typeface="Montserrat"/>
              </a:rPr>
              <a:t>doi.org/10.1016/j.cell.2013.02.022</a:t>
            </a:r>
          </a:p>
        </p:txBody>
      </p:sp>
      <p:sp>
        <p:nvSpPr>
          <p:cNvPr id="28" name="Oval 27"/>
          <p:cNvSpPr/>
          <p:nvPr/>
        </p:nvSpPr>
        <p:spPr>
          <a:xfrm>
            <a:off x="6309360" y="2505456"/>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2505456"/>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F7F9FC"/>
                </a:solidFill>
                <a:latin typeface="Montserrat"/>
              </a:rPr>
              <a:t>7</a:t>
            </a:r>
          </a:p>
        </p:txBody>
      </p:sp>
      <p:sp>
        <p:nvSpPr>
          <p:cNvPr id="30" name="TextBox 29"/>
          <p:cNvSpPr txBox="1"/>
          <p:nvPr/>
        </p:nvSpPr>
        <p:spPr>
          <a:xfrm>
            <a:off x="6894576" y="2414015"/>
            <a:ext cx="4425696"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Dixit et al. Perturb-seq. Cell (2016)</a:t>
            </a:r>
            <a:br/>
            <a:r>
              <a:rPr sz="1050" b="1" i="0">
                <a:solidFill>
                  <a:srgbClr val="F7F9FC"/>
                </a:solidFill>
                <a:latin typeface="Montserrat"/>
              </a:rPr>
              <a:t>doi.org/10.1016/j.cell.2016.11.038</a:t>
            </a:r>
          </a:p>
        </p:txBody>
      </p:sp>
      <p:sp>
        <p:nvSpPr>
          <p:cNvPr id="31" name="Oval 30"/>
          <p:cNvSpPr/>
          <p:nvPr/>
        </p:nvSpPr>
        <p:spPr>
          <a:xfrm>
            <a:off x="6309360" y="3364992"/>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3364992"/>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F7F9FC"/>
                </a:solidFill>
                <a:latin typeface="Montserrat"/>
              </a:rPr>
              <a:t>8</a:t>
            </a:r>
          </a:p>
        </p:txBody>
      </p:sp>
      <p:sp>
        <p:nvSpPr>
          <p:cNvPr id="33" name="TextBox 32"/>
          <p:cNvSpPr txBox="1"/>
          <p:nvPr/>
        </p:nvSpPr>
        <p:spPr>
          <a:xfrm>
            <a:off x="6894576" y="3273552"/>
            <a:ext cx="4425696"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Lotfollahi et al. CPA. Mol Syst Biol (2023)</a:t>
            </a:r>
            <a:br/>
            <a:r>
              <a:rPr sz="1050" b="1" i="0">
                <a:solidFill>
                  <a:srgbClr val="F7F9FC"/>
                </a:solidFill>
                <a:latin typeface="Montserrat"/>
              </a:rPr>
              <a:t>doi.org/10.15252/msb.202211517</a:t>
            </a:r>
          </a:p>
        </p:txBody>
      </p:sp>
      <p:sp>
        <p:nvSpPr>
          <p:cNvPr id="34" name="Oval 33"/>
          <p:cNvSpPr/>
          <p:nvPr/>
        </p:nvSpPr>
        <p:spPr>
          <a:xfrm>
            <a:off x="6309360" y="4224527"/>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4224527"/>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F7F9FC"/>
                </a:solidFill>
                <a:latin typeface="Montserrat"/>
              </a:rPr>
              <a:t>9</a:t>
            </a:r>
          </a:p>
        </p:txBody>
      </p:sp>
      <p:sp>
        <p:nvSpPr>
          <p:cNvPr id="36" name="TextBox 35"/>
          <p:cNvSpPr txBox="1"/>
          <p:nvPr/>
        </p:nvSpPr>
        <p:spPr>
          <a:xfrm>
            <a:off x="6894576" y="4133087"/>
            <a:ext cx="4425696"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Roohani et al. GEARS. Nat Biotechnol (2024)</a:t>
            </a:r>
            <a:br/>
            <a:r>
              <a:rPr sz="1050" b="1" i="0">
                <a:solidFill>
                  <a:srgbClr val="F7F9FC"/>
                </a:solidFill>
                <a:latin typeface="Montserrat"/>
              </a:rPr>
              <a:t>doi.org/10.1038/s41587-023-01905-6</a:t>
            </a:r>
          </a:p>
        </p:txBody>
      </p:sp>
      <p:sp>
        <p:nvSpPr>
          <p:cNvPr id="37" name="Oval 36"/>
          <p:cNvSpPr/>
          <p:nvPr/>
        </p:nvSpPr>
        <p:spPr>
          <a:xfrm>
            <a:off x="6309360" y="5084064"/>
            <a:ext cx="384048" cy="384048"/>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084064"/>
            <a:ext cx="384048" cy="384048"/>
          </a:xfrm>
          <a:prstGeom prst="rect">
            <a:avLst/>
          </a:prstGeom>
          <a:noFill/>
        </p:spPr>
        <p:txBody>
          <a:bodyPr wrap="square" lIns="18288" rIns="18288" tIns="18288" bIns="18288" anchor="ctr">
            <a:spAutoFit/>
          </a:bodyPr>
          <a:lstStyle/>
          <a:p>
            <a:pPr algn="ctr">
              <a:lnSpc>
                <a:spcPct val="102000"/>
              </a:lnSpc>
              <a:spcBef>
                <a:spcPts val="0"/>
              </a:spcBef>
              <a:spcAft>
                <a:spcPts val="0"/>
              </a:spcAft>
            </a:pPr>
            <a:r>
              <a:rPr sz="900" b="1" i="0">
                <a:solidFill>
                  <a:srgbClr val="F7F9FC"/>
                </a:solidFill>
                <a:latin typeface="Montserrat"/>
              </a:rPr>
              <a:t>10</a:t>
            </a:r>
          </a:p>
        </p:txBody>
      </p:sp>
      <p:sp>
        <p:nvSpPr>
          <p:cNvPr id="39" name="TextBox 38"/>
          <p:cNvSpPr txBox="1"/>
          <p:nvPr/>
        </p:nvSpPr>
        <p:spPr>
          <a:xfrm>
            <a:off x="6894576" y="4992624"/>
            <a:ext cx="4425696" cy="621792"/>
          </a:xfrm>
          <a:prstGeom prst="rect">
            <a:avLst/>
          </a:prstGeom>
          <a:noFill/>
        </p:spPr>
        <p:txBody>
          <a:bodyPr wrap="square" lIns="18288" rIns="18288" tIns="18288" bIns="18288" anchor="t">
            <a:spAutoFit/>
          </a:bodyPr>
          <a:lstStyle/>
          <a:p>
            <a:pPr algn="l">
              <a:lnSpc>
                <a:spcPct val="102000"/>
              </a:lnSpc>
              <a:spcBef>
                <a:spcPts val="0"/>
              </a:spcBef>
              <a:spcAft>
                <a:spcPts val="0"/>
              </a:spcAft>
            </a:pPr>
            <a:r>
              <a:rPr sz="1050" b="1" i="0">
                <a:solidFill>
                  <a:srgbClr val="F7F9FC"/>
                </a:solidFill>
                <a:latin typeface="Montserrat"/>
              </a:rPr>
              <a:t>Local evidence</a:t>
            </a:r>
            <a:br/>
            <a:r>
              <a:rPr sz="1050" b="1" i="0">
                <a:solidFill>
                  <a:srgbClr val="F7F9FC"/>
                </a:solidFill>
                <a:latin typeface="Montserrat"/>
              </a:rPr>
              <a:t>artifacts/*.json • reports/* • Slurm job 792580</a:t>
            </a:r>
          </a:p>
        </p:txBody>
      </p:sp>
      <p:sp>
        <p:nvSpPr>
          <p:cNvPr id="40" name="Rounded Rectangle 39"/>
          <p:cNvSpPr/>
          <p:nvPr/>
        </p:nvSpPr>
        <p:spPr>
          <a:xfrm>
            <a:off x="969264" y="5943600"/>
            <a:ext cx="10222992" cy="256032"/>
          </a:xfrm>
          <a:prstGeom prst="roundRect">
            <a:avLst/>
          </a:prstGeom>
          <a:solidFill>
            <a:srgbClr val="0D172A"/>
          </a:solidFill>
          <a:ln w="12700">
            <a:solidFill>
              <a:srgbClr val="1726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207008" y="5980176"/>
            <a:ext cx="9747504" cy="164592"/>
          </a:xfrm>
          <a:prstGeom prst="rect">
            <a:avLst/>
          </a:prstGeom>
          <a:noFill/>
        </p:spPr>
        <p:txBody>
          <a:bodyPr wrap="square" lIns="18288" rIns="18288" tIns="18288" bIns="18288" anchor="t">
            <a:spAutoFit/>
          </a:bodyPr>
          <a:lstStyle/>
          <a:p>
            <a:pPr algn="ctr">
              <a:lnSpc>
                <a:spcPct val="102000"/>
              </a:lnSpc>
              <a:spcBef>
                <a:spcPts val="0"/>
              </a:spcBef>
              <a:spcAft>
                <a:spcPts val="0"/>
              </a:spcAft>
            </a:pPr>
            <a:r>
              <a:rPr sz="960" b="1" i="0">
                <a:solidFill>
                  <a:srgbClr val="A9B5CC"/>
                </a:solidFill>
                <a:latin typeface="Montserrat"/>
              </a:rPr>
              <a:t>Evidence labels used throughout: official fact • measured local result • team recommendation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Cell Challenge 2026 — Three-Person Team Strategy</dc:title>
  <dc:subject>Zero-shot CRISPRi Perturb-seq prediction</dc:subject>
  <dc:creator>Virtual Cell Challenge team</dc:creator>
  <cp:keywords>VCC 2026, single-cell, CRISPRi, Perturb-seq, diffusion, reinforcement learning</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